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y="6858000" cx="12192000"/>
  <p:notesSz cx="6858000" cy="9144000"/>
  <p:embeddedFontLst>
    <p:embeddedFont>
      <p:font typeface="Corbel"/>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jXWN7P/Ybl18cd/cGQD6tUD8Jo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Corbel-regular.fntdata"/><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Corbel-italic.fntdata"/><Relationship Id="rId10" Type="http://schemas.openxmlformats.org/officeDocument/2006/relationships/slide" Target="slides/slide6.xml"/><Relationship Id="rId54" Type="http://schemas.openxmlformats.org/officeDocument/2006/relationships/font" Target="fonts/Corbel-bold.fntdata"/><Relationship Id="rId13" Type="http://schemas.openxmlformats.org/officeDocument/2006/relationships/slide" Target="slides/slide9.xml"/><Relationship Id="rId57" Type="http://customschemas.google.com/relationships/presentationmetadata" Target="metadata"/><Relationship Id="rId12" Type="http://schemas.openxmlformats.org/officeDocument/2006/relationships/slide" Target="slides/slide8.xml"/><Relationship Id="rId56" Type="http://schemas.openxmlformats.org/officeDocument/2006/relationships/font" Target="fonts/Corbel-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761c423f8_17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761c423f8_17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6761c423f8_17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6761c423f8_17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6761c423f8_17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g36761c423f8_17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67550e999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67550e999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367550e999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6761c423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6761c423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g36761c423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67550e999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67550e999e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367550e999e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6761c423f8_17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6761c423f8_17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6761c423f8_17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6761c423f8_5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6761c423f8_5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g36761c423f8_5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6761c423f8_17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6761c423f8_17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g36761c423f8_17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761c423f8_17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761c423f8_17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36761c423f8_17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6761c423f8_17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6761c423f8_17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g36761c423f8_17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67550e999e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67550e999e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g367550e999e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showMasterSp="0">
  <p:cSld name="Section header 01">
    <p:spTree>
      <p:nvGrpSpPr>
        <p:cNvPr id="17" name="Shape 17"/>
        <p:cNvGrpSpPr/>
        <p:nvPr/>
      </p:nvGrpSpPr>
      <p:grpSpPr>
        <a:xfrm>
          <a:off x="0" y="0"/>
          <a:ext cx="0" cy="0"/>
          <a:chOff x="0" y="0"/>
          <a:chExt cx="0" cy="0"/>
        </a:xfrm>
      </p:grpSpPr>
      <p:pic>
        <p:nvPicPr>
          <p:cNvPr id="18" name="Google Shape;18;p40"/>
          <p:cNvPicPr preferRelativeResize="0"/>
          <p:nvPr/>
        </p:nvPicPr>
        <p:blipFill rotWithShape="1">
          <a:blip r:embed="rId2">
            <a:alphaModFix/>
          </a:blip>
          <a:srcRect b="5024" l="0" r="31988" t="26965"/>
          <a:stretch/>
        </p:blipFill>
        <p:spPr>
          <a:xfrm rot="10800000">
            <a:off x="0" y="0"/>
            <a:ext cx="12192000" cy="6858000"/>
          </a:xfrm>
          <a:prstGeom prst="rect">
            <a:avLst/>
          </a:prstGeom>
          <a:noFill/>
          <a:ln>
            <a:noFill/>
          </a:ln>
        </p:spPr>
      </p:pic>
      <p:sp>
        <p:nvSpPr>
          <p:cNvPr id="19" name="Google Shape;19;p40"/>
          <p:cNvSpPr txBox="1"/>
          <p:nvPr>
            <p:ph type="ctrTitle"/>
          </p:nvPr>
        </p:nvSpPr>
        <p:spPr>
          <a:xfrm>
            <a:off x="5477256" y="914400"/>
            <a:ext cx="5806440" cy="5129784"/>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1"/>
              </a:buClr>
              <a:buSzPts val="5400"/>
              <a:buFont typeface="Corbel"/>
              <a:buNone/>
              <a:defRPr b="1" sz="5400">
                <a:solidFill>
                  <a:schemeClr val="dk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0"/>
          <p:cNvSpPr/>
          <p:nvPr>
            <p:ph idx="2" type="pic"/>
          </p:nvPr>
        </p:nvSpPr>
        <p:spPr>
          <a:xfrm>
            <a:off x="0" y="914400"/>
            <a:ext cx="4927249" cy="4991099"/>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01">
  <p:cSld name="Title and content 01">
    <p:bg>
      <p:bgPr>
        <a:solidFill>
          <a:schemeClr val="lt1"/>
        </a:solidFill>
      </p:bgPr>
    </p:bg>
    <p:spTree>
      <p:nvGrpSpPr>
        <p:cNvPr id="21" name="Shape 21"/>
        <p:cNvGrpSpPr/>
        <p:nvPr/>
      </p:nvGrpSpPr>
      <p:grpSpPr>
        <a:xfrm>
          <a:off x="0" y="0"/>
          <a:ext cx="0" cy="0"/>
          <a:chOff x="0" y="0"/>
          <a:chExt cx="0" cy="0"/>
        </a:xfrm>
      </p:grpSpPr>
      <p:sp>
        <p:nvSpPr>
          <p:cNvPr id="22" name="Google Shape;22;p41"/>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1"/>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1"/>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25" name="Google Shape;25;p41"/>
          <p:cNvSpPr txBox="1"/>
          <p:nvPr>
            <p:ph idx="1" type="body"/>
          </p:nvPr>
        </p:nvSpPr>
        <p:spPr>
          <a:xfrm>
            <a:off x="914400" y="2743200"/>
            <a:ext cx="6483096" cy="316382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showMasterSp="0">
  <p:cSld name="Section header 02">
    <p:spTree>
      <p:nvGrpSpPr>
        <p:cNvPr id="26" name="Shape 26"/>
        <p:cNvGrpSpPr/>
        <p:nvPr/>
      </p:nvGrpSpPr>
      <p:grpSpPr>
        <a:xfrm>
          <a:off x="0" y="0"/>
          <a:ext cx="0" cy="0"/>
          <a:chOff x="0" y="0"/>
          <a:chExt cx="0" cy="0"/>
        </a:xfrm>
      </p:grpSpPr>
      <p:pic>
        <p:nvPicPr>
          <p:cNvPr id="27" name="Google Shape;27;p42"/>
          <p:cNvPicPr preferRelativeResize="0"/>
          <p:nvPr/>
        </p:nvPicPr>
        <p:blipFill rotWithShape="1">
          <a:blip r:embed="rId2">
            <a:alphaModFix/>
          </a:blip>
          <a:srcRect b="24784" l="0" r="40485" t="15701"/>
          <a:stretch/>
        </p:blipFill>
        <p:spPr>
          <a:xfrm flipH="1">
            <a:off x="0" y="0"/>
            <a:ext cx="12192000" cy="6858000"/>
          </a:xfrm>
          <a:prstGeom prst="rect">
            <a:avLst/>
          </a:prstGeom>
          <a:noFill/>
          <a:ln>
            <a:noFill/>
          </a:ln>
        </p:spPr>
      </p:pic>
      <p:sp>
        <p:nvSpPr>
          <p:cNvPr id="28" name="Google Shape;28;p42"/>
          <p:cNvSpPr txBox="1"/>
          <p:nvPr>
            <p:ph type="ctrTitle"/>
          </p:nvPr>
        </p:nvSpPr>
        <p:spPr>
          <a:xfrm>
            <a:off x="914400" y="3822192"/>
            <a:ext cx="10360152" cy="22219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00"/>
              <a:buFont typeface="Corbel"/>
              <a:buNone/>
              <a:defRPr b="1" sz="5400">
                <a:solidFill>
                  <a:schemeClr val="dk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2"/>
          <p:cNvSpPr txBox="1"/>
          <p:nvPr>
            <p:ph idx="1" type="subTitle"/>
          </p:nvPr>
        </p:nvSpPr>
        <p:spPr>
          <a:xfrm>
            <a:off x="8403336" y="914400"/>
            <a:ext cx="2880360" cy="2130552"/>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dk1"/>
              </a:buClr>
              <a:buSzPts val="2000"/>
              <a:buNone/>
              <a:defRPr b="0" sz="2000">
                <a:solidFill>
                  <a:schemeClr val="dk1"/>
                </a:solidFill>
                <a:latin typeface="Corbel"/>
                <a:ea typeface="Corbel"/>
                <a:cs typeface="Corbel"/>
                <a:sym typeface="Corbe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30" name="Google Shape;30;p42"/>
          <p:cNvSpPr/>
          <p:nvPr>
            <p:ph idx="2" type="pic"/>
          </p:nvPr>
        </p:nvSpPr>
        <p:spPr>
          <a:xfrm>
            <a:off x="914400" y="0"/>
            <a:ext cx="6940296" cy="3273552"/>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3" showMasterSp="0">
  <p:cSld name="Section header 03">
    <p:spTree>
      <p:nvGrpSpPr>
        <p:cNvPr id="31" name="Shape 31"/>
        <p:cNvGrpSpPr/>
        <p:nvPr/>
      </p:nvGrpSpPr>
      <p:grpSpPr>
        <a:xfrm>
          <a:off x="0" y="0"/>
          <a:ext cx="0" cy="0"/>
          <a:chOff x="0" y="0"/>
          <a:chExt cx="0" cy="0"/>
        </a:xfrm>
      </p:grpSpPr>
      <p:pic>
        <p:nvPicPr>
          <p:cNvPr id="32" name="Google Shape;32;p43"/>
          <p:cNvPicPr preferRelativeResize="0"/>
          <p:nvPr/>
        </p:nvPicPr>
        <p:blipFill rotWithShape="1">
          <a:blip r:embed="rId2">
            <a:alphaModFix/>
          </a:blip>
          <a:srcRect b="20124" l="10741" r="13612" t="4074"/>
          <a:stretch/>
        </p:blipFill>
        <p:spPr>
          <a:xfrm>
            <a:off x="-1" y="0"/>
            <a:ext cx="12192000" cy="6858000"/>
          </a:xfrm>
          <a:prstGeom prst="rect">
            <a:avLst/>
          </a:prstGeom>
          <a:noFill/>
          <a:ln>
            <a:noFill/>
          </a:ln>
        </p:spPr>
      </p:pic>
      <p:sp>
        <p:nvSpPr>
          <p:cNvPr id="33" name="Google Shape;33;p43"/>
          <p:cNvSpPr txBox="1"/>
          <p:nvPr>
            <p:ph type="ctrTitle"/>
          </p:nvPr>
        </p:nvSpPr>
        <p:spPr>
          <a:xfrm>
            <a:off x="914400" y="914400"/>
            <a:ext cx="10360152" cy="300837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orbel"/>
              <a:buNone/>
              <a:defRPr b="1" sz="6000">
                <a:solidFill>
                  <a:schemeClr val="dk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3"/>
          <p:cNvSpPr txBox="1"/>
          <p:nvPr>
            <p:ph idx="1" type="subTitle"/>
          </p:nvPr>
        </p:nvSpPr>
        <p:spPr>
          <a:xfrm>
            <a:off x="914400" y="4078224"/>
            <a:ext cx="10360152" cy="1828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b="0" sz="2400">
                <a:solidFill>
                  <a:schemeClr val="dk1"/>
                </a:solidFill>
                <a:latin typeface="Corbel"/>
                <a:ea typeface="Corbel"/>
                <a:cs typeface="Corbel"/>
                <a:sym typeface="Corbe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pic>
        <p:nvPicPr>
          <p:cNvPr id="36" name="Google Shape;36;p44"/>
          <p:cNvPicPr preferRelativeResize="0"/>
          <p:nvPr/>
        </p:nvPicPr>
        <p:blipFill rotWithShape="1">
          <a:blip r:embed="rId2">
            <a:alphaModFix/>
          </a:blip>
          <a:srcRect b="32623" l="19567" r="13055" t="0"/>
          <a:stretch/>
        </p:blipFill>
        <p:spPr>
          <a:xfrm flipH="1">
            <a:off x="0" y="0"/>
            <a:ext cx="12192000" cy="6858000"/>
          </a:xfrm>
          <a:prstGeom prst="rect">
            <a:avLst/>
          </a:prstGeom>
          <a:noFill/>
          <a:ln>
            <a:noFill/>
          </a:ln>
        </p:spPr>
      </p:pic>
      <p:sp>
        <p:nvSpPr>
          <p:cNvPr id="37" name="Google Shape;37;p44"/>
          <p:cNvSpPr txBox="1"/>
          <p:nvPr>
            <p:ph type="ctrTitle"/>
          </p:nvPr>
        </p:nvSpPr>
        <p:spPr>
          <a:xfrm>
            <a:off x="914400" y="914400"/>
            <a:ext cx="6428232" cy="49926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00"/>
              <a:buFont typeface="Corbel"/>
              <a:buNone/>
              <a:defRPr b="1" sz="5400">
                <a:solidFill>
                  <a:schemeClr val="dk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4"/>
          <p:cNvSpPr txBox="1"/>
          <p:nvPr>
            <p:ph idx="1" type="subTitle"/>
          </p:nvPr>
        </p:nvSpPr>
        <p:spPr>
          <a:xfrm>
            <a:off x="7891272" y="914400"/>
            <a:ext cx="3392424" cy="2514600"/>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dk1"/>
              </a:buClr>
              <a:buSzPts val="2000"/>
              <a:buNone/>
              <a:defRPr b="0" sz="2000">
                <a:solidFill>
                  <a:schemeClr val="dk1"/>
                </a:solidFill>
                <a:latin typeface="Corbel"/>
                <a:ea typeface="Corbel"/>
                <a:cs typeface="Corbel"/>
                <a:sym typeface="Corbe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lt1"/>
        </a:solidFill>
      </p:bgPr>
    </p:bg>
    <p:spTree>
      <p:nvGrpSpPr>
        <p:cNvPr id="39" name="Shape 39"/>
        <p:cNvGrpSpPr/>
        <p:nvPr/>
      </p:nvGrpSpPr>
      <p:grpSpPr>
        <a:xfrm>
          <a:off x="0" y="0"/>
          <a:ext cx="0" cy="0"/>
          <a:chOff x="0" y="0"/>
          <a:chExt cx="0" cy="0"/>
        </a:xfrm>
      </p:grpSpPr>
      <p:sp>
        <p:nvSpPr>
          <p:cNvPr id="40" name="Google Shape;40;p45"/>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5"/>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5"/>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43" name="Google Shape;43;p45"/>
          <p:cNvSpPr txBox="1"/>
          <p:nvPr>
            <p:ph idx="1" type="body"/>
          </p:nvPr>
        </p:nvSpPr>
        <p:spPr>
          <a:xfrm>
            <a:off x="914400" y="2743200"/>
            <a:ext cx="6483096" cy="3163824"/>
          </a:xfrm>
          <a:prstGeom prst="rect">
            <a:avLst/>
          </a:prstGeom>
          <a:noFill/>
          <a:ln>
            <a:noFill/>
          </a:ln>
        </p:spPr>
        <p:txBody>
          <a:bodyPr anchorCtr="0" anchor="b"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1">
  <p:cSld name="Two content 01">
    <p:bg>
      <p:bgPr>
        <a:solidFill>
          <a:schemeClr val="lt1"/>
        </a:solidFill>
      </p:bgPr>
    </p:bg>
    <p:spTree>
      <p:nvGrpSpPr>
        <p:cNvPr id="44" name="Shape 44"/>
        <p:cNvGrpSpPr/>
        <p:nvPr/>
      </p:nvGrpSpPr>
      <p:grpSpPr>
        <a:xfrm>
          <a:off x="0" y="0"/>
          <a:ext cx="0" cy="0"/>
          <a:chOff x="0" y="0"/>
          <a:chExt cx="0" cy="0"/>
        </a:xfrm>
      </p:grpSpPr>
      <p:sp>
        <p:nvSpPr>
          <p:cNvPr id="45" name="Google Shape;45;p46"/>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6"/>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6"/>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46"/>
          <p:cNvSpPr txBox="1"/>
          <p:nvPr>
            <p:ph idx="1" type="body"/>
          </p:nvPr>
        </p:nvSpPr>
        <p:spPr>
          <a:xfrm>
            <a:off x="914400" y="2743200"/>
            <a:ext cx="479145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46"/>
          <p:cNvSpPr txBox="1"/>
          <p:nvPr>
            <p:ph idx="2" type="body"/>
          </p:nvPr>
        </p:nvSpPr>
        <p:spPr>
          <a:xfrm>
            <a:off x="6492240" y="2743200"/>
            <a:ext cx="479145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2">
  <p:cSld name="Two content 02">
    <p:bg>
      <p:bgPr>
        <a:solidFill>
          <a:schemeClr val="lt1"/>
        </a:solidFill>
      </p:bgPr>
    </p:bg>
    <p:spTree>
      <p:nvGrpSpPr>
        <p:cNvPr id="50" name="Shape 50"/>
        <p:cNvGrpSpPr/>
        <p:nvPr/>
      </p:nvGrpSpPr>
      <p:grpSpPr>
        <a:xfrm>
          <a:off x="0" y="0"/>
          <a:ext cx="0" cy="0"/>
          <a:chOff x="0" y="0"/>
          <a:chExt cx="0" cy="0"/>
        </a:xfrm>
      </p:grpSpPr>
      <p:sp>
        <p:nvSpPr>
          <p:cNvPr id="51" name="Google Shape;51;p47"/>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7"/>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7"/>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54" name="Google Shape;54;p47"/>
          <p:cNvSpPr txBox="1"/>
          <p:nvPr>
            <p:ph idx="1" type="body"/>
          </p:nvPr>
        </p:nvSpPr>
        <p:spPr>
          <a:xfrm>
            <a:off x="914400" y="2743200"/>
            <a:ext cx="479145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Font typeface="Corbel"/>
              <a:buAutoNum type="arabicPeriod"/>
              <a:defRPr/>
            </a:lvl2pPr>
            <a:lvl3pPr indent="-342900" lvl="2" marL="1371600" algn="l">
              <a:lnSpc>
                <a:spcPct val="90000"/>
              </a:lnSpc>
              <a:spcBef>
                <a:spcPts val="1000"/>
              </a:spcBef>
              <a:spcAft>
                <a:spcPts val="0"/>
              </a:spcAft>
              <a:buClr>
                <a:schemeClr val="dk1"/>
              </a:buClr>
              <a:buSzPts val="1800"/>
              <a:buFont typeface="Corbel"/>
              <a:buAutoNum type="alphaLcPeriod"/>
              <a:defRPr/>
            </a:lvl3pPr>
            <a:lvl4pPr indent="-342900" lvl="3" marL="1828800" algn="l">
              <a:lnSpc>
                <a:spcPct val="90000"/>
              </a:lnSpc>
              <a:spcBef>
                <a:spcPts val="1000"/>
              </a:spcBef>
              <a:spcAft>
                <a:spcPts val="0"/>
              </a:spcAft>
              <a:buClr>
                <a:schemeClr val="dk1"/>
              </a:buClr>
              <a:buSzPts val="1800"/>
              <a:buFont typeface="Corbel"/>
              <a:buAutoNum type="arabicParenR"/>
              <a:defRPr/>
            </a:lvl4pPr>
            <a:lvl5pPr indent="-342900" lvl="4" marL="2286000" algn="l">
              <a:lnSpc>
                <a:spcPct val="90000"/>
              </a:lnSpc>
              <a:spcBef>
                <a:spcPts val="1000"/>
              </a:spcBef>
              <a:spcAft>
                <a:spcPts val="0"/>
              </a:spcAft>
              <a:buClr>
                <a:schemeClr val="dk1"/>
              </a:buClr>
              <a:buSzPts val="1800"/>
              <a:buFont typeface="Corbel"/>
              <a:buAutoNum type="alphaLcParen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5" name="Google Shape;55;p47"/>
          <p:cNvSpPr txBox="1"/>
          <p:nvPr>
            <p:ph idx="2" type="body"/>
          </p:nvPr>
        </p:nvSpPr>
        <p:spPr>
          <a:xfrm>
            <a:off x="6492240" y="2743200"/>
            <a:ext cx="479145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image">
  <p:cSld name="Title, content, and image">
    <p:bg>
      <p:bgPr>
        <a:solidFill>
          <a:schemeClr val="lt1"/>
        </a:solidFill>
      </p:bgPr>
    </p:bg>
    <p:spTree>
      <p:nvGrpSpPr>
        <p:cNvPr id="56" name="Shape 56"/>
        <p:cNvGrpSpPr/>
        <p:nvPr/>
      </p:nvGrpSpPr>
      <p:grpSpPr>
        <a:xfrm>
          <a:off x="0" y="0"/>
          <a:ext cx="0" cy="0"/>
          <a:chOff x="0" y="0"/>
          <a:chExt cx="0" cy="0"/>
        </a:xfrm>
      </p:grpSpPr>
      <p:sp>
        <p:nvSpPr>
          <p:cNvPr id="57" name="Google Shape;57;p48"/>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8"/>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8"/>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60" name="Google Shape;60;p48"/>
          <p:cNvSpPr/>
          <p:nvPr>
            <p:ph idx="2" type="pic"/>
          </p:nvPr>
        </p:nvSpPr>
        <p:spPr>
          <a:xfrm>
            <a:off x="0" y="2743200"/>
            <a:ext cx="4764024" cy="3163824"/>
          </a:xfrm>
          <a:prstGeom prst="rect">
            <a:avLst/>
          </a:prstGeom>
          <a:noFill/>
          <a:ln>
            <a:noFill/>
          </a:ln>
        </p:spPr>
      </p:sp>
      <p:sp>
        <p:nvSpPr>
          <p:cNvPr id="61" name="Google Shape;61;p48"/>
          <p:cNvSpPr txBox="1"/>
          <p:nvPr>
            <p:ph idx="1" type="body"/>
          </p:nvPr>
        </p:nvSpPr>
        <p:spPr>
          <a:xfrm>
            <a:off x="5312664" y="2743200"/>
            <a:ext cx="5971032"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3">
  <p:cSld name="Two content 03">
    <p:bg>
      <p:bgPr>
        <a:solidFill>
          <a:schemeClr val="lt1"/>
        </a:solidFill>
      </p:bgPr>
    </p:bg>
    <p:spTree>
      <p:nvGrpSpPr>
        <p:cNvPr id="62" name="Shape 62"/>
        <p:cNvGrpSpPr/>
        <p:nvPr/>
      </p:nvGrpSpPr>
      <p:grpSpPr>
        <a:xfrm>
          <a:off x="0" y="0"/>
          <a:ext cx="0" cy="0"/>
          <a:chOff x="0" y="0"/>
          <a:chExt cx="0" cy="0"/>
        </a:xfrm>
      </p:grpSpPr>
      <p:sp>
        <p:nvSpPr>
          <p:cNvPr id="63" name="Google Shape;63;p49"/>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9"/>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9"/>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66" name="Google Shape;66;p49"/>
          <p:cNvSpPr txBox="1"/>
          <p:nvPr>
            <p:ph idx="1" type="body"/>
          </p:nvPr>
        </p:nvSpPr>
        <p:spPr>
          <a:xfrm>
            <a:off x="914400" y="2743200"/>
            <a:ext cx="3017520"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7" name="Google Shape;67;p49"/>
          <p:cNvSpPr txBox="1"/>
          <p:nvPr>
            <p:ph idx="2" type="body"/>
          </p:nvPr>
        </p:nvSpPr>
        <p:spPr>
          <a:xfrm>
            <a:off x="4462272" y="2871216"/>
            <a:ext cx="6812280" cy="3035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4">
  <p:cSld name="Two content 04">
    <p:bg>
      <p:bgPr>
        <a:solidFill>
          <a:schemeClr val="lt1"/>
        </a:solidFill>
      </p:bgPr>
    </p:bg>
    <p:spTree>
      <p:nvGrpSpPr>
        <p:cNvPr id="68" name="Shape 68"/>
        <p:cNvGrpSpPr/>
        <p:nvPr/>
      </p:nvGrpSpPr>
      <p:grpSpPr>
        <a:xfrm>
          <a:off x="0" y="0"/>
          <a:ext cx="0" cy="0"/>
          <a:chOff x="0" y="0"/>
          <a:chExt cx="0" cy="0"/>
        </a:xfrm>
      </p:grpSpPr>
      <p:sp>
        <p:nvSpPr>
          <p:cNvPr id="69" name="Google Shape;69;p50"/>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0"/>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0"/>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72" name="Google Shape;72;p50"/>
          <p:cNvSpPr txBox="1"/>
          <p:nvPr>
            <p:ph idx="1" type="body"/>
          </p:nvPr>
        </p:nvSpPr>
        <p:spPr>
          <a:xfrm>
            <a:off x="914400" y="2743200"/>
            <a:ext cx="6812280"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3" name="Google Shape;73;p50"/>
          <p:cNvSpPr txBox="1"/>
          <p:nvPr>
            <p:ph idx="2" type="body"/>
          </p:nvPr>
        </p:nvSpPr>
        <p:spPr>
          <a:xfrm>
            <a:off x="8275320" y="2743200"/>
            <a:ext cx="2999232"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74" name="Shape 74"/>
        <p:cNvGrpSpPr/>
        <p:nvPr/>
      </p:nvGrpSpPr>
      <p:grpSpPr>
        <a:xfrm>
          <a:off x="0" y="0"/>
          <a:ext cx="0" cy="0"/>
          <a:chOff x="0" y="0"/>
          <a:chExt cx="0" cy="0"/>
        </a:xfrm>
      </p:grpSpPr>
      <p:sp>
        <p:nvSpPr>
          <p:cNvPr id="75" name="Google Shape;75;p51"/>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1"/>
          <p:cNvSpPr txBox="1"/>
          <p:nvPr>
            <p:ph idx="11" type="ftr"/>
          </p:nvPr>
        </p:nvSpPr>
        <p:spPr>
          <a:xfrm>
            <a:off x="914400" y="465439"/>
            <a:ext cx="9563100" cy="44896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1"/>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51"/>
          <p:cNvSpPr txBox="1"/>
          <p:nvPr>
            <p:ph idx="1" type="body"/>
          </p:nvPr>
        </p:nvSpPr>
        <p:spPr>
          <a:xfrm>
            <a:off x="914400" y="2871216"/>
            <a:ext cx="10360152" cy="3035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extLst>
    <p:ext uri="{DCECCB84-F9BA-43D5-87BE-67443E8EF086}">
      <p15:sldGuideLst>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0" orient="horz" pos="576">
          <p15:clr>
            <a:srgbClr val="FBAE40"/>
          </p15:clr>
        </p15:guide>
        <p15:guide id="11" orient="horz" pos="1728">
          <p15:clr>
            <a:srgbClr val="FBAE40"/>
          </p15:clr>
        </p15:guide>
        <p15:guide id="12" orient="horz" pos="13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spTree>
      <p:nvGrpSpPr>
        <p:cNvPr id="79" name="Shape 79"/>
        <p:cNvGrpSpPr/>
        <p:nvPr/>
      </p:nvGrpSpPr>
      <p:grpSpPr>
        <a:xfrm>
          <a:off x="0" y="0"/>
          <a:ext cx="0" cy="0"/>
          <a:chOff x="0" y="0"/>
          <a:chExt cx="0" cy="0"/>
        </a:xfrm>
      </p:grpSpPr>
      <p:pic>
        <p:nvPicPr>
          <p:cNvPr id="80" name="Google Shape;80;p52"/>
          <p:cNvPicPr preferRelativeResize="0"/>
          <p:nvPr/>
        </p:nvPicPr>
        <p:blipFill rotWithShape="1">
          <a:blip r:embed="rId2">
            <a:alphaModFix/>
          </a:blip>
          <a:srcRect b="25174" l="1151" r="25965" t="1792"/>
          <a:stretch/>
        </p:blipFill>
        <p:spPr>
          <a:xfrm flipH="1" rot="10800000">
            <a:off x="0" y="0"/>
            <a:ext cx="12192000" cy="6858000"/>
          </a:xfrm>
          <a:prstGeom prst="rect">
            <a:avLst/>
          </a:prstGeom>
          <a:noFill/>
          <a:ln>
            <a:noFill/>
          </a:ln>
        </p:spPr>
      </p:pic>
      <p:sp>
        <p:nvSpPr>
          <p:cNvPr id="81" name="Google Shape;81;p52"/>
          <p:cNvSpPr txBox="1"/>
          <p:nvPr>
            <p:ph type="ctrTitle"/>
          </p:nvPr>
        </p:nvSpPr>
        <p:spPr>
          <a:xfrm>
            <a:off x="914400" y="914400"/>
            <a:ext cx="5788152" cy="499262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6000"/>
              <a:buFont typeface="Corbel"/>
              <a:buNone/>
              <a:defRPr b="1" sz="6000">
                <a:solidFill>
                  <a:schemeClr val="dk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2"/>
          <p:cNvSpPr txBox="1"/>
          <p:nvPr>
            <p:ph idx="1" type="subTitle"/>
          </p:nvPr>
        </p:nvSpPr>
        <p:spPr>
          <a:xfrm>
            <a:off x="6839712" y="914400"/>
            <a:ext cx="4434840" cy="4992624"/>
          </a:xfrm>
          <a:prstGeom prst="rect">
            <a:avLst/>
          </a:prstGeom>
          <a:noFill/>
          <a:ln>
            <a:noFill/>
          </a:ln>
        </p:spPr>
        <p:txBody>
          <a:bodyPr anchorCtr="0" anchor="b" bIns="45700" lIns="91425" spcFirstLastPara="1" rIns="91425" wrap="square" tIns="45700">
            <a:normAutofit/>
          </a:bodyPr>
          <a:lstStyle>
            <a:lvl1pPr lvl="0" algn="l">
              <a:lnSpc>
                <a:spcPct val="70000"/>
              </a:lnSpc>
              <a:spcBef>
                <a:spcPts val="1000"/>
              </a:spcBef>
              <a:spcAft>
                <a:spcPts val="0"/>
              </a:spcAft>
              <a:buClr>
                <a:schemeClr val="dk1"/>
              </a:buClr>
              <a:buSzPts val="2400"/>
              <a:buNone/>
              <a:defRPr b="0" sz="2400">
                <a:solidFill>
                  <a:schemeClr val="dk1"/>
                </a:solidFill>
                <a:latin typeface="Corbel"/>
                <a:ea typeface="Corbel"/>
                <a:cs typeface="Corbel"/>
                <a:sym typeface="Corbe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9"/>
          <p:cNvPicPr preferRelativeResize="0"/>
          <p:nvPr/>
        </p:nvPicPr>
        <p:blipFill rotWithShape="1">
          <a:blip r:embed="rId1">
            <a:alphaModFix/>
          </a:blip>
          <a:srcRect b="32623" l="19567" r="13055" t="0"/>
          <a:stretch/>
        </p:blipFill>
        <p:spPr>
          <a:xfrm flipH="1">
            <a:off x="0" y="0"/>
            <a:ext cx="12192000" cy="6858000"/>
          </a:xfrm>
          <a:prstGeom prst="rect">
            <a:avLst/>
          </a:prstGeom>
          <a:noFill/>
          <a:ln>
            <a:noFill/>
          </a:ln>
        </p:spPr>
      </p:pic>
      <p:sp>
        <p:nvSpPr>
          <p:cNvPr id="11" name="Google Shape;11;p39"/>
          <p:cNvSpPr/>
          <p:nvPr/>
        </p:nvSpPr>
        <p:spPr>
          <a:xfrm>
            <a:off x="139700" y="136525"/>
            <a:ext cx="11912600" cy="65849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 name="Google Shape;12;p39"/>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Corbel"/>
              <a:buNone/>
              <a:defRPr b="0" i="0" sz="3600" u="sng"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39"/>
          <p:cNvSpPr txBox="1"/>
          <p:nvPr>
            <p:ph idx="1" type="body"/>
          </p:nvPr>
        </p:nvSpPr>
        <p:spPr>
          <a:xfrm>
            <a:off x="914400" y="2743200"/>
            <a:ext cx="6483096" cy="316382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9pPr>
          </a:lstStyle>
          <a:p/>
        </p:txBody>
      </p:sp>
      <p:sp>
        <p:nvSpPr>
          <p:cNvPr id="14" name="Google Shape;14;p39"/>
          <p:cNvSpPr txBox="1"/>
          <p:nvPr>
            <p:ph idx="10" type="dt"/>
          </p:nvPr>
        </p:nvSpPr>
        <p:spPr>
          <a:xfrm>
            <a:off x="8988552" y="6356350"/>
            <a:ext cx="27432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5" name="Google Shape;15;p39"/>
          <p:cNvSpPr txBox="1"/>
          <p:nvPr>
            <p:ph idx="11" type="ftr"/>
          </p:nvPr>
        </p:nvSpPr>
        <p:spPr>
          <a:xfrm>
            <a:off x="914400" y="457200"/>
            <a:ext cx="9564624" cy="44805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6" name="Google Shape;16;p39"/>
          <p:cNvSpPr txBox="1"/>
          <p:nvPr>
            <p:ph idx="12" type="sldNum"/>
          </p:nvPr>
        </p:nvSpPr>
        <p:spPr>
          <a:xfrm>
            <a:off x="10652760" y="466344"/>
            <a:ext cx="1078992" cy="44805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colab.research.google.com/drive/1vB8atlH1h3ZHd1fDc4ApV8NihKrN9vb5?authuser=1#scrollTo=d62ca1ea" TargetMode="Externa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colab.research.google.com/drive/1vB8atlH1h3ZHd1fDc4ApV8NihKrN9vb5?authuser=1#scrollTo=7d5d67fe" TargetMode="Externa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colab.research.google.com/drive/1vB8atlH1h3ZHd1fDc4ApV8NihKrN9vb5?authuser=1#scrollTo=2014657a" TargetMode="Externa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colab.research.google.com/drive/1vB8atlH1h3ZHd1fDc4ApV8NihKrN9vb5?authuser=1#scrollTo=d62fe5ca" TargetMode="Externa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colab.research.google.com/drive/1vB8atlH1h3ZHd1fDc4ApV8NihKrN9vb5?authuser=1#scrollTo=iUYwm9DBZKKR" TargetMode="Externa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colab.research.google.com/drive/1vB8atlH1h3ZHd1fDc4ApV8NihKrN9vb5?authuser=1#scrollTo=dToXZUixZ0Sf" TargetMode="Externa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colab.research.google.com/drive/1vB8atlH1h3ZHd1fDc4ApV8NihKrN9vb5?authuser=1#scrollTo=b93160e4" TargetMode="Externa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colab.research.google.com/drive/1vB8atlH1h3ZHd1fDc4ApV8NihKrN9vb5?authuser=1#scrollTo=554f4e82" TargetMode="Externa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
          <p:cNvSpPr txBox="1"/>
          <p:nvPr>
            <p:ph type="ctrTitle"/>
          </p:nvPr>
        </p:nvSpPr>
        <p:spPr>
          <a:xfrm>
            <a:off x="5477256" y="914400"/>
            <a:ext cx="5806440" cy="5129784"/>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5400"/>
              <a:buFont typeface="Corbel"/>
              <a:buNone/>
            </a:pPr>
            <a:r>
              <a:rPr lang="en-GB"/>
              <a:t>INTRODUCTION TO </a:t>
            </a:r>
            <a:br>
              <a:rPr lang="en-GB"/>
            </a:br>
            <a:r>
              <a:rPr lang="en-GB"/>
              <a:t>DATA VISUALIZATION</a:t>
            </a:r>
            <a:endParaRPr b="1"/>
          </a:p>
        </p:txBody>
      </p:sp>
      <p:pic>
        <p:nvPicPr>
          <p:cNvPr id="88" name="Google Shape;88;p1"/>
          <p:cNvPicPr preferRelativeResize="0"/>
          <p:nvPr>
            <p:ph idx="2" type="pic"/>
          </p:nvPr>
        </p:nvPicPr>
        <p:blipFill rotWithShape="1">
          <a:blip r:embed="rId3">
            <a:alphaModFix/>
          </a:blip>
          <a:srcRect b="0" l="636" r="636" t="0"/>
          <a:stretch/>
        </p:blipFill>
        <p:spPr>
          <a:xfrm>
            <a:off x="0" y="914400"/>
            <a:ext cx="4927249" cy="49910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834898" y="1592825"/>
            <a:ext cx="10360152" cy="11795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rbel"/>
              <a:buNone/>
            </a:pPr>
            <a:r>
              <a:rPr b="1" lang="en-GB"/>
              <a:t>WHAT IS DATA VISUALISATION?</a:t>
            </a:r>
            <a:endParaRPr b="1"/>
          </a:p>
        </p:txBody>
      </p:sp>
      <p:sp>
        <p:nvSpPr>
          <p:cNvPr id="94" name="Google Shape;94;p2"/>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95" name="Google Shape;95;p2"/>
          <p:cNvSpPr txBox="1"/>
          <p:nvPr>
            <p:ph idx="1" type="body"/>
          </p:nvPr>
        </p:nvSpPr>
        <p:spPr>
          <a:xfrm>
            <a:off x="914400" y="3331446"/>
            <a:ext cx="8736306" cy="257557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1800"/>
              <a:buChar char="•"/>
            </a:pPr>
            <a:r>
              <a:rPr b="1" lang="en-GB"/>
              <a:t>Data visualization is the graphical representation of information and data.</a:t>
            </a:r>
            <a:endParaRPr b="1"/>
          </a:p>
          <a:p>
            <a:pPr indent="-228600" lvl="0" marL="228600" rtl="0" algn="just">
              <a:lnSpc>
                <a:spcPct val="90000"/>
              </a:lnSpc>
              <a:spcBef>
                <a:spcPts val="1000"/>
              </a:spcBef>
              <a:spcAft>
                <a:spcPts val="0"/>
              </a:spcAft>
              <a:buClr>
                <a:schemeClr val="dk1"/>
              </a:buClr>
              <a:buSzPts val="1800"/>
              <a:buChar char="•"/>
            </a:pPr>
            <a:r>
              <a:rPr b="1" lang="en-GB"/>
              <a:t>By using visual elements like charts, graphs, maps, and infographics, data visualization tools help make large and complex datasets easier to understand, interpret, and communicate.</a:t>
            </a:r>
            <a:endParaRPr b="1"/>
          </a:p>
          <a:p>
            <a:pPr indent="-228600" lvl="0" marL="228600" rtl="0" algn="just">
              <a:lnSpc>
                <a:spcPct val="90000"/>
              </a:lnSpc>
              <a:spcBef>
                <a:spcPts val="1000"/>
              </a:spcBef>
              <a:spcAft>
                <a:spcPts val="0"/>
              </a:spcAft>
              <a:buClr>
                <a:schemeClr val="dk1"/>
              </a:buClr>
              <a:buSzPts val="1800"/>
              <a:buChar char="•"/>
            </a:pPr>
            <a:r>
              <a:rPr b="1" lang="en-GB"/>
              <a:t>It transforms raw data into visual context so patterns, trends, and outliers become visible.</a:t>
            </a:r>
            <a:endParaRPr b="1"/>
          </a:p>
          <a:p>
            <a:pPr indent="0" lvl="0" marL="0" rtl="0" algn="just">
              <a:lnSpc>
                <a:spcPct val="90000"/>
              </a:lnSpc>
              <a:spcBef>
                <a:spcPts val="1000"/>
              </a:spcBef>
              <a:spcAft>
                <a:spcPts val="0"/>
              </a:spcAft>
              <a:buClr>
                <a:schemeClr val="dk1"/>
              </a:buClr>
              <a:buSzPts val="1800"/>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520939" y="2707418"/>
            <a:ext cx="39078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GB" sz="3600" u="none" cap="none" strike="noStrike">
                <a:solidFill>
                  <a:schemeClr val="dk1"/>
                </a:solidFill>
                <a:latin typeface="Corbel"/>
                <a:ea typeface="Corbel"/>
                <a:cs typeface="Corbel"/>
                <a:sym typeface="Corbel"/>
              </a:rPr>
              <a:t>WHY IS DATA VISUALISATION IMPORTANT?</a:t>
            </a:r>
            <a:endParaRPr b="1" i="0" sz="3600" u="none" cap="none" strike="noStrike">
              <a:solidFill>
                <a:schemeClr val="dk1"/>
              </a:solidFill>
              <a:latin typeface="Corbel"/>
              <a:ea typeface="Corbel"/>
              <a:cs typeface="Corbel"/>
              <a:sym typeface="Corbel"/>
            </a:endParaRPr>
          </a:p>
        </p:txBody>
      </p:sp>
      <p:grpSp>
        <p:nvGrpSpPr>
          <p:cNvPr id="101" name="Google Shape;101;p3"/>
          <p:cNvGrpSpPr/>
          <p:nvPr/>
        </p:nvGrpSpPr>
        <p:grpSpPr>
          <a:xfrm>
            <a:off x="4743937" y="524541"/>
            <a:ext cx="3000925" cy="2721522"/>
            <a:chOff x="784808" y="1314651"/>
            <a:chExt cx="3000925" cy="2721522"/>
          </a:xfrm>
        </p:grpSpPr>
        <p:grpSp>
          <p:nvGrpSpPr>
            <p:cNvPr id="102" name="Google Shape;102;p3"/>
            <p:cNvGrpSpPr/>
            <p:nvPr/>
          </p:nvGrpSpPr>
          <p:grpSpPr>
            <a:xfrm>
              <a:off x="784808" y="1314651"/>
              <a:ext cx="3000925" cy="2721522"/>
              <a:chOff x="4246051" y="3551145"/>
              <a:chExt cx="3320519" cy="2971966"/>
            </a:xfrm>
          </p:grpSpPr>
          <p:sp>
            <p:nvSpPr>
              <p:cNvPr id="103" name="Google Shape;103;p3"/>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D3EEF4"/>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04" name="Google Shape;104;p3"/>
              <p:cNvSpPr txBox="1"/>
              <p:nvPr/>
            </p:nvSpPr>
            <p:spPr>
              <a:xfrm>
                <a:off x="4376116" y="4890437"/>
                <a:ext cx="289648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Improves Decision Making</a:t>
                </a:r>
                <a:endParaRPr b="0" i="0" sz="1600" u="none" cap="none" strike="noStrike">
                  <a:solidFill>
                    <a:schemeClr val="dk1"/>
                  </a:solidFill>
                  <a:latin typeface="Corbel"/>
                  <a:ea typeface="Corbel"/>
                  <a:cs typeface="Corbel"/>
                  <a:sym typeface="Corbel"/>
                </a:endParaRPr>
              </a:p>
            </p:txBody>
          </p:sp>
          <p:sp>
            <p:nvSpPr>
              <p:cNvPr id="105" name="Google Shape;105;p3"/>
              <p:cNvSpPr txBox="1"/>
              <p:nvPr/>
            </p:nvSpPr>
            <p:spPr>
              <a:xfrm>
                <a:off x="4376115" y="5312393"/>
                <a:ext cx="2990763"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By clearly showing trends, anomalies, and relationships, data visualization supports better and faster decisions.</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5271761" y="3551145"/>
                <a:ext cx="1199472" cy="1199472"/>
              </a:xfrm>
              <a:prstGeom prst="ellipse">
                <a:avLst/>
              </a:prstGeom>
              <a:solidFill>
                <a:srgbClr val="8CCE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pic>
          <p:nvPicPr>
            <p:cNvPr id="107" name="Google Shape;107;p3"/>
            <p:cNvPicPr preferRelativeResize="0"/>
            <p:nvPr/>
          </p:nvPicPr>
          <p:blipFill rotWithShape="1">
            <a:blip r:embed="rId3">
              <a:alphaModFix/>
            </a:blip>
            <a:srcRect b="0" l="0" r="0" t="0"/>
            <a:stretch/>
          </p:blipFill>
          <p:spPr>
            <a:xfrm>
              <a:off x="1854877" y="1464918"/>
              <a:ext cx="797860" cy="797860"/>
            </a:xfrm>
            <a:prstGeom prst="rect">
              <a:avLst/>
            </a:prstGeom>
            <a:noFill/>
            <a:ln>
              <a:noFill/>
            </a:ln>
          </p:spPr>
        </p:pic>
      </p:grpSp>
      <p:grpSp>
        <p:nvGrpSpPr>
          <p:cNvPr id="108" name="Google Shape;108;p3"/>
          <p:cNvGrpSpPr/>
          <p:nvPr/>
        </p:nvGrpSpPr>
        <p:grpSpPr>
          <a:xfrm>
            <a:off x="8610116" y="524541"/>
            <a:ext cx="3000925" cy="2721523"/>
            <a:chOff x="4246051" y="3551145"/>
            <a:chExt cx="3320519" cy="2971966"/>
          </a:xfrm>
        </p:grpSpPr>
        <p:sp>
          <p:nvSpPr>
            <p:cNvPr id="109" name="Google Shape;109;p3"/>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D9EBB5"/>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10" name="Google Shape;110;p3"/>
            <p:cNvSpPr txBox="1"/>
            <p:nvPr/>
          </p:nvSpPr>
          <p:spPr>
            <a:xfrm>
              <a:off x="4376115" y="4890436"/>
              <a:ext cx="2896489" cy="3697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Enhances Understanding</a:t>
              </a:r>
              <a:endParaRPr b="0" i="0" sz="1100" u="none" cap="none" strike="noStrike">
                <a:solidFill>
                  <a:srgbClr val="000000"/>
                </a:solidFill>
                <a:latin typeface="Arial"/>
                <a:ea typeface="Arial"/>
                <a:cs typeface="Arial"/>
                <a:sym typeface="Arial"/>
              </a:endParaRPr>
            </a:p>
          </p:txBody>
        </p:sp>
        <p:sp>
          <p:nvSpPr>
            <p:cNvPr id="111" name="Google Shape;111;p3"/>
            <p:cNvSpPr txBox="1"/>
            <p:nvPr/>
          </p:nvSpPr>
          <p:spPr>
            <a:xfrm>
              <a:off x="4271828" y="5293313"/>
              <a:ext cx="3258753" cy="10419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Humans process visuals faster than text. Data visualization turns abstract numbers into stories we can intuitively understand.</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a:off x="5271761" y="3551145"/>
              <a:ext cx="1199472" cy="1199472"/>
            </a:xfrm>
            <a:prstGeom prst="ellipse">
              <a:avLst/>
            </a:prstGeom>
            <a:solidFill>
              <a:srgbClr val="9DC7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113" name="Google Shape;113;p3"/>
          <p:cNvGrpSpPr/>
          <p:nvPr/>
        </p:nvGrpSpPr>
        <p:grpSpPr>
          <a:xfrm>
            <a:off x="4743937" y="3621961"/>
            <a:ext cx="3000925" cy="2721522"/>
            <a:chOff x="4246051" y="3551145"/>
            <a:chExt cx="3320519" cy="2971966"/>
          </a:xfrm>
        </p:grpSpPr>
        <p:sp>
          <p:nvSpPr>
            <p:cNvPr id="114" name="Google Shape;114;p3"/>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FAF1AF"/>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15" name="Google Shape;115;p3"/>
            <p:cNvSpPr txBox="1"/>
            <p:nvPr/>
          </p:nvSpPr>
          <p:spPr>
            <a:xfrm>
              <a:off x="4458065" y="4852614"/>
              <a:ext cx="2896489" cy="3697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Simplifies Complex Data</a:t>
              </a:r>
              <a:endParaRPr b="0" i="0" sz="1600" u="none" cap="none" strike="noStrike">
                <a:solidFill>
                  <a:schemeClr val="dk1"/>
                </a:solidFill>
                <a:latin typeface="Corbel"/>
                <a:ea typeface="Corbel"/>
                <a:cs typeface="Corbel"/>
                <a:sym typeface="Corbel"/>
              </a:endParaRPr>
            </a:p>
          </p:txBody>
        </p:sp>
        <p:sp>
          <p:nvSpPr>
            <p:cNvPr id="116" name="Google Shape;116;p3"/>
            <p:cNvSpPr txBox="1"/>
            <p:nvPr/>
          </p:nvSpPr>
          <p:spPr>
            <a:xfrm>
              <a:off x="4376115" y="5344193"/>
              <a:ext cx="2990763" cy="8066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Make it easier to grasp complex concepts or identify new patterns in data quickly</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5271761" y="3551145"/>
              <a:ext cx="1199472" cy="1199472"/>
            </a:xfrm>
            <a:prstGeom prst="ellipse">
              <a:avLst/>
            </a:prstGeom>
            <a:solidFill>
              <a:srgbClr val="F6E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118" name="Google Shape;118;p3"/>
          <p:cNvGrpSpPr/>
          <p:nvPr/>
        </p:nvGrpSpPr>
        <p:grpSpPr>
          <a:xfrm>
            <a:off x="8610116" y="3526627"/>
            <a:ext cx="3000925" cy="2721522"/>
            <a:chOff x="4246051" y="3551145"/>
            <a:chExt cx="3320519" cy="2971966"/>
          </a:xfrm>
        </p:grpSpPr>
        <p:sp>
          <p:nvSpPr>
            <p:cNvPr id="119" name="Google Shape;119;p3"/>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FEE0A2"/>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20" name="Google Shape;120;p3"/>
            <p:cNvSpPr txBox="1"/>
            <p:nvPr/>
          </p:nvSpPr>
          <p:spPr>
            <a:xfrm>
              <a:off x="4376115" y="4890436"/>
              <a:ext cx="2896489" cy="3697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Reveals Hidden Insights</a:t>
              </a:r>
              <a:endParaRPr b="0" i="0" sz="1600" u="none" cap="none" strike="noStrike">
                <a:solidFill>
                  <a:schemeClr val="dk1"/>
                </a:solidFill>
                <a:latin typeface="Corbel"/>
                <a:ea typeface="Corbel"/>
                <a:cs typeface="Corbel"/>
                <a:sym typeface="Corbel"/>
              </a:endParaRPr>
            </a:p>
          </p:txBody>
        </p:sp>
        <p:sp>
          <p:nvSpPr>
            <p:cNvPr id="121" name="Google Shape;121;p3"/>
            <p:cNvSpPr txBox="1"/>
            <p:nvPr/>
          </p:nvSpPr>
          <p:spPr>
            <a:xfrm>
              <a:off x="4376115" y="5344193"/>
              <a:ext cx="2990763" cy="10419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Patterns and correlations that aren’t obvious in raw data become clear through visual representation</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5271761" y="3551145"/>
              <a:ext cx="1199472" cy="1199472"/>
            </a:xfrm>
            <a:prstGeom prst="ellipse">
              <a:avLst/>
            </a:prstGeom>
            <a:solidFill>
              <a:srgbClr val="FDC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pic>
        <p:nvPicPr>
          <p:cNvPr id="123" name="Google Shape;123;p3"/>
          <p:cNvPicPr preferRelativeResize="0"/>
          <p:nvPr/>
        </p:nvPicPr>
        <p:blipFill rotWithShape="1">
          <a:blip r:embed="rId4">
            <a:alphaModFix/>
          </a:blip>
          <a:srcRect b="0" l="0" r="0" t="0"/>
          <a:stretch/>
        </p:blipFill>
        <p:spPr>
          <a:xfrm>
            <a:off x="9680185" y="663729"/>
            <a:ext cx="797860" cy="797860"/>
          </a:xfrm>
          <a:prstGeom prst="rect">
            <a:avLst/>
          </a:prstGeom>
          <a:noFill/>
          <a:ln>
            <a:noFill/>
          </a:ln>
        </p:spPr>
      </p:pic>
      <p:pic>
        <p:nvPicPr>
          <p:cNvPr id="124" name="Google Shape;124;p3"/>
          <p:cNvPicPr preferRelativeResize="0"/>
          <p:nvPr/>
        </p:nvPicPr>
        <p:blipFill rotWithShape="1">
          <a:blip r:embed="rId5">
            <a:alphaModFix/>
          </a:blip>
          <a:srcRect b="0" l="0" r="0" t="0"/>
          <a:stretch/>
        </p:blipFill>
        <p:spPr>
          <a:xfrm>
            <a:off x="5859486" y="3758465"/>
            <a:ext cx="752380" cy="752380"/>
          </a:xfrm>
          <a:prstGeom prst="rect">
            <a:avLst/>
          </a:prstGeom>
          <a:noFill/>
          <a:ln>
            <a:noFill/>
          </a:ln>
        </p:spPr>
      </p:pic>
      <p:pic>
        <p:nvPicPr>
          <p:cNvPr id="125" name="Google Shape;125;p3"/>
          <p:cNvPicPr preferRelativeResize="0"/>
          <p:nvPr/>
        </p:nvPicPr>
        <p:blipFill rotWithShape="1">
          <a:blip r:embed="rId6">
            <a:alphaModFix/>
          </a:blip>
          <a:srcRect b="0" l="0" r="0" t="0"/>
          <a:stretch/>
        </p:blipFill>
        <p:spPr>
          <a:xfrm>
            <a:off x="9761724" y="3758465"/>
            <a:ext cx="628656" cy="6286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ctrTitle"/>
          </p:nvPr>
        </p:nvSpPr>
        <p:spPr>
          <a:xfrm>
            <a:off x="914400" y="3822192"/>
            <a:ext cx="10360152" cy="222199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orbel"/>
              <a:buNone/>
            </a:pPr>
            <a:r>
              <a:rPr lang="en-GB"/>
              <a:t>AIR IN THE VALLEY -  A DATA DRIVEN LOOK</a:t>
            </a:r>
            <a:endParaRPr/>
          </a:p>
        </p:txBody>
      </p:sp>
      <p:sp>
        <p:nvSpPr>
          <p:cNvPr id="131" name="Google Shape;131;p4"/>
          <p:cNvSpPr txBox="1"/>
          <p:nvPr>
            <p:ph idx="1" type="subTitle"/>
          </p:nvPr>
        </p:nvSpPr>
        <p:spPr>
          <a:xfrm>
            <a:off x="8403336" y="914400"/>
            <a:ext cx="2880360" cy="2130552"/>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chemeClr val="dk1"/>
              </a:buClr>
              <a:buSzPts val="2000"/>
              <a:buNone/>
            </a:pPr>
            <a:r>
              <a:rPr lang="en-GB"/>
              <a:t>Case Study</a:t>
            </a:r>
            <a:endParaRPr/>
          </a:p>
          <a:p>
            <a:pPr indent="0" lvl="0" marL="0" rtl="0" algn="r">
              <a:lnSpc>
                <a:spcPct val="90000"/>
              </a:lnSpc>
              <a:spcBef>
                <a:spcPts val="1000"/>
              </a:spcBef>
              <a:spcAft>
                <a:spcPts val="0"/>
              </a:spcAft>
              <a:buClr>
                <a:schemeClr val="dk1"/>
              </a:buClr>
              <a:buSzPts val="2000"/>
              <a:buNone/>
            </a:pPr>
            <a:r>
              <a:t/>
            </a:r>
            <a:endParaRPr/>
          </a:p>
        </p:txBody>
      </p:sp>
      <p:pic>
        <p:nvPicPr>
          <p:cNvPr id="132" name="Google Shape;132;p4"/>
          <p:cNvPicPr preferRelativeResize="0"/>
          <p:nvPr>
            <p:ph idx="2" type="pic"/>
          </p:nvPr>
        </p:nvPicPr>
        <p:blipFill rotWithShape="1">
          <a:blip r:embed="rId3">
            <a:alphaModFix/>
          </a:blip>
          <a:srcRect b="14626" l="0" r="0" t="14624"/>
          <a:stretch/>
        </p:blipFill>
        <p:spPr>
          <a:xfrm>
            <a:off x="914400" y="0"/>
            <a:ext cx="6940296" cy="32735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914400" y="1962749"/>
            <a:ext cx="10360152" cy="11795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rbel"/>
              <a:buNone/>
            </a:pPr>
            <a:r>
              <a:rPr b="1" lang="en-GB" u="none"/>
              <a:t>🏔️ </a:t>
            </a:r>
            <a:r>
              <a:rPr b="1" lang="en-GB"/>
              <a:t>CASE STUDY: AIR IN THE VALLEY – A DATA DRIVEN LOOK</a:t>
            </a:r>
            <a:endParaRPr b="1"/>
          </a:p>
        </p:txBody>
      </p:sp>
      <p:sp>
        <p:nvSpPr>
          <p:cNvPr id="138" name="Google Shape;138;p5"/>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39" name="Google Shape;139;p5"/>
          <p:cNvSpPr txBox="1"/>
          <p:nvPr>
            <p:ph idx="1" type="body"/>
          </p:nvPr>
        </p:nvSpPr>
        <p:spPr>
          <a:xfrm>
            <a:off x="914399" y="3791549"/>
            <a:ext cx="8293667" cy="207924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1800"/>
              <a:buChar char="•"/>
            </a:pPr>
            <a:r>
              <a:rPr b="1" lang="en-GB"/>
              <a:t>Air quality is no longer just a concern of the plains.</a:t>
            </a:r>
            <a:endParaRPr b="1"/>
          </a:p>
          <a:p>
            <a:pPr indent="-228600" lvl="0" marL="228600" rtl="0" algn="just">
              <a:lnSpc>
                <a:spcPct val="90000"/>
              </a:lnSpc>
              <a:spcBef>
                <a:spcPts val="1000"/>
              </a:spcBef>
              <a:spcAft>
                <a:spcPts val="0"/>
              </a:spcAft>
              <a:buSzPts val="1800"/>
              <a:buChar char="•"/>
            </a:pPr>
            <a:r>
              <a:rPr b="1" lang="en-GB"/>
              <a:t>Is the air in the Himalayas still clean?</a:t>
            </a:r>
            <a:endParaRPr b="1"/>
          </a:p>
          <a:p>
            <a:pPr indent="-228600" lvl="0" marL="228600" rtl="0" algn="just">
              <a:lnSpc>
                <a:spcPct val="90000"/>
              </a:lnSpc>
              <a:spcBef>
                <a:spcPts val="1000"/>
              </a:spcBef>
              <a:spcAft>
                <a:spcPts val="0"/>
              </a:spcAft>
              <a:buClr>
                <a:schemeClr val="dk1"/>
              </a:buClr>
              <a:buSzPts val="1800"/>
              <a:buChar char="•"/>
            </a:pPr>
            <a:r>
              <a:rPr b="1" lang="en-GB"/>
              <a:t>Once considered pristine, high-altitude regions are now facing pollution.</a:t>
            </a:r>
            <a:endParaRPr b="1"/>
          </a:p>
          <a:p>
            <a:pPr indent="-228600" lvl="0" marL="228600" rtl="0" algn="just">
              <a:lnSpc>
                <a:spcPct val="90000"/>
              </a:lnSpc>
              <a:spcBef>
                <a:spcPts val="1000"/>
              </a:spcBef>
              <a:spcAft>
                <a:spcPts val="0"/>
              </a:spcAft>
              <a:buClr>
                <a:schemeClr val="dk1"/>
              </a:buClr>
              <a:buSzPts val="1800"/>
              <a:buChar char="•"/>
            </a:pPr>
            <a:r>
              <a:rPr b="1" lang="en-GB"/>
              <a:t>We’ll explore monthly air quality data (PM2.5, PM10) + meteorological factors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6761c423f8_17_48"/>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146" name="Google Shape;146;g36761c423f8_17_48" title="map.png"/>
          <p:cNvPicPr preferRelativeResize="0"/>
          <p:nvPr/>
        </p:nvPicPr>
        <p:blipFill>
          <a:blip r:embed="rId3">
            <a:alphaModFix/>
          </a:blip>
          <a:stretch>
            <a:fillRect/>
          </a:stretch>
        </p:blipFill>
        <p:spPr>
          <a:xfrm>
            <a:off x="6255300" y="700925"/>
            <a:ext cx="4965800" cy="5456159"/>
          </a:xfrm>
          <a:prstGeom prst="rect">
            <a:avLst/>
          </a:prstGeom>
          <a:noFill/>
          <a:ln>
            <a:noFill/>
          </a:ln>
        </p:spPr>
      </p:pic>
      <p:pic>
        <p:nvPicPr>
          <p:cNvPr id="147" name="Google Shape;147;g36761c423f8_17_48" title="ghar.png"/>
          <p:cNvPicPr preferRelativeResize="0"/>
          <p:nvPr/>
        </p:nvPicPr>
        <p:blipFill rotWithShape="1">
          <a:blip r:embed="rId4">
            <a:alphaModFix/>
          </a:blip>
          <a:srcRect b="0" l="0" r="15590" t="3586"/>
          <a:stretch/>
        </p:blipFill>
        <p:spPr>
          <a:xfrm>
            <a:off x="6661850" y="4063200"/>
            <a:ext cx="1518449" cy="1720224"/>
          </a:xfrm>
          <a:prstGeom prst="rect">
            <a:avLst/>
          </a:prstGeom>
          <a:noFill/>
          <a:ln>
            <a:noFill/>
          </a:ln>
        </p:spPr>
      </p:pic>
      <p:sp>
        <p:nvSpPr>
          <p:cNvPr id="148" name="Google Shape;148;g36761c423f8_17_48"/>
          <p:cNvSpPr txBox="1"/>
          <p:nvPr/>
        </p:nvSpPr>
        <p:spPr>
          <a:xfrm>
            <a:off x="7535950" y="5332125"/>
            <a:ext cx="522900" cy="3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orbel"/>
                <a:ea typeface="Corbel"/>
                <a:cs typeface="Corbel"/>
                <a:sym typeface="Corbel"/>
              </a:rPr>
              <a:t>IGP</a:t>
            </a:r>
            <a:endParaRPr sz="1800">
              <a:solidFill>
                <a:schemeClr val="dk1"/>
              </a:solidFill>
              <a:latin typeface="Corbel"/>
              <a:ea typeface="Corbel"/>
              <a:cs typeface="Corbel"/>
              <a:sym typeface="Corbel"/>
            </a:endParaRPr>
          </a:p>
        </p:txBody>
      </p:sp>
      <p:sp>
        <p:nvSpPr>
          <p:cNvPr id="149" name="Google Shape;149;g36761c423f8_17_48"/>
          <p:cNvSpPr txBox="1"/>
          <p:nvPr/>
        </p:nvSpPr>
        <p:spPr>
          <a:xfrm>
            <a:off x="653675" y="747050"/>
            <a:ext cx="4818600" cy="51585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Clr>
                <a:schemeClr val="dk1"/>
              </a:buClr>
              <a:buSzPts val="1600"/>
              <a:buFont typeface="Corbel"/>
              <a:buChar char="●"/>
            </a:pPr>
            <a:r>
              <a:rPr lang="en-GB" sz="1600">
                <a:solidFill>
                  <a:schemeClr val="dk1"/>
                </a:solidFill>
                <a:latin typeface="Corbel"/>
                <a:ea typeface="Corbel"/>
                <a:cs typeface="Corbel"/>
                <a:sym typeface="Corbel"/>
              </a:rPr>
              <a:t>The adjacent Indo-Gangetic Plain (IGP) is a well-known global air pollution hotspot , but pollution is now spreading into the Himalayan environment through IGP, highlighting the urgent need for comprehensive air quality studies in this vulnerable region.</a:t>
            </a:r>
            <a:endParaRPr sz="1600">
              <a:solidFill>
                <a:schemeClr val="dk1"/>
              </a:solidFill>
              <a:latin typeface="Corbel"/>
              <a:ea typeface="Corbel"/>
              <a:cs typeface="Corbel"/>
              <a:sym typeface="Corbel"/>
            </a:endParaRPr>
          </a:p>
          <a:p>
            <a:pPr indent="0" lvl="0" marL="457200" rtl="0" algn="just">
              <a:lnSpc>
                <a:spcPct val="115000"/>
              </a:lnSpc>
              <a:spcBef>
                <a:spcPts val="0"/>
              </a:spcBef>
              <a:spcAft>
                <a:spcPts val="0"/>
              </a:spcAft>
              <a:buNone/>
            </a:pPr>
            <a:r>
              <a:t/>
            </a:r>
            <a:endParaRPr sz="1600">
              <a:solidFill>
                <a:schemeClr val="dk1"/>
              </a:solidFill>
              <a:latin typeface="Corbel"/>
              <a:ea typeface="Corbel"/>
              <a:cs typeface="Corbel"/>
              <a:sym typeface="Corbel"/>
            </a:endParaRPr>
          </a:p>
          <a:p>
            <a:pPr indent="-330200" lvl="0" marL="457200" rtl="0" algn="just">
              <a:lnSpc>
                <a:spcPct val="115000"/>
              </a:lnSpc>
              <a:spcBef>
                <a:spcPts val="0"/>
              </a:spcBef>
              <a:spcAft>
                <a:spcPts val="0"/>
              </a:spcAft>
              <a:buClr>
                <a:schemeClr val="dk1"/>
              </a:buClr>
              <a:buSzPts val="1600"/>
              <a:buFont typeface="Corbel"/>
              <a:buChar char="●"/>
            </a:pPr>
            <a:r>
              <a:rPr lang="en-GB" sz="1600">
                <a:solidFill>
                  <a:schemeClr val="dk1"/>
                </a:solidFill>
                <a:latin typeface="Corbel"/>
                <a:ea typeface="Corbel"/>
                <a:cs typeface="Corbel"/>
                <a:sym typeface="Corbel"/>
              </a:rPr>
              <a:t>Frequent particulate matter (PM) pollution causes significant problems , as PM emissions are major factors affecting both climate and health.</a:t>
            </a:r>
            <a:endParaRPr sz="2200">
              <a:solidFill>
                <a:schemeClr val="dk1"/>
              </a:solidFill>
              <a:latin typeface="Corbel"/>
              <a:ea typeface="Corbel"/>
              <a:cs typeface="Corbel"/>
              <a:sym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rbel"/>
              <a:buNone/>
            </a:pPr>
            <a:r>
              <a:rPr b="1" lang="en-GB"/>
              <a:t>DATA DESCRIPTION</a:t>
            </a:r>
            <a:endParaRPr b="1"/>
          </a:p>
        </p:txBody>
      </p:sp>
      <p:sp>
        <p:nvSpPr>
          <p:cNvPr id="155" name="Google Shape;155;p6"/>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56" name="Google Shape;156;p6"/>
          <p:cNvPicPr preferRelativeResize="0"/>
          <p:nvPr/>
        </p:nvPicPr>
        <p:blipFill rotWithShape="1">
          <a:blip r:embed="rId3">
            <a:alphaModFix/>
          </a:blip>
          <a:srcRect b="0" l="0" r="0" t="0"/>
          <a:stretch/>
        </p:blipFill>
        <p:spPr>
          <a:xfrm>
            <a:off x="6875475" y="2941475"/>
            <a:ext cx="4275900" cy="2604400"/>
          </a:xfrm>
          <a:prstGeom prst="rect">
            <a:avLst/>
          </a:prstGeom>
          <a:noFill/>
          <a:ln>
            <a:noFill/>
          </a:ln>
        </p:spPr>
      </p:pic>
      <p:sp>
        <p:nvSpPr>
          <p:cNvPr id="157" name="Google Shape;157;p6"/>
          <p:cNvSpPr/>
          <p:nvPr/>
        </p:nvSpPr>
        <p:spPr>
          <a:xfrm rot="-192718">
            <a:off x="1334358" y="2640709"/>
            <a:ext cx="3619486" cy="3654632"/>
          </a:xfrm>
          <a:prstGeom prst="flowChartAlternateProcess">
            <a:avLst/>
          </a:prstGeom>
          <a:solidFill>
            <a:srgbClr val="9900FF"/>
          </a:solidFill>
          <a:ln cap="flat" cmpd="sng" w="9525">
            <a:solidFill>
              <a:schemeClr val="lt1"/>
            </a:solidFill>
            <a:prstDash val="solid"/>
            <a:round/>
            <a:headEnd len="sm" w="sm" type="none"/>
            <a:tailEnd len="sm" w="sm" type="none"/>
          </a:ln>
          <a:effectLst>
            <a:outerShdw blurRad="57150" rotWithShape="0" algn="bl" dir="5400000" dist="123825">
              <a:srgbClr val="000000">
                <a:alpha val="4941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8" name="Google Shape;158;p6"/>
          <p:cNvSpPr/>
          <p:nvPr/>
        </p:nvSpPr>
        <p:spPr>
          <a:xfrm>
            <a:off x="1458950" y="2618675"/>
            <a:ext cx="3454200" cy="3698700"/>
          </a:xfrm>
          <a:prstGeom prst="flowChartAlternateProcess">
            <a:avLst/>
          </a:prstGeom>
          <a:solidFill>
            <a:schemeClr val="lt1"/>
          </a:solidFill>
          <a:ln cap="flat" cmpd="sng" w="9525">
            <a:solidFill>
              <a:schemeClr val="lt1"/>
            </a:solidFill>
            <a:prstDash val="solid"/>
            <a:round/>
            <a:headEnd len="sm" w="sm" type="none"/>
            <a:tailEnd len="sm" w="sm" type="none"/>
          </a:ln>
          <a:effectLst>
            <a:outerShdw blurRad="57150" rotWithShape="0" algn="bl" dir="14820000" dist="57150">
              <a:srgbClr val="000000">
                <a:alpha val="4941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Corbel"/>
                <a:ea typeface="Corbel"/>
                <a:cs typeface="Corbel"/>
                <a:sym typeface="Corbel"/>
              </a:rPr>
              <a:t>This study employs monthly gridded data on PM₂.₅, PM₁₀, and wind speed .</a:t>
            </a:r>
            <a:endParaRPr b="1" i="0" sz="1600" u="none" cap="none" strike="noStrike">
              <a:solidFill>
                <a:srgbClr val="000000"/>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400"/>
              <a:buFont typeface="Arial"/>
              <a:buNone/>
            </a:pPr>
            <a:r>
              <a:t/>
            </a:r>
            <a:endParaRPr b="1" i="0" sz="1600" u="none" cap="none" strike="noStrike">
              <a:solidFill>
                <a:srgbClr val="000000"/>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Corbel"/>
                <a:ea typeface="Corbel"/>
                <a:cs typeface="Corbel"/>
                <a:sym typeface="Corbel"/>
              </a:rPr>
              <a:t>PM₂.₅ and PM₁₀ are airborne particulate pollutants originating from combustion, dust, and industrial activities with diameters ≤2.5 µm and ≤10 µm respectively, posing significant health risks due to their ability to penetrate the respiratory system.</a:t>
            </a:r>
            <a:endParaRPr b="1" i="0" sz="1600" u="none" cap="none" strike="noStrike">
              <a:solidFill>
                <a:srgbClr val="000000"/>
              </a:solidFill>
              <a:latin typeface="Corbel"/>
              <a:ea typeface="Corbel"/>
              <a:cs typeface="Corbel"/>
              <a:sym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914400" y="914400"/>
            <a:ext cx="10360152" cy="11795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t>OBJECTIVES</a:t>
            </a:r>
            <a:endParaRPr b="1"/>
          </a:p>
        </p:txBody>
      </p:sp>
      <p:sp>
        <p:nvSpPr>
          <p:cNvPr id="164" name="Google Shape;164;p7"/>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165" name="Google Shape;165;p7"/>
          <p:cNvGrpSpPr/>
          <p:nvPr/>
        </p:nvGrpSpPr>
        <p:grpSpPr>
          <a:xfrm>
            <a:off x="885279" y="2723487"/>
            <a:ext cx="3000925" cy="2721522"/>
            <a:chOff x="4246051" y="3551145"/>
            <a:chExt cx="3320519" cy="2971966"/>
          </a:xfrm>
        </p:grpSpPr>
        <p:sp>
          <p:nvSpPr>
            <p:cNvPr id="166" name="Google Shape;166;p7"/>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D3EEF4"/>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67" name="Google Shape;167;p7"/>
            <p:cNvSpPr txBox="1"/>
            <p:nvPr/>
          </p:nvSpPr>
          <p:spPr>
            <a:xfrm>
              <a:off x="4376115" y="4986421"/>
              <a:ext cx="2896489" cy="3697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Univariate Analysis</a:t>
              </a:r>
              <a:endParaRPr b="0" i="0" sz="1600" u="none" cap="none" strike="noStrike">
                <a:solidFill>
                  <a:schemeClr val="dk1"/>
                </a:solidFill>
                <a:latin typeface="Corbel"/>
                <a:ea typeface="Corbel"/>
                <a:cs typeface="Corbel"/>
                <a:sym typeface="Corbel"/>
              </a:endParaRPr>
            </a:p>
          </p:txBody>
        </p:sp>
        <p:sp>
          <p:nvSpPr>
            <p:cNvPr id="168" name="Google Shape;168;p7"/>
            <p:cNvSpPr txBox="1"/>
            <p:nvPr/>
          </p:nvSpPr>
          <p:spPr>
            <a:xfrm>
              <a:off x="4376115" y="5517857"/>
              <a:ext cx="2990763" cy="5713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Understand individual variables </a:t>
              </a:r>
              <a:endParaRPr b="0" i="0" sz="1400" u="none" cap="none" strike="noStrike">
                <a:solidFill>
                  <a:srgbClr val="000000"/>
                </a:solidFill>
                <a:latin typeface="Arial"/>
                <a:ea typeface="Arial"/>
                <a:cs typeface="Arial"/>
                <a:sym typeface="Arial"/>
              </a:endParaRPr>
            </a:p>
          </p:txBody>
        </p:sp>
        <p:sp>
          <p:nvSpPr>
            <p:cNvPr id="169" name="Google Shape;169;p7"/>
            <p:cNvSpPr/>
            <p:nvPr/>
          </p:nvSpPr>
          <p:spPr>
            <a:xfrm>
              <a:off x="5271761" y="3551145"/>
              <a:ext cx="1199472" cy="1199472"/>
            </a:xfrm>
            <a:prstGeom prst="ellipse">
              <a:avLst/>
            </a:prstGeom>
            <a:solidFill>
              <a:srgbClr val="8CCE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170" name="Google Shape;170;p7"/>
          <p:cNvGrpSpPr/>
          <p:nvPr/>
        </p:nvGrpSpPr>
        <p:grpSpPr>
          <a:xfrm>
            <a:off x="4564892" y="2723487"/>
            <a:ext cx="3000925" cy="2721523"/>
            <a:chOff x="4246051" y="3551145"/>
            <a:chExt cx="3320519" cy="2971966"/>
          </a:xfrm>
        </p:grpSpPr>
        <p:sp>
          <p:nvSpPr>
            <p:cNvPr id="171" name="Google Shape;171;p7"/>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D9EBB5"/>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72" name="Google Shape;172;p7"/>
            <p:cNvSpPr txBox="1"/>
            <p:nvPr/>
          </p:nvSpPr>
          <p:spPr>
            <a:xfrm>
              <a:off x="4423251" y="4986420"/>
              <a:ext cx="2896489" cy="6385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Bivariate &amp; Multivariate Analysis</a:t>
              </a:r>
              <a:endParaRPr b="0" i="0" sz="1100" u="none" cap="none" strike="noStrike">
                <a:solidFill>
                  <a:srgbClr val="000000"/>
                </a:solidFill>
                <a:latin typeface="Arial"/>
                <a:ea typeface="Arial"/>
                <a:cs typeface="Arial"/>
                <a:sym typeface="Arial"/>
              </a:endParaRPr>
            </a:p>
          </p:txBody>
        </p:sp>
        <p:sp>
          <p:nvSpPr>
            <p:cNvPr id="173" name="Google Shape;173;p7"/>
            <p:cNvSpPr txBox="1"/>
            <p:nvPr/>
          </p:nvSpPr>
          <p:spPr>
            <a:xfrm>
              <a:off x="4363471" y="5635491"/>
              <a:ext cx="3137401" cy="336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See how they interact </a:t>
              </a:r>
              <a:endParaRPr b="0" i="0" sz="1400" u="none" cap="none" strike="noStrike">
                <a:solidFill>
                  <a:srgbClr val="000000"/>
                </a:solidFill>
                <a:latin typeface="Arial"/>
                <a:ea typeface="Arial"/>
                <a:cs typeface="Arial"/>
                <a:sym typeface="Arial"/>
              </a:endParaRPr>
            </a:p>
          </p:txBody>
        </p:sp>
        <p:sp>
          <p:nvSpPr>
            <p:cNvPr id="174" name="Google Shape;174;p7"/>
            <p:cNvSpPr/>
            <p:nvPr/>
          </p:nvSpPr>
          <p:spPr>
            <a:xfrm>
              <a:off x="5271761" y="3551145"/>
              <a:ext cx="1199472" cy="1199472"/>
            </a:xfrm>
            <a:prstGeom prst="ellipse">
              <a:avLst/>
            </a:prstGeom>
            <a:solidFill>
              <a:srgbClr val="9DC7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175" name="Google Shape;175;p7"/>
          <p:cNvGrpSpPr/>
          <p:nvPr/>
        </p:nvGrpSpPr>
        <p:grpSpPr>
          <a:xfrm>
            <a:off x="8244506" y="2723487"/>
            <a:ext cx="3000925" cy="2721522"/>
            <a:chOff x="4246051" y="3551145"/>
            <a:chExt cx="3320519" cy="2971966"/>
          </a:xfrm>
        </p:grpSpPr>
        <p:sp>
          <p:nvSpPr>
            <p:cNvPr id="176" name="Google Shape;176;p7"/>
            <p:cNvSpPr/>
            <p:nvPr/>
          </p:nvSpPr>
          <p:spPr>
            <a:xfrm>
              <a:off x="4246051" y="3551828"/>
              <a:ext cx="3320519" cy="2971283"/>
            </a:xfrm>
            <a:custGeom>
              <a:rect b="b" l="l" r="r" t="t"/>
              <a:pathLst>
                <a:path extrusionOk="0" h="2971283" w="3320519">
                  <a:moveTo>
                    <a:pt x="1625446" y="0"/>
                  </a:moveTo>
                  <a:cubicBezTo>
                    <a:pt x="1956671" y="0"/>
                    <a:pt x="2225182" y="268511"/>
                    <a:pt x="2225182" y="599736"/>
                  </a:cubicBezTo>
                  <a:lnTo>
                    <a:pt x="2218614" y="664896"/>
                  </a:lnTo>
                  <a:lnTo>
                    <a:pt x="3082915" y="664896"/>
                  </a:lnTo>
                  <a:cubicBezTo>
                    <a:pt x="3214140" y="664896"/>
                    <a:pt x="3320519" y="771275"/>
                    <a:pt x="3320519" y="902500"/>
                  </a:cubicBezTo>
                  <a:lnTo>
                    <a:pt x="3320519" y="2733679"/>
                  </a:lnTo>
                  <a:cubicBezTo>
                    <a:pt x="3320519" y="2864904"/>
                    <a:pt x="3214140" y="2971283"/>
                    <a:pt x="3082915" y="2971283"/>
                  </a:cubicBezTo>
                  <a:lnTo>
                    <a:pt x="237604" y="2971283"/>
                  </a:lnTo>
                  <a:cubicBezTo>
                    <a:pt x="106379" y="2971283"/>
                    <a:pt x="0" y="2864904"/>
                    <a:pt x="0" y="2733679"/>
                  </a:cubicBezTo>
                  <a:lnTo>
                    <a:pt x="0" y="902500"/>
                  </a:lnTo>
                  <a:cubicBezTo>
                    <a:pt x="0" y="771275"/>
                    <a:pt x="106379" y="664896"/>
                    <a:pt x="237604" y="664896"/>
                  </a:cubicBezTo>
                  <a:lnTo>
                    <a:pt x="1032279" y="664896"/>
                  </a:lnTo>
                  <a:lnTo>
                    <a:pt x="1025710" y="599736"/>
                  </a:lnTo>
                  <a:cubicBezTo>
                    <a:pt x="1025710" y="268511"/>
                    <a:pt x="1294221" y="0"/>
                    <a:pt x="1625446" y="0"/>
                  </a:cubicBezTo>
                  <a:close/>
                </a:path>
              </a:pathLst>
            </a:custGeom>
            <a:solidFill>
              <a:srgbClr val="FAF1AF"/>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77" name="Google Shape;177;p7"/>
            <p:cNvSpPr txBox="1"/>
            <p:nvPr/>
          </p:nvSpPr>
          <p:spPr>
            <a:xfrm>
              <a:off x="4436364" y="5037469"/>
              <a:ext cx="2896489" cy="3697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Visualizations</a:t>
              </a:r>
              <a:endParaRPr b="0" i="0" sz="1600" u="none" cap="none" strike="noStrike">
                <a:solidFill>
                  <a:schemeClr val="dk1"/>
                </a:solidFill>
                <a:latin typeface="Corbel"/>
                <a:ea typeface="Corbel"/>
                <a:cs typeface="Corbel"/>
                <a:sym typeface="Corbel"/>
              </a:endParaRPr>
            </a:p>
          </p:txBody>
        </p:sp>
        <p:sp>
          <p:nvSpPr>
            <p:cNvPr id="178" name="Google Shape;178;p7"/>
            <p:cNvSpPr txBox="1"/>
            <p:nvPr/>
          </p:nvSpPr>
          <p:spPr>
            <a:xfrm>
              <a:off x="4376114" y="5517857"/>
              <a:ext cx="2990763" cy="5713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dk1"/>
                  </a:solidFill>
                  <a:latin typeface="Corbel"/>
                  <a:ea typeface="Corbel"/>
                  <a:cs typeface="Corbel"/>
                  <a:sym typeface="Corbel"/>
                </a:rPr>
                <a:t>Create visualizations using Python</a:t>
              </a:r>
              <a:endParaRPr b="0" i="0" sz="1400" u="none" cap="none" strike="noStrike">
                <a:solidFill>
                  <a:srgbClr val="000000"/>
                </a:solidFill>
                <a:latin typeface="Arial"/>
                <a:ea typeface="Arial"/>
                <a:cs typeface="Arial"/>
                <a:sym typeface="Arial"/>
              </a:endParaRPr>
            </a:p>
          </p:txBody>
        </p:sp>
        <p:sp>
          <p:nvSpPr>
            <p:cNvPr id="179" name="Google Shape;179;p7"/>
            <p:cNvSpPr/>
            <p:nvPr/>
          </p:nvSpPr>
          <p:spPr>
            <a:xfrm>
              <a:off x="5271761" y="3551145"/>
              <a:ext cx="1199472" cy="1199472"/>
            </a:xfrm>
            <a:prstGeom prst="ellipse">
              <a:avLst/>
            </a:prstGeom>
            <a:solidFill>
              <a:srgbClr val="F6E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pic>
        <p:nvPicPr>
          <p:cNvPr id="180" name="Google Shape;180;p7"/>
          <p:cNvPicPr preferRelativeResize="0"/>
          <p:nvPr/>
        </p:nvPicPr>
        <p:blipFill rotWithShape="1">
          <a:blip r:embed="rId3">
            <a:alphaModFix/>
          </a:blip>
          <a:srcRect b="0" l="0" r="0" t="0"/>
          <a:stretch/>
        </p:blipFill>
        <p:spPr>
          <a:xfrm>
            <a:off x="2010604" y="2912102"/>
            <a:ext cx="673822" cy="673822"/>
          </a:xfrm>
          <a:prstGeom prst="rect">
            <a:avLst/>
          </a:prstGeom>
          <a:noFill/>
          <a:ln>
            <a:noFill/>
          </a:ln>
        </p:spPr>
      </p:pic>
      <p:pic>
        <p:nvPicPr>
          <p:cNvPr id="181" name="Google Shape;181;p7"/>
          <p:cNvPicPr preferRelativeResize="0"/>
          <p:nvPr/>
        </p:nvPicPr>
        <p:blipFill rotWithShape="1">
          <a:blip r:embed="rId4">
            <a:alphaModFix/>
          </a:blip>
          <a:srcRect b="0" l="0" r="0" t="0"/>
          <a:stretch/>
        </p:blipFill>
        <p:spPr>
          <a:xfrm>
            <a:off x="5650202" y="2870801"/>
            <a:ext cx="756422" cy="756422"/>
          </a:xfrm>
          <a:prstGeom prst="rect">
            <a:avLst/>
          </a:prstGeom>
          <a:noFill/>
          <a:ln>
            <a:noFill/>
          </a:ln>
        </p:spPr>
      </p:pic>
      <p:pic>
        <p:nvPicPr>
          <p:cNvPr id="182" name="Google Shape;182;p7"/>
          <p:cNvPicPr preferRelativeResize="0"/>
          <p:nvPr/>
        </p:nvPicPr>
        <p:blipFill rotWithShape="1">
          <a:blip r:embed="rId5">
            <a:alphaModFix/>
          </a:blip>
          <a:srcRect b="0" l="0" r="0" t="0"/>
          <a:stretch/>
        </p:blipFill>
        <p:spPr>
          <a:xfrm>
            <a:off x="9402692" y="2941866"/>
            <a:ext cx="597466" cy="5974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8"/>
          <p:cNvSpPr txBox="1"/>
          <p:nvPr>
            <p:ph type="ctrTitle"/>
          </p:nvPr>
        </p:nvSpPr>
        <p:spPr>
          <a:xfrm>
            <a:off x="588875" y="374825"/>
            <a:ext cx="10360200" cy="1604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orbel"/>
              <a:buNone/>
            </a:pPr>
            <a:r>
              <a:rPr lang="en-GB"/>
              <a:t>Univariate Analysis</a:t>
            </a:r>
            <a:endParaRPr/>
          </a:p>
        </p:txBody>
      </p:sp>
      <p:sp>
        <p:nvSpPr>
          <p:cNvPr id="188" name="Google Shape;188;p8"/>
          <p:cNvSpPr/>
          <p:nvPr/>
        </p:nvSpPr>
        <p:spPr>
          <a:xfrm>
            <a:off x="4355000" y="3008600"/>
            <a:ext cx="3156600" cy="2692800"/>
          </a:xfrm>
          <a:prstGeom prst="foldedCorner">
            <a:avLst>
              <a:gd fmla="val 16667" name="adj"/>
            </a:avLst>
          </a:prstGeom>
          <a:solidFill>
            <a:srgbClr val="FD84E4"/>
          </a:solidFill>
          <a:ln cap="flat" cmpd="sng" w="9525">
            <a:solidFill>
              <a:srgbClr val="FD84E4"/>
            </a:solidFill>
            <a:prstDash val="solid"/>
            <a:round/>
            <a:headEnd len="sm" w="sm" type="none"/>
            <a:tailEnd len="sm" w="sm" type="none"/>
          </a:ln>
          <a:effectLst>
            <a:outerShdw blurRad="57150" rotWithShape="0" algn="bl" dir="5400000" dist="180975">
              <a:srgbClr val="000000">
                <a:alpha val="4941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89" name="Google Shape;189;p8"/>
          <p:cNvSpPr/>
          <p:nvPr/>
        </p:nvSpPr>
        <p:spPr>
          <a:xfrm>
            <a:off x="4419050" y="3082925"/>
            <a:ext cx="3028500" cy="2860500"/>
          </a:xfrm>
          <a:prstGeom prst="foldedCorner">
            <a:avLst>
              <a:gd fmla="val 16667" name="adj"/>
            </a:avLst>
          </a:prstGeom>
          <a:solidFill>
            <a:schemeClr val="lt1"/>
          </a:solidFill>
          <a:ln cap="flat" cmpd="sng" w="9525">
            <a:solidFill>
              <a:srgbClr val="FD84E4"/>
            </a:solidFill>
            <a:prstDash val="solid"/>
            <a:round/>
            <a:headEnd len="sm" w="sm" type="none"/>
            <a:tailEnd len="sm" w="sm" type="none"/>
          </a:ln>
          <a:effectLst>
            <a:outerShdw blurRad="57150" rotWithShape="0" algn="bl" dir="5400000" dist="142875">
              <a:srgbClr val="000000">
                <a:alpha val="4941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900"/>
              <a:buFont typeface="Arial"/>
              <a:buNone/>
            </a:pPr>
            <a:r>
              <a:rPr b="1" i="0" lang="en-GB" sz="1600" u="none" cap="none" strike="noStrike">
                <a:solidFill>
                  <a:schemeClr val="dk1"/>
                </a:solidFill>
                <a:latin typeface="Corbel"/>
                <a:ea typeface="Corbel"/>
                <a:cs typeface="Corbel"/>
                <a:sym typeface="Corbel"/>
              </a:rPr>
              <a:t>Understand the distribution of air quality and meteorological variables across the Northwest Himalayan region.</a:t>
            </a:r>
            <a:endParaRPr b="1" i="0" sz="1600" u="none" cap="none" strike="noStrike">
              <a:solidFill>
                <a:schemeClr val="dk1"/>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195" name="Google Shape;195;p9"/>
          <p:cNvGrpSpPr/>
          <p:nvPr/>
        </p:nvGrpSpPr>
        <p:grpSpPr>
          <a:xfrm>
            <a:off x="1774118" y="1482149"/>
            <a:ext cx="3530338" cy="3812336"/>
            <a:chOff x="-5222925" y="1618948"/>
            <a:chExt cx="3124469" cy="3896102"/>
          </a:xfrm>
        </p:grpSpPr>
        <p:sp>
          <p:nvSpPr>
            <p:cNvPr id="196" name="Google Shape;196;p9"/>
            <p:cNvSpPr/>
            <p:nvPr/>
          </p:nvSpPr>
          <p:spPr>
            <a:xfrm rot="-224403">
              <a:off x="-5104816" y="1709191"/>
              <a:ext cx="2888251" cy="3715615"/>
            </a:xfrm>
            <a:prstGeom prst="roundRect">
              <a:avLst>
                <a:gd fmla="val 10302" name="adj"/>
              </a:avLst>
            </a:prstGeom>
            <a:solidFill>
              <a:srgbClr val="00FF00"/>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197" name="Google Shape;197;p9"/>
            <p:cNvSpPr/>
            <p:nvPr/>
          </p:nvSpPr>
          <p:spPr>
            <a:xfrm>
              <a:off x="-5056659" y="1709245"/>
              <a:ext cx="2888400" cy="3715500"/>
            </a:xfrm>
            <a:prstGeom prst="roundRect">
              <a:avLst>
                <a:gd fmla="val 10302" name="adj"/>
              </a:avLst>
            </a:prstGeom>
            <a:solidFill>
              <a:schemeClr val="lt1"/>
            </a:solidFill>
            <a:ln cap="flat" cmpd="sng" w="9525">
              <a:solidFill>
                <a:srgbClr val="00FF0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Histograms</a:t>
              </a:r>
              <a:endParaRPr b="1"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Corbel"/>
                  <a:ea typeface="Corbel"/>
                  <a:cs typeface="Corbel"/>
                  <a:sym typeface="Corbel"/>
                </a:rPr>
                <a:t>These are like bar graphs, except that they are useful in showing data frequencies or data values on classes (or ranges) of a numerical variable.</a:t>
              </a:r>
              <a:endParaRPr b="0"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dk1"/>
                  </a:solidFill>
                  <a:latin typeface="Corbel"/>
                  <a:ea typeface="Corbel"/>
                  <a:cs typeface="Corbel"/>
                  <a:sym typeface="Corbel"/>
                </a:rPr>
                <a:t>Objectives: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Corbel"/>
                  <a:ea typeface="Corbel"/>
                  <a:cs typeface="Corbel"/>
                  <a:sym typeface="Corbel"/>
                </a:rPr>
                <a:t>Analyze PM2.5, PM10 distribution patterns to understand pollution levels and meteorological conditions in elevated mountain environments, revealing how these parameters vary from typical urban lowland distributions.</a:t>
              </a:r>
              <a:endParaRPr b="0" i="0" sz="1400" u="none" cap="none" strike="noStrike">
                <a:solidFill>
                  <a:schemeClr val="dk1"/>
                </a:solidFill>
                <a:latin typeface="Arial"/>
                <a:ea typeface="Arial"/>
                <a:cs typeface="Arial"/>
                <a:sym typeface="Arial"/>
              </a:endParaRPr>
            </a:p>
          </p:txBody>
        </p:sp>
      </p:grpSp>
      <p:grpSp>
        <p:nvGrpSpPr>
          <p:cNvPr id="198" name="Google Shape;198;p9"/>
          <p:cNvGrpSpPr/>
          <p:nvPr/>
        </p:nvGrpSpPr>
        <p:grpSpPr>
          <a:xfrm>
            <a:off x="6503468" y="1522836"/>
            <a:ext cx="3530338" cy="3812336"/>
            <a:chOff x="-5222925" y="1618948"/>
            <a:chExt cx="3124469" cy="3896102"/>
          </a:xfrm>
        </p:grpSpPr>
        <p:sp>
          <p:nvSpPr>
            <p:cNvPr id="199" name="Google Shape;199;p9"/>
            <p:cNvSpPr/>
            <p:nvPr/>
          </p:nvSpPr>
          <p:spPr>
            <a:xfrm rot="-224403">
              <a:off x="-5104816" y="1709191"/>
              <a:ext cx="2888251" cy="3715615"/>
            </a:xfrm>
            <a:prstGeom prst="roundRect">
              <a:avLst>
                <a:gd fmla="val 10302" name="adj"/>
              </a:avLst>
            </a:prstGeom>
            <a:solidFill>
              <a:srgbClr val="FF0000"/>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00" name="Google Shape;200;p9"/>
            <p:cNvSpPr/>
            <p:nvPr/>
          </p:nvSpPr>
          <p:spPr>
            <a:xfrm>
              <a:off x="-5056659" y="1709245"/>
              <a:ext cx="2888400" cy="3715500"/>
            </a:xfrm>
            <a:prstGeom prst="roundRect">
              <a:avLst>
                <a:gd fmla="val 10302" name="adj"/>
              </a:avLst>
            </a:prstGeom>
            <a:solidFill>
              <a:schemeClr val="lt1"/>
            </a:solidFill>
            <a:ln cap="flat" cmpd="sng" w="9525">
              <a:solidFill>
                <a:srgbClr val="FF000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Box Plots</a:t>
              </a:r>
              <a:endParaRPr b="1"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Arial"/>
                  <a:ea typeface="Arial"/>
                  <a:cs typeface="Arial"/>
                  <a:sym typeface="Arial"/>
                </a:rPr>
                <a:t>Statistical visualization tool used to summarize the distribution of a dataset. It provides a visual representation of the </a:t>
              </a:r>
              <a:r>
                <a:rPr b="1" i="0" lang="en-GB" sz="1300" u="none" cap="none" strike="noStrike">
                  <a:solidFill>
                    <a:schemeClr val="dk1"/>
                  </a:solidFill>
                  <a:latin typeface="Arial"/>
                  <a:ea typeface="Arial"/>
                  <a:cs typeface="Arial"/>
                  <a:sym typeface="Arial"/>
                </a:rPr>
                <a:t>central tendency</a:t>
              </a:r>
              <a:r>
                <a:rPr b="0" i="0" lang="en-GB" sz="1300" u="none" cap="none" strike="noStrike">
                  <a:solidFill>
                    <a:schemeClr val="dk1"/>
                  </a:solidFill>
                  <a:latin typeface="Arial"/>
                  <a:ea typeface="Arial"/>
                  <a:cs typeface="Arial"/>
                  <a:sym typeface="Arial"/>
                </a:rPr>
                <a:t> in a single plot.</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Objectives  </a:t>
              </a:r>
              <a:endParaRPr b="1"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rbel"/>
                  <a:ea typeface="Corbel"/>
                  <a:cs typeface="Corbel"/>
                  <a:sym typeface="Corbel"/>
                </a:rPr>
                <a:t>Identify central tendencies for each variable to detect unusual pollution episodes and typical</a:t>
              </a:r>
              <a:endParaRPr b="0" i="0" sz="1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rbel"/>
                  <a:ea typeface="Corbel"/>
                  <a:cs typeface="Corbel"/>
                  <a:sym typeface="Corbel"/>
                </a:rPr>
                <a:t>meteorological conditions in the Northwest Himalayas, helping distinguish between natural mountain air quality baselines.</a:t>
              </a:r>
              <a:endParaRPr b="0" i="0" sz="1400" u="none" cap="none" strike="noStrike">
                <a:solidFill>
                  <a:schemeClr val="dk1"/>
                </a:solidFill>
                <a:latin typeface="Corbel"/>
                <a:ea typeface="Corbel"/>
                <a:cs typeface="Corbel"/>
                <a:sym typeface="Corbe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207" name="Google Shape;207;p10"/>
          <p:cNvSpPr/>
          <p:nvPr/>
        </p:nvSpPr>
        <p:spPr>
          <a:xfrm>
            <a:off x="3435150" y="838450"/>
            <a:ext cx="5916024" cy="3669408"/>
          </a:xfrm>
          <a:prstGeom prst="cloud">
            <a:avLst/>
          </a:prstGeom>
          <a:solidFill>
            <a:schemeClr val="accent1"/>
          </a:solidFill>
          <a:ln cap="flat" cmpd="sng" w="19050">
            <a:solidFill>
              <a:schemeClr val="accent1"/>
            </a:solidFill>
            <a:prstDash val="solid"/>
            <a:round/>
            <a:headEnd len="sm" w="sm" type="none"/>
            <a:tailEnd len="sm" w="sm" type="none"/>
          </a:ln>
          <a:effectLst>
            <a:outerShdw blurRad="57150" rotWithShape="0" algn="bl" dir="5400000" dist="114300">
              <a:srgbClr val="000000">
                <a:alpha val="4941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208" name="Google Shape;208;p10"/>
          <p:cNvSpPr/>
          <p:nvPr/>
        </p:nvSpPr>
        <p:spPr>
          <a:xfrm>
            <a:off x="2855650" y="1065325"/>
            <a:ext cx="6495552" cy="3797712"/>
          </a:xfrm>
          <a:prstGeom prst="cloud">
            <a:avLst/>
          </a:prstGeom>
          <a:solidFill>
            <a:schemeClr val="lt1"/>
          </a:solidFill>
          <a:ln cap="flat" cmpd="sng" w="19050">
            <a:solidFill>
              <a:schemeClr val="accent1"/>
            </a:solidFill>
            <a:prstDash val="solid"/>
            <a:round/>
            <a:headEnd len="sm" w="sm" type="none"/>
            <a:tailEnd len="sm" w="sm" type="none"/>
          </a:ln>
          <a:effectLst>
            <a:outerShdw blurRad="57150" rotWithShape="0" algn="bl" dir="5400000" dist="209550">
              <a:srgbClr val="000000">
                <a:alpha val="49411"/>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100"/>
              <a:buFont typeface="Arial"/>
              <a:buNone/>
            </a:pPr>
            <a:r>
              <a:rPr b="1" i="0" lang="en-GB" sz="2100" u="sng" cap="none" strike="noStrike">
                <a:solidFill>
                  <a:schemeClr val="dk1"/>
                </a:solidFill>
                <a:latin typeface="Corbel"/>
                <a:ea typeface="Corbel"/>
                <a:cs typeface="Corbel"/>
                <a:sym typeface="Corbel"/>
              </a:rPr>
              <a:t>WHY IS UNDERSTANDING THE DISTRIBUTION OF AIR QUALITY PARAMETERS CRUCIAL?</a:t>
            </a:r>
            <a:endParaRPr b="1" i="0" sz="2100" u="sng" cap="none" strike="noStrike">
              <a:solidFill>
                <a:schemeClr val="dk1"/>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215" name="Google Shape;215;p11"/>
          <p:cNvGrpSpPr/>
          <p:nvPr/>
        </p:nvGrpSpPr>
        <p:grpSpPr>
          <a:xfrm>
            <a:off x="6498961" y="1522805"/>
            <a:ext cx="4055560" cy="3961556"/>
            <a:chOff x="-5222925" y="1618948"/>
            <a:chExt cx="3124469" cy="3896102"/>
          </a:xfrm>
        </p:grpSpPr>
        <p:sp>
          <p:nvSpPr>
            <p:cNvPr id="216" name="Google Shape;216;p11"/>
            <p:cNvSpPr/>
            <p:nvPr/>
          </p:nvSpPr>
          <p:spPr>
            <a:xfrm rot="-224403">
              <a:off x="-5104816" y="1709191"/>
              <a:ext cx="2888251" cy="3715615"/>
            </a:xfrm>
            <a:prstGeom prst="roundRect">
              <a:avLst>
                <a:gd fmla="val 10302" name="adj"/>
              </a:avLst>
            </a:prstGeom>
            <a:solidFill>
              <a:srgbClr val="FFFF00"/>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17" name="Google Shape;217;p11"/>
            <p:cNvSpPr/>
            <p:nvPr/>
          </p:nvSpPr>
          <p:spPr>
            <a:xfrm>
              <a:off x="-5056659" y="1709245"/>
              <a:ext cx="2888400" cy="3715500"/>
            </a:xfrm>
            <a:prstGeom prst="roundRect">
              <a:avLst>
                <a:gd fmla="val 10302" name="adj"/>
              </a:avLst>
            </a:prstGeom>
            <a:solidFill>
              <a:schemeClr val="lt1"/>
            </a:solidFill>
            <a:ln cap="flat" cmpd="sng" w="9525">
              <a:solidFill>
                <a:srgbClr val="FFFF0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Arial"/>
                  <a:ea typeface="Arial"/>
                  <a:cs typeface="Arial"/>
                  <a:sym typeface="Arial"/>
                </a:rPr>
                <a:t>Communicating distributions ( box plots, density plots) improves transparency.</a:t>
              </a:r>
              <a:br>
                <a:rPr b="1" i="0" lang="en-GB" sz="1200" u="none" cap="none" strike="noStrike">
                  <a:solidFill>
                    <a:schemeClr val="dk1"/>
                  </a:solidFill>
                  <a:latin typeface="Arial"/>
                  <a:ea typeface="Arial"/>
                  <a:cs typeface="Arial"/>
                  <a:sym typeface="Arial"/>
                </a:rPr>
              </a:b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1" i="0" lang="en-GB" sz="1200" u="none" cap="none" strike="noStrike">
                  <a:solidFill>
                    <a:schemeClr val="dk1"/>
                  </a:solidFill>
                  <a:latin typeface="Arial"/>
                  <a:ea typeface="Arial"/>
                  <a:cs typeface="Arial"/>
                  <a:sym typeface="Arial"/>
                </a:rPr>
                <a:t>Enables informed decision-making by citizens and local authorities, fostering greater community engagement and accountability in efforts to improve air quality</a:t>
              </a:r>
              <a:endParaRPr b="1" i="0" sz="1500" u="none" cap="none" strike="noStrike">
                <a:solidFill>
                  <a:schemeClr val="dk1"/>
                </a:solidFill>
                <a:latin typeface="Corbel"/>
                <a:ea typeface="Corbel"/>
                <a:cs typeface="Corbel"/>
                <a:sym typeface="Corbel"/>
              </a:endParaRPr>
            </a:p>
          </p:txBody>
        </p:sp>
      </p:grpSp>
      <p:grpSp>
        <p:nvGrpSpPr>
          <p:cNvPr id="218" name="Google Shape;218;p11"/>
          <p:cNvGrpSpPr/>
          <p:nvPr/>
        </p:nvGrpSpPr>
        <p:grpSpPr>
          <a:xfrm>
            <a:off x="2330893" y="1565655"/>
            <a:ext cx="3883402" cy="4047271"/>
            <a:chOff x="-5222925" y="1618948"/>
            <a:chExt cx="3124469" cy="3896102"/>
          </a:xfrm>
        </p:grpSpPr>
        <p:sp>
          <p:nvSpPr>
            <p:cNvPr id="219" name="Google Shape;219;p11"/>
            <p:cNvSpPr/>
            <p:nvPr/>
          </p:nvSpPr>
          <p:spPr>
            <a:xfrm rot="-224403">
              <a:off x="-5104816" y="1709191"/>
              <a:ext cx="2888251" cy="3715615"/>
            </a:xfrm>
            <a:prstGeom prst="roundRect">
              <a:avLst>
                <a:gd fmla="val 10302" name="adj"/>
              </a:avLst>
            </a:prstGeom>
            <a:solidFill>
              <a:srgbClr val="FF00FF"/>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20" name="Google Shape;220;p11"/>
            <p:cNvSpPr/>
            <p:nvPr/>
          </p:nvSpPr>
          <p:spPr>
            <a:xfrm>
              <a:off x="-5056659" y="1709245"/>
              <a:ext cx="2888400" cy="3715500"/>
            </a:xfrm>
            <a:prstGeom prst="roundRect">
              <a:avLst>
                <a:gd fmla="val 10302" name="adj"/>
              </a:avLst>
            </a:prstGeom>
            <a:solidFill>
              <a:schemeClr val="lt1"/>
            </a:solidFill>
            <a:ln cap="flat" cmpd="sng" w="9525">
              <a:solidFill>
                <a:srgbClr val="FF00FF"/>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2100"/>
                <a:buFont typeface="Arial"/>
                <a:buNone/>
              </a:pPr>
              <a:r>
                <a:t/>
              </a:r>
              <a:endParaRPr b="0" i="0" sz="2100" u="none" cap="none" strike="noStrike">
                <a:solidFill>
                  <a:schemeClr val="dk1"/>
                </a:solidFill>
                <a:latin typeface="Corbel"/>
                <a:ea typeface="Corbel"/>
                <a:cs typeface="Corbel"/>
                <a:sym typeface="Corbel"/>
              </a:endParaRPr>
            </a:p>
            <a:p>
              <a:pPr indent="0" lvl="0" marL="45720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Corbel"/>
                <a:ea typeface="Corbel"/>
                <a:cs typeface="Corbel"/>
                <a:sym typeface="Corbel"/>
              </a:endParaRPr>
            </a:p>
            <a:p>
              <a:pPr indent="0" lvl="0" marL="0" marR="0" rtl="0" algn="ctr">
                <a:lnSpc>
                  <a:spcPct val="115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1. </a:t>
              </a:r>
              <a:r>
                <a:rPr b="1" i="0" lang="en-GB" sz="1400" u="none" cap="none" strike="noStrike">
                  <a:solidFill>
                    <a:schemeClr val="dk1"/>
                  </a:solidFill>
                  <a:latin typeface="Arial"/>
                  <a:ea typeface="Arial"/>
                  <a:cs typeface="Arial"/>
                  <a:sym typeface="Arial"/>
                </a:rPr>
                <a:t>Assessment Against Health-Based Guidelines</a:t>
              </a:r>
              <a:endParaRPr b="1" i="0" sz="14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GB" sz="1200" u="none" cap="none" strike="noStrike">
                  <a:solidFill>
                    <a:schemeClr val="dk1"/>
                  </a:solidFill>
                  <a:latin typeface="Arial"/>
                  <a:ea typeface="Arial"/>
                  <a:cs typeface="Arial"/>
                  <a:sym typeface="Arial"/>
                </a:rPr>
                <a:t>The WHO Air Quality Guidelines  provide threshold limits for pollutants  PM₂.₅(</a:t>
              </a:r>
              <a:r>
                <a:rPr b="1" i="0" lang="en-GB" sz="1300" u="none" cap="none" strike="noStrike">
                  <a:solidFill>
                    <a:schemeClr val="dk1"/>
                  </a:solidFill>
                  <a:latin typeface="Arial"/>
                  <a:ea typeface="Arial"/>
                  <a:cs typeface="Arial"/>
                  <a:sym typeface="Arial"/>
                </a:rPr>
                <a:t>5 μg/m³)</a:t>
              </a:r>
              <a:r>
                <a:rPr b="1" i="0" lang="en-GB" sz="1200" u="none" cap="none" strike="noStrike">
                  <a:solidFill>
                    <a:schemeClr val="dk1"/>
                  </a:solidFill>
                  <a:latin typeface="Arial"/>
                  <a:ea typeface="Arial"/>
                  <a:cs typeface="Arial"/>
                  <a:sym typeface="Arial"/>
                </a:rPr>
                <a:t>, PM₁₀</a:t>
              </a:r>
              <a:r>
                <a:rPr b="1" i="0" lang="en-GB" sz="1300" u="none" cap="none" strike="noStrike">
                  <a:solidFill>
                    <a:schemeClr val="dk1"/>
                  </a:solidFill>
                  <a:latin typeface="Arial"/>
                  <a:ea typeface="Arial"/>
                  <a:cs typeface="Arial"/>
                  <a:sym typeface="Arial"/>
                </a:rPr>
                <a:t>(15 μg/m³)</a:t>
              </a:r>
              <a:r>
                <a:rPr b="1" i="0" lang="en-GB"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GB" sz="1200" u="none" cap="none" strike="noStrike">
                  <a:solidFill>
                    <a:schemeClr val="dk1"/>
                  </a:solidFill>
                  <a:latin typeface="Arial"/>
                  <a:ea typeface="Arial"/>
                  <a:cs typeface="Arial"/>
                  <a:sym typeface="Arial"/>
                </a:rPr>
                <a:t>Understanding the statistical distribution—such as mean, median helps us:</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Arial"/>
                  <a:ea typeface="Arial"/>
                  <a:cs typeface="Arial"/>
                  <a:sym typeface="Arial"/>
                </a:rPr>
                <a:t>Identifying the frequency and severity of exceedances (e.g., how often PM₂.₅ exceeds 5 µg/m³ annual mean guidelines).</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rgbClr val="000000"/>
                </a:buClr>
                <a:buSzPts val="1600"/>
                <a:buFont typeface="Arial"/>
                <a:buNone/>
              </a:pPr>
              <a:r>
                <a:rPr b="0" i="0" lang="en-GB" sz="1600" u="none" cap="none" strike="noStrike">
                  <a:solidFill>
                    <a:schemeClr val="dk1"/>
                  </a:solidFill>
                  <a:latin typeface="Corbel"/>
                  <a:ea typeface="Corbel"/>
                  <a:cs typeface="Corbel"/>
                  <a:sym typeface="Corbel"/>
                </a:rPr>
                <a:t>	</a:t>
              </a:r>
              <a:endParaRPr b="0" i="0" sz="1600" u="none" cap="none" strike="noStrike">
                <a:solidFill>
                  <a:schemeClr val="dk1"/>
                </a:solidFill>
                <a:latin typeface="Corbel"/>
                <a:ea typeface="Corbel"/>
                <a:cs typeface="Corbel"/>
                <a:sym typeface="Corbel"/>
              </a:endParaRPr>
            </a:p>
            <a:p>
              <a:pPr indent="0" lvl="0" marL="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Corbel"/>
                <a:ea typeface="Corbel"/>
                <a:cs typeface="Corbel"/>
                <a:sym typeface="Corbel"/>
              </a:endParaRPr>
            </a:p>
            <a:p>
              <a:pPr indent="0" lvl="0" marL="45720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Corbel"/>
                <a:ea typeface="Corbel"/>
                <a:cs typeface="Corbel"/>
                <a:sym typeface="Corbel"/>
              </a:endParaRPr>
            </a:p>
          </p:txBody>
        </p:sp>
      </p:grpSp>
      <p:sp>
        <p:nvSpPr>
          <p:cNvPr id="221" name="Google Shape;221;p11"/>
          <p:cNvSpPr txBox="1"/>
          <p:nvPr/>
        </p:nvSpPr>
        <p:spPr>
          <a:xfrm>
            <a:off x="7071725" y="1709850"/>
            <a:ext cx="3010800" cy="63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222" name="Google Shape;222;p11"/>
          <p:cNvSpPr txBox="1"/>
          <p:nvPr/>
        </p:nvSpPr>
        <p:spPr>
          <a:xfrm>
            <a:off x="7077125" y="1647600"/>
            <a:ext cx="3000000" cy="89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2. Public Communication and Risk </a:t>
            </a:r>
            <a:endParaRPr b="1" i="0" sz="1400" u="none" cap="none" strike="noStrike">
              <a:solidFill>
                <a:schemeClr val="dk1"/>
              </a:solidFill>
              <a:latin typeface="Corbel"/>
              <a:ea typeface="Corbel"/>
              <a:cs typeface="Corbel"/>
              <a:sym typeface="Corbel"/>
            </a:endParaRPr>
          </a:p>
          <a:p>
            <a:pPr indent="0" lvl="0" marL="0" marR="0" rtl="0" algn="ctr">
              <a:lnSpc>
                <a:spcPct val="115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Awareness</a:t>
            </a:r>
            <a:endParaRPr b="1" i="0" sz="1400" u="none" cap="none" strike="noStrike">
              <a:solidFill>
                <a:schemeClr val="dk1"/>
              </a:solidFill>
              <a:latin typeface="Corbel"/>
              <a:ea typeface="Corbel"/>
              <a:cs typeface="Corbel"/>
              <a:sym typeface="Corbel"/>
            </a:endParaRPr>
          </a:p>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1"/>
              </a:solidFill>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229" name="Google Shape;229;p12"/>
          <p:cNvGrpSpPr/>
          <p:nvPr/>
        </p:nvGrpSpPr>
        <p:grpSpPr>
          <a:xfrm>
            <a:off x="700346" y="1913637"/>
            <a:ext cx="3293815" cy="3518960"/>
            <a:chOff x="-5222925" y="1618948"/>
            <a:chExt cx="3124469" cy="3896102"/>
          </a:xfrm>
        </p:grpSpPr>
        <p:sp>
          <p:nvSpPr>
            <p:cNvPr id="230" name="Google Shape;230;p12"/>
            <p:cNvSpPr/>
            <p:nvPr/>
          </p:nvSpPr>
          <p:spPr>
            <a:xfrm rot="-224403">
              <a:off x="-5104816" y="1709191"/>
              <a:ext cx="2888251" cy="3715615"/>
            </a:xfrm>
            <a:prstGeom prst="roundRect">
              <a:avLst>
                <a:gd fmla="val 10302" name="adj"/>
              </a:avLst>
            </a:prstGeom>
            <a:solidFill>
              <a:srgbClr val="00FFFF"/>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31" name="Google Shape;231;p12"/>
            <p:cNvSpPr/>
            <p:nvPr/>
          </p:nvSpPr>
          <p:spPr>
            <a:xfrm>
              <a:off x="-5056659" y="1709245"/>
              <a:ext cx="2888400" cy="3715500"/>
            </a:xfrm>
            <a:prstGeom prst="roundRect">
              <a:avLst>
                <a:gd fmla="val 10302" name="adj"/>
              </a:avLst>
            </a:prstGeom>
            <a:solidFill>
              <a:schemeClr val="lt1"/>
            </a:solidFill>
            <a:ln cap="flat" cmpd="sng" w="9525">
              <a:solidFill>
                <a:srgbClr val="00FFFF"/>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32" name="Google Shape;232;p12"/>
          <p:cNvSpPr txBox="1"/>
          <p:nvPr/>
        </p:nvSpPr>
        <p:spPr>
          <a:xfrm>
            <a:off x="700250" y="1493700"/>
            <a:ext cx="3294000" cy="35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800" u="none" cap="none" strike="noStrike">
                <a:solidFill>
                  <a:schemeClr val="dk1"/>
                </a:solidFill>
                <a:latin typeface="Corbel"/>
                <a:ea typeface="Corbel"/>
                <a:cs typeface="Corbel"/>
                <a:sym typeface="Corbel"/>
              </a:rPr>
              <a:t>Example of Box plot for PM2.5</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p:txBody>
      </p:sp>
      <p:grpSp>
        <p:nvGrpSpPr>
          <p:cNvPr id="233" name="Google Shape;233;p12"/>
          <p:cNvGrpSpPr/>
          <p:nvPr/>
        </p:nvGrpSpPr>
        <p:grpSpPr>
          <a:xfrm>
            <a:off x="4636441" y="1913611"/>
            <a:ext cx="3353492" cy="3472206"/>
            <a:chOff x="-5222925" y="1618948"/>
            <a:chExt cx="3124469" cy="3896102"/>
          </a:xfrm>
        </p:grpSpPr>
        <p:sp>
          <p:nvSpPr>
            <p:cNvPr id="234" name="Google Shape;234;p12"/>
            <p:cNvSpPr/>
            <p:nvPr/>
          </p:nvSpPr>
          <p:spPr>
            <a:xfrm rot="-224403">
              <a:off x="-5104816" y="1709191"/>
              <a:ext cx="2888251" cy="3715615"/>
            </a:xfrm>
            <a:prstGeom prst="roundRect">
              <a:avLst>
                <a:gd fmla="val 10302" name="adj"/>
              </a:avLst>
            </a:prstGeom>
            <a:solidFill>
              <a:srgbClr val="A084F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35" name="Google Shape;235;p12"/>
            <p:cNvSpPr/>
            <p:nvPr/>
          </p:nvSpPr>
          <p:spPr>
            <a:xfrm>
              <a:off x="-5056659" y="1709245"/>
              <a:ext cx="2888400" cy="3715500"/>
            </a:xfrm>
            <a:prstGeom prst="roundRect">
              <a:avLst>
                <a:gd fmla="val 10302" name="adj"/>
              </a:avLst>
            </a:prstGeom>
            <a:solidFill>
              <a:schemeClr val="lt1"/>
            </a:solidFill>
            <a:ln cap="flat" cmpd="sng" w="9525">
              <a:solidFill>
                <a:srgbClr val="9900FF"/>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36" name="Google Shape;236;p12"/>
          <p:cNvSpPr txBox="1"/>
          <p:nvPr/>
        </p:nvSpPr>
        <p:spPr>
          <a:xfrm>
            <a:off x="4636413" y="1493700"/>
            <a:ext cx="3679200" cy="60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800" u="none" cap="none" strike="noStrike">
                <a:solidFill>
                  <a:schemeClr val="dk1"/>
                </a:solidFill>
                <a:latin typeface="Corbel"/>
                <a:ea typeface="Corbel"/>
                <a:cs typeface="Corbel"/>
                <a:sym typeface="Corbel"/>
              </a:rPr>
              <a:t>Example of Box plot for PM10</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237" name="Google Shape;237;p12"/>
          <p:cNvGrpSpPr/>
          <p:nvPr/>
        </p:nvGrpSpPr>
        <p:grpSpPr>
          <a:xfrm>
            <a:off x="8315761" y="1824367"/>
            <a:ext cx="3492219" cy="3472206"/>
            <a:chOff x="-5222925" y="1618948"/>
            <a:chExt cx="3124469" cy="3896102"/>
          </a:xfrm>
        </p:grpSpPr>
        <p:sp>
          <p:nvSpPr>
            <p:cNvPr id="238" name="Google Shape;238;p12"/>
            <p:cNvSpPr/>
            <p:nvPr/>
          </p:nvSpPr>
          <p:spPr>
            <a:xfrm rot="-224403">
              <a:off x="-5104816" y="1709191"/>
              <a:ext cx="2888251" cy="3715615"/>
            </a:xfrm>
            <a:prstGeom prst="roundRect">
              <a:avLst>
                <a:gd fmla="val 10302" name="adj"/>
              </a:avLst>
            </a:prstGeom>
            <a:solidFill>
              <a:schemeClr val="accent4"/>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a:off x="-5056659" y="1709245"/>
              <a:ext cx="2888400" cy="3715500"/>
            </a:xfrm>
            <a:prstGeom prst="roundRect">
              <a:avLst>
                <a:gd fmla="val 10302" name="adj"/>
              </a:avLst>
            </a:prstGeom>
            <a:solidFill>
              <a:schemeClr val="lt1"/>
            </a:solidFill>
            <a:ln cap="flat" cmpd="sng" w="9525">
              <a:solidFill>
                <a:schemeClr val="accent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200"/>
                <a:buFont typeface="Arial"/>
                <a:buNone/>
              </a:pPr>
              <a:r>
                <a:rPr b="1" i="0" lang="en-GB" sz="1200" u="none" cap="none" strike="noStrike">
                  <a:solidFill>
                    <a:schemeClr val="dk1"/>
                  </a:solidFill>
                  <a:latin typeface="Arial"/>
                  <a:ea typeface="Arial"/>
                  <a:cs typeface="Arial"/>
                  <a:sym typeface="Arial"/>
                </a:rPr>
                <a:t>1.PM₂.₅ levels significantly exceeds WHO guidelines (5 μg/m³), posing serious health risks.</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rPr b="1" i="0" lang="en-GB" sz="1200" u="none" cap="none" strike="noStrike">
                  <a:solidFill>
                    <a:schemeClr val="dk1"/>
                  </a:solidFill>
                  <a:latin typeface="Arial"/>
                  <a:ea typeface="Arial"/>
                  <a:cs typeface="Arial"/>
                  <a:sym typeface="Arial"/>
                </a:rPr>
                <a:t>2.PM₁₀ concentrations</a:t>
              </a:r>
              <a:r>
                <a:rPr b="0" i="0" lang="en-GB" sz="1200" u="none" cap="none" strike="noStrike">
                  <a:solidFill>
                    <a:schemeClr val="dk1"/>
                  </a:solidFill>
                  <a:latin typeface="Arial"/>
                  <a:ea typeface="Arial"/>
                  <a:cs typeface="Arial"/>
                  <a:sym typeface="Arial"/>
                </a:rPr>
                <a:t> </a:t>
              </a:r>
              <a:r>
                <a:rPr b="1" i="0" lang="en-GB" sz="1200" u="none" cap="none" strike="noStrike">
                  <a:solidFill>
                    <a:schemeClr val="dk1"/>
                  </a:solidFill>
                  <a:latin typeface="Arial"/>
                  <a:ea typeface="Arial"/>
                  <a:cs typeface="Arial"/>
                  <a:sym typeface="Arial"/>
                </a:rPr>
                <a:t>surpass WHO limits (15 μg/m³) but remain within NAAQ standards.</a:t>
              </a:r>
              <a:br>
                <a:rPr b="1" i="0" lang="en-GB" sz="1200" u="none" cap="none" strike="noStrike">
                  <a:solidFill>
                    <a:schemeClr val="dk1"/>
                  </a:solidFill>
                  <a:latin typeface="Arial"/>
                  <a:ea typeface="Arial"/>
                  <a:cs typeface="Arial"/>
                  <a:sym typeface="Arial"/>
                </a:rPr>
              </a:b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rPr b="1" i="0" lang="en-GB" sz="1200" u="none" cap="none" strike="noStrike">
                  <a:solidFill>
                    <a:schemeClr val="dk1"/>
                  </a:solidFill>
                  <a:latin typeface="Arial"/>
                  <a:ea typeface="Arial"/>
                  <a:cs typeface="Arial"/>
                  <a:sym typeface="Arial"/>
                </a:rPr>
                <a:t>3. Pollutant levels declined during the COVID-19 period, particularly in 2019 and 2020, as seen in the figures.</a:t>
              </a:r>
              <a:endParaRPr b="1" i="0" sz="1200" u="none" cap="none" strike="noStrike">
                <a:solidFill>
                  <a:schemeClr val="dk1"/>
                </a:solidFill>
                <a:latin typeface="Arial"/>
                <a:ea typeface="Arial"/>
                <a:cs typeface="Arial"/>
                <a:sym typeface="Arial"/>
              </a:endParaRPr>
            </a:p>
          </p:txBody>
        </p:sp>
      </p:grpSp>
      <p:sp>
        <p:nvSpPr>
          <p:cNvPr id="240" name="Google Shape;240;p12"/>
          <p:cNvSpPr txBox="1"/>
          <p:nvPr/>
        </p:nvSpPr>
        <p:spPr>
          <a:xfrm>
            <a:off x="8502850" y="1493700"/>
            <a:ext cx="2882700" cy="30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orbel"/>
                <a:ea typeface="Corbel"/>
                <a:cs typeface="Corbel"/>
                <a:sym typeface="Corbel"/>
              </a:rPr>
              <a:t>Key Insights</a:t>
            </a:r>
            <a:endParaRPr b="1" i="0" sz="1800" u="none" cap="none" strike="noStrike">
              <a:solidFill>
                <a:schemeClr val="dk1"/>
              </a:solidFill>
              <a:latin typeface="Corbel"/>
              <a:ea typeface="Corbel"/>
              <a:cs typeface="Corbel"/>
              <a:sym typeface="Corbel"/>
            </a:endParaRPr>
          </a:p>
        </p:txBody>
      </p:sp>
      <p:pic>
        <p:nvPicPr>
          <p:cNvPr id="241" name="Google Shape;241;p12"/>
          <p:cNvPicPr preferRelativeResize="0"/>
          <p:nvPr/>
        </p:nvPicPr>
        <p:blipFill rotWithShape="1">
          <a:blip r:embed="rId3">
            <a:alphaModFix/>
          </a:blip>
          <a:srcRect b="0" l="0" r="0" t="0"/>
          <a:stretch/>
        </p:blipFill>
        <p:spPr>
          <a:xfrm>
            <a:off x="866925" y="2315275"/>
            <a:ext cx="2960650" cy="2490425"/>
          </a:xfrm>
          <a:prstGeom prst="rect">
            <a:avLst/>
          </a:prstGeom>
          <a:noFill/>
          <a:ln>
            <a:noFill/>
          </a:ln>
        </p:spPr>
      </p:pic>
      <p:pic>
        <p:nvPicPr>
          <p:cNvPr id="242" name="Google Shape;242;p12"/>
          <p:cNvPicPr preferRelativeResize="0"/>
          <p:nvPr/>
        </p:nvPicPr>
        <p:blipFill rotWithShape="1">
          <a:blip r:embed="rId4">
            <a:alphaModFix/>
          </a:blip>
          <a:srcRect b="0" l="0" r="0" t="0"/>
          <a:stretch/>
        </p:blipFill>
        <p:spPr>
          <a:xfrm>
            <a:off x="4860075" y="2267425"/>
            <a:ext cx="3001525" cy="2601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3"/>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pic>
        <p:nvPicPr>
          <p:cNvPr id="249" name="Google Shape;249;p13">
            <a:hlinkClick r:id="rId3"/>
          </p:cNvPr>
          <p:cNvPicPr preferRelativeResize="0"/>
          <p:nvPr/>
        </p:nvPicPr>
        <p:blipFill rotWithShape="1">
          <a:blip r:embed="rId4">
            <a:alphaModFix/>
          </a:blip>
          <a:srcRect b="0" l="0" r="0" t="0"/>
          <a:stretch/>
        </p:blipFill>
        <p:spPr>
          <a:xfrm>
            <a:off x="6303300" y="457200"/>
            <a:ext cx="5042676" cy="5606676"/>
          </a:xfrm>
          <a:prstGeom prst="rect">
            <a:avLst/>
          </a:prstGeom>
          <a:noFill/>
          <a:ln>
            <a:noFill/>
          </a:ln>
        </p:spPr>
      </p:pic>
      <p:sp>
        <p:nvSpPr>
          <p:cNvPr id="250" name="Google Shape;250;p13"/>
          <p:cNvSpPr/>
          <p:nvPr/>
        </p:nvSpPr>
        <p:spPr>
          <a:xfrm>
            <a:off x="885600" y="2346300"/>
            <a:ext cx="4381200" cy="793800"/>
          </a:xfrm>
          <a:prstGeom prst="chevron">
            <a:avLst>
              <a:gd fmla="val 50000" name="adj"/>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251" name="Google Shape;251;p13"/>
          <p:cNvSpPr/>
          <p:nvPr/>
        </p:nvSpPr>
        <p:spPr>
          <a:xfrm>
            <a:off x="885611" y="2205625"/>
            <a:ext cx="4381200" cy="793800"/>
          </a:xfrm>
          <a:prstGeom prst="chevron">
            <a:avLst>
              <a:gd fmla="val 50000" name="adj"/>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800" u="none" cap="none" strike="noStrike">
                <a:solidFill>
                  <a:schemeClr val="dk1"/>
                </a:solidFill>
                <a:latin typeface="Corbel"/>
                <a:ea typeface="Corbel"/>
                <a:cs typeface="Corbel"/>
                <a:sym typeface="Corbel"/>
              </a:rPr>
              <a:t>🧪 Code Snippet: Monthly PM2.5 Boxplot (2010–2024)</a:t>
            </a:r>
            <a:endParaRPr b="1" i="0" sz="1800" u="none" cap="none" strike="noStrike">
              <a:solidFill>
                <a:schemeClr val="dk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4"/>
          <p:cNvSpPr txBox="1"/>
          <p:nvPr>
            <p:ph type="title"/>
          </p:nvPr>
        </p:nvSpPr>
        <p:spPr>
          <a:xfrm>
            <a:off x="763200" y="45720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BIVARIATE ANALYSIS</a:t>
            </a:r>
            <a:endParaRPr/>
          </a:p>
        </p:txBody>
      </p:sp>
      <p:sp>
        <p:nvSpPr>
          <p:cNvPr id="258" name="Google Shape;258;p14"/>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259" name="Google Shape;259;p14"/>
          <p:cNvGrpSpPr/>
          <p:nvPr/>
        </p:nvGrpSpPr>
        <p:grpSpPr>
          <a:xfrm>
            <a:off x="1964901" y="1833054"/>
            <a:ext cx="8262198" cy="3997617"/>
            <a:chOff x="700309" y="1833054"/>
            <a:chExt cx="8262198" cy="3997617"/>
          </a:xfrm>
        </p:grpSpPr>
        <p:grpSp>
          <p:nvGrpSpPr>
            <p:cNvPr id="260" name="Google Shape;260;p14"/>
            <p:cNvGrpSpPr/>
            <p:nvPr/>
          </p:nvGrpSpPr>
          <p:grpSpPr>
            <a:xfrm>
              <a:off x="700309" y="1922515"/>
              <a:ext cx="3778335" cy="3908156"/>
              <a:chOff x="700346" y="1913637"/>
              <a:chExt cx="3293815" cy="3518960"/>
            </a:xfrm>
          </p:grpSpPr>
          <p:grpSp>
            <p:nvGrpSpPr>
              <p:cNvPr id="261" name="Google Shape;261;p14"/>
              <p:cNvGrpSpPr/>
              <p:nvPr/>
            </p:nvGrpSpPr>
            <p:grpSpPr>
              <a:xfrm>
                <a:off x="700346" y="1913637"/>
                <a:ext cx="3293815" cy="3518960"/>
                <a:chOff x="-5222925" y="1618948"/>
                <a:chExt cx="3124469" cy="3896102"/>
              </a:xfrm>
            </p:grpSpPr>
            <p:sp>
              <p:nvSpPr>
                <p:cNvPr id="262" name="Google Shape;262;p14"/>
                <p:cNvSpPr/>
                <p:nvPr/>
              </p:nvSpPr>
              <p:spPr>
                <a:xfrm rot="-224403">
                  <a:off x="-5104816" y="1709191"/>
                  <a:ext cx="2888251" cy="3715615"/>
                </a:xfrm>
                <a:prstGeom prst="roundRect">
                  <a:avLst>
                    <a:gd fmla="val 10302" name="adj"/>
                  </a:avLst>
                </a:prstGeom>
                <a:solidFill>
                  <a:srgbClr val="FD84C9"/>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63" name="Google Shape;263;p14"/>
                <p:cNvSpPr/>
                <p:nvPr/>
              </p:nvSpPr>
              <p:spPr>
                <a:xfrm>
                  <a:off x="-5056659" y="1709245"/>
                  <a:ext cx="2888400" cy="3715500"/>
                </a:xfrm>
                <a:prstGeom prst="roundRect">
                  <a:avLst>
                    <a:gd fmla="val 10302" name="adj"/>
                  </a:avLst>
                </a:prstGeom>
                <a:solidFill>
                  <a:schemeClr val="lt1"/>
                </a:solidFill>
                <a:ln cap="flat" cmpd="sng" w="9525">
                  <a:solidFill>
                    <a:srgbClr val="FD84C9"/>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64" name="Google Shape;264;p14"/>
              <p:cNvSpPr txBox="1"/>
              <p:nvPr/>
            </p:nvSpPr>
            <p:spPr>
              <a:xfrm>
                <a:off x="1124500" y="2101050"/>
                <a:ext cx="2584500" cy="32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sng" cap="none" strike="noStrike">
                    <a:solidFill>
                      <a:schemeClr val="dk1"/>
                    </a:solidFill>
                    <a:latin typeface="Corbel"/>
                    <a:ea typeface="Corbel"/>
                    <a:cs typeface="Corbel"/>
                    <a:sym typeface="Corbel"/>
                  </a:rPr>
                  <a:t>Why Bivariate Analysis is Essential?</a:t>
                </a:r>
                <a:endParaRPr b="1" i="0" sz="1800" u="sng" cap="none" strike="noStrike">
                  <a:solidFill>
                    <a:schemeClr val="dk1"/>
                  </a:solidFill>
                  <a:latin typeface="Corbel"/>
                  <a:ea typeface="Corbel"/>
                  <a:cs typeface="Corbel"/>
                  <a:sym typeface="Corbel"/>
                </a:endParaRPr>
              </a:p>
            </p:txBody>
          </p:sp>
          <p:sp>
            <p:nvSpPr>
              <p:cNvPr id="265" name="Google Shape;265;p14"/>
              <p:cNvSpPr txBox="1"/>
              <p:nvPr/>
            </p:nvSpPr>
            <p:spPr>
              <a:xfrm>
                <a:off x="1124500" y="3012975"/>
                <a:ext cx="2584500" cy="32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800"/>
                  <a:buFont typeface="Arial"/>
                  <a:buNone/>
                </a:pPr>
                <a:r>
                  <a:rPr b="0" i="0" lang="en-GB" sz="1500" u="none" cap="none" strike="noStrike">
                    <a:solidFill>
                      <a:schemeClr val="dk1"/>
                    </a:solidFill>
                    <a:latin typeface="Arial"/>
                    <a:ea typeface="Arial"/>
                    <a:cs typeface="Arial"/>
                    <a:sym typeface="Arial"/>
                  </a:rPr>
                  <a:t>✓ Individual patterns for each variable </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800"/>
                  <a:buFont typeface="Arial"/>
                  <a:buNone/>
                </a:pPr>
                <a:r>
                  <a:rPr b="0" i="0" lang="en-GB" sz="1500" u="none" cap="none" strike="noStrike">
                    <a:solidFill>
                      <a:schemeClr val="dk1"/>
                    </a:solidFill>
                    <a:latin typeface="Arial"/>
                    <a:ea typeface="Arial"/>
                    <a:cs typeface="Arial"/>
                    <a:sym typeface="Arial"/>
                  </a:rPr>
                  <a:t>✓ Seasonal trends for PM2.5, PM10</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500" u="none" cap="none" strike="noStrike">
                    <a:solidFill>
                      <a:schemeClr val="dk1"/>
                    </a:solidFill>
                    <a:latin typeface="Arial"/>
                    <a:ea typeface="Arial"/>
                    <a:cs typeface="Arial"/>
                    <a:sym typeface="Arial"/>
                  </a:rPr>
                  <a:t>✓ Distribution characteristics and outliers</a:t>
                </a:r>
                <a:endParaRPr b="1" i="0" sz="1800" u="sng" cap="none" strike="noStrike">
                  <a:solidFill>
                    <a:schemeClr val="dk1"/>
                  </a:solidFill>
                  <a:latin typeface="Corbel"/>
                  <a:ea typeface="Corbel"/>
                  <a:cs typeface="Corbel"/>
                  <a:sym typeface="Corbel"/>
                </a:endParaRPr>
              </a:p>
            </p:txBody>
          </p:sp>
        </p:grpSp>
        <p:grpSp>
          <p:nvGrpSpPr>
            <p:cNvPr id="266" name="Google Shape;266;p14"/>
            <p:cNvGrpSpPr/>
            <p:nvPr/>
          </p:nvGrpSpPr>
          <p:grpSpPr>
            <a:xfrm>
              <a:off x="5184172" y="1833054"/>
              <a:ext cx="3778335" cy="3908156"/>
              <a:chOff x="700346" y="1913637"/>
              <a:chExt cx="3293815" cy="3518960"/>
            </a:xfrm>
          </p:grpSpPr>
          <p:grpSp>
            <p:nvGrpSpPr>
              <p:cNvPr id="267" name="Google Shape;267;p14"/>
              <p:cNvGrpSpPr/>
              <p:nvPr/>
            </p:nvGrpSpPr>
            <p:grpSpPr>
              <a:xfrm>
                <a:off x="700346" y="1913637"/>
                <a:ext cx="3293815" cy="3518960"/>
                <a:chOff x="-5222925" y="1618948"/>
                <a:chExt cx="3124469" cy="3896102"/>
              </a:xfrm>
            </p:grpSpPr>
            <p:sp>
              <p:nvSpPr>
                <p:cNvPr id="268" name="Google Shape;268;p14"/>
                <p:cNvSpPr/>
                <p:nvPr/>
              </p:nvSpPr>
              <p:spPr>
                <a:xfrm rot="-224403">
                  <a:off x="-5104816" y="1709191"/>
                  <a:ext cx="2888251" cy="3715615"/>
                </a:xfrm>
                <a:prstGeom prst="roundRect">
                  <a:avLst>
                    <a:gd fmla="val 10302" name="adj"/>
                  </a:avLst>
                </a:prstGeom>
                <a:solidFill>
                  <a:srgbClr val="84FDD2"/>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69" name="Google Shape;269;p14"/>
                <p:cNvSpPr/>
                <p:nvPr/>
              </p:nvSpPr>
              <p:spPr>
                <a:xfrm>
                  <a:off x="-5056659" y="1709245"/>
                  <a:ext cx="2888400" cy="3715500"/>
                </a:xfrm>
                <a:prstGeom prst="roundRect">
                  <a:avLst>
                    <a:gd fmla="val 10302" name="adj"/>
                  </a:avLst>
                </a:prstGeom>
                <a:solidFill>
                  <a:schemeClr val="lt1"/>
                </a:solidFill>
                <a:ln cap="flat" cmpd="sng" w="9525">
                  <a:solidFill>
                    <a:srgbClr val="84FDD2"/>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70" name="Google Shape;270;p14"/>
              <p:cNvSpPr txBox="1"/>
              <p:nvPr/>
            </p:nvSpPr>
            <p:spPr>
              <a:xfrm>
                <a:off x="1124500" y="2101050"/>
                <a:ext cx="2584500" cy="32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sng" cap="none" strike="noStrike">
                    <a:solidFill>
                      <a:schemeClr val="dk1"/>
                    </a:solidFill>
                    <a:latin typeface="Corbel"/>
                    <a:ea typeface="Corbel"/>
                    <a:cs typeface="Corbel"/>
                    <a:sym typeface="Corbel"/>
                  </a:rPr>
                  <a:t>What we still don’t know</a:t>
                </a:r>
                <a:endParaRPr b="1" i="0" sz="1800" u="sng" cap="none" strike="noStrike">
                  <a:solidFill>
                    <a:schemeClr val="dk1"/>
                  </a:solidFill>
                  <a:latin typeface="Corbel"/>
                  <a:ea typeface="Corbel"/>
                  <a:cs typeface="Corbel"/>
                  <a:sym typeface="Corbel"/>
                </a:endParaRPr>
              </a:p>
            </p:txBody>
          </p:sp>
          <p:sp>
            <p:nvSpPr>
              <p:cNvPr id="271" name="Google Shape;271;p14"/>
              <p:cNvSpPr txBox="1"/>
              <p:nvPr/>
            </p:nvSpPr>
            <p:spPr>
              <a:xfrm>
                <a:off x="1124500" y="3012975"/>
                <a:ext cx="2584500" cy="32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GB" sz="1500" u="none" cap="none" strike="noStrike">
                    <a:solidFill>
                      <a:schemeClr val="dk1"/>
                    </a:solidFill>
                    <a:latin typeface="Arial"/>
                    <a:ea typeface="Arial"/>
                    <a:cs typeface="Arial"/>
                    <a:sym typeface="Arial"/>
                  </a:rPr>
                  <a:t>❓ Are these patterns connected? </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500" u="none" cap="none" strike="noStrike">
                    <a:solidFill>
                      <a:schemeClr val="dk1"/>
                    </a:solidFill>
                    <a:latin typeface="Arial"/>
                    <a:ea typeface="Arial"/>
                    <a:cs typeface="Arial"/>
                    <a:sym typeface="Arial"/>
                  </a:rPr>
                  <a:t>❓ What's causing the seasonal differences? </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chemeClr val="dk1"/>
                  </a:buClr>
                  <a:buSzPts val="1100"/>
                  <a:buFont typeface="Arial"/>
                  <a:buNone/>
                </a:pPr>
                <a:r>
                  <a:rPr b="0" i="0" lang="en-GB" sz="1500" u="none" cap="none" strike="noStrike">
                    <a:solidFill>
                      <a:schemeClr val="dk1"/>
                    </a:solidFill>
                    <a:latin typeface="Arial"/>
                    <a:ea typeface="Arial"/>
                    <a:cs typeface="Arial"/>
                    <a:sym typeface="Arial"/>
                  </a:rPr>
                  <a:t>❓ How do weather conditions affect pollution levels?</a:t>
                </a:r>
                <a:endParaRPr b="0" i="0" sz="1500" u="none" cap="none" strike="noStrike">
                  <a:solidFill>
                    <a:schemeClr val="dk1"/>
                  </a:solidFill>
                  <a:latin typeface="Arial"/>
                  <a:ea typeface="Arial"/>
                  <a:cs typeface="Arial"/>
                  <a:sym typeface="Aria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5"/>
          <p:cNvSpPr txBox="1"/>
          <p:nvPr>
            <p:ph type="title"/>
          </p:nvPr>
        </p:nvSpPr>
        <p:spPr>
          <a:xfrm>
            <a:off x="548275" y="384725"/>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rbel"/>
              <a:buNone/>
            </a:pPr>
            <a:r>
              <a:rPr lang="en-GB" sz="2300"/>
              <a:t>BAR PLOTS FOR PM2.5,PM10 VS PRECIPITATION </a:t>
            </a:r>
            <a:endParaRPr sz="2300"/>
          </a:p>
        </p:txBody>
      </p:sp>
      <p:sp>
        <p:nvSpPr>
          <p:cNvPr id="277" name="Google Shape;277;p15"/>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278" name="Google Shape;278;p15"/>
          <p:cNvGrpSpPr/>
          <p:nvPr/>
        </p:nvGrpSpPr>
        <p:grpSpPr>
          <a:xfrm>
            <a:off x="849949" y="1867651"/>
            <a:ext cx="10136891" cy="4426561"/>
            <a:chOff x="700309" y="1833054"/>
            <a:chExt cx="8262198" cy="3997617"/>
          </a:xfrm>
        </p:grpSpPr>
        <p:grpSp>
          <p:nvGrpSpPr>
            <p:cNvPr id="279" name="Google Shape;279;p15"/>
            <p:cNvGrpSpPr/>
            <p:nvPr/>
          </p:nvGrpSpPr>
          <p:grpSpPr>
            <a:xfrm>
              <a:off x="700309" y="1922515"/>
              <a:ext cx="3778335" cy="3908156"/>
              <a:chOff x="-5222925" y="1618948"/>
              <a:chExt cx="3124469" cy="3896102"/>
            </a:xfrm>
          </p:grpSpPr>
          <p:sp>
            <p:nvSpPr>
              <p:cNvPr id="280" name="Google Shape;280;p15"/>
              <p:cNvSpPr/>
              <p:nvPr/>
            </p:nvSpPr>
            <p:spPr>
              <a:xfrm rot="-224403">
                <a:off x="-5104816" y="1709191"/>
                <a:ext cx="2888251" cy="3715615"/>
              </a:xfrm>
              <a:prstGeom prst="roundRect">
                <a:avLst>
                  <a:gd fmla="val 10302" name="adj"/>
                </a:avLst>
              </a:prstGeom>
              <a:solidFill>
                <a:srgbClr val="84DCF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81" name="Google Shape;281;p15"/>
              <p:cNvSpPr/>
              <p:nvPr/>
            </p:nvSpPr>
            <p:spPr>
              <a:xfrm>
                <a:off x="-5056659" y="1709245"/>
                <a:ext cx="2888400" cy="3715500"/>
              </a:xfrm>
              <a:prstGeom prst="roundRect">
                <a:avLst>
                  <a:gd fmla="val 10302" name="adj"/>
                </a:avLst>
              </a:prstGeom>
              <a:solidFill>
                <a:schemeClr val="lt1"/>
              </a:solidFill>
              <a:ln cap="flat" cmpd="sng" w="9525">
                <a:solidFill>
                  <a:srgbClr val="84DC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282" name="Google Shape;282;p15"/>
            <p:cNvGrpSpPr/>
            <p:nvPr/>
          </p:nvGrpSpPr>
          <p:grpSpPr>
            <a:xfrm>
              <a:off x="5184172" y="1833054"/>
              <a:ext cx="3778335" cy="3908156"/>
              <a:chOff x="-5222925" y="1618948"/>
              <a:chExt cx="3124469" cy="3896102"/>
            </a:xfrm>
          </p:grpSpPr>
          <p:sp>
            <p:nvSpPr>
              <p:cNvPr id="283" name="Google Shape;283;p15"/>
              <p:cNvSpPr/>
              <p:nvPr/>
            </p:nvSpPr>
            <p:spPr>
              <a:xfrm rot="-224403">
                <a:off x="-5104816" y="1709191"/>
                <a:ext cx="2888251" cy="3715615"/>
              </a:xfrm>
              <a:prstGeom prst="roundRect">
                <a:avLst>
                  <a:gd fmla="val 10302" name="adj"/>
                </a:avLst>
              </a:prstGeom>
              <a:solidFill>
                <a:srgbClr val="84FD8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84" name="Google Shape;284;p15"/>
              <p:cNvSpPr/>
              <p:nvPr/>
            </p:nvSpPr>
            <p:spPr>
              <a:xfrm>
                <a:off x="-5056659" y="1709245"/>
                <a:ext cx="2888400" cy="3715500"/>
              </a:xfrm>
              <a:prstGeom prst="roundRect">
                <a:avLst>
                  <a:gd fmla="val 10302" name="adj"/>
                </a:avLst>
              </a:prstGeom>
              <a:solidFill>
                <a:schemeClr val="lt1"/>
              </a:solidFill>
              <a:ln cap="flat" cmpd="sng" w="9525">
                <a:solidFill>
                  <a:srgbClr val="84FD8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pic>
        <p:nvPicPr>
          <p:cNvPr id="285" name="Google Shape;285;p15"/>
          <p:cNvPicPr preferRelativeResize="0"/>
          <p:nvPr/>
        </p:nvPicPr>
        <p:blipFill rotWithShape="1">
          <a:blip r:embed="rId3">
            <a:alphaModFix/>
          </a:blip>
          <a:srcRect b="0" l="0" r="50000" t="0"/>
          <a:stretch/>
        </p:blipFill>
        <p:spPr>
          <a:xfrm>
            <a:off x="1143000" y="2286000"/>
            <a:ext cx="4134352" cy="3619500"/>
          </a:xfrm>
          <a:prstGeom prst="rect">
            <a:avLst/>
          </a:prstGeom>
          <a:noFill/>
          <a:ln>
            <a:noFill/>
          </a:ln>
        </p:spPr>
      </p:pic>
      <p:pic>
        <p:nvPicPr>
          <p:cNvPr id="286" name="Google Shape;286;p15"/>
          <p:cNvPicPr preferRelativeResize="0"/>
          <p:nvPr/>
        </p:nvPicPr>
        <p:blipFill rotWithShape="1">
          <a:blip r:embed="rId3">
            <a:alphaModFix/>
          </a:blip>
          <a:srcRect b="0" l="49967" r="0" t="0"/>
          <a:stretch/>
        </p:blipFill>
        <p:spPr>
          <a:xfrm>
            <a:off x="6673050" y="2095500"/>
            <a:ext cx="4134352" cy="3565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6"/>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293" name="Google Shape;293;p16"/>
          <p:cNvGrpSpPr/>
          <p:nvPr/>
        </p:nvGrpSpPr>
        <p:grpSpPr>
          <a:xfrm>
            <a:off x="1431088" y="914396"/>
            <a:ext cx="8795936" cy="4916269"/>
            <a:chOff x="700329" y="1833053"/>
            <a:chExt cx="8262198" cy="3997617"/>
          </a:xfrm>
        </p:grpSpPr>
        <p:grpSp>
          <p:nvGrpSpPr>
            <p:cNvPr id="294" name="Google Shape;294;p16"/>
            <p:cNvGrpSpPr/>
            <p:nvPr/>
          </p:nvGrpSpPr>
          <p:grpSpPr>
            <a:xfrm>
              <a:off x="700329" y="1922514"/>
              <a:ext cx="3778335" cy="3908156"/>
              <a:chOff x="700363" y="1913636"/>
              <a:chExt cx="3293815" cy="3518960"/>
            </a:xfrm>
          </p:grpSpPr>
          <p:grpSp>
            <p:nvGrpSpPr>
              <p:cNvPr id="295" name="Google Shape;295;p16"/>
              <p:cNvGrpSpPr/>
              <p:nvPr/>
            </p:nvGrpSpPr>
            <p:grpSpPr>
              <a:xfrm>
                <a:off x="700363" y="1913636"/>
                <a:ext cx="3293815" cy="3518960"/>
                <a:chOff x="-5222909" y="1618947"/>
                <a:chExt cx="3124469" cy="3896102"/>
              </a:xfrm>
            </p:grpSpPr>
            <p:sp>
              <p:nvSpPr>
                <p:cNvPr id="296" name="Google Shape;296;p16"/>
                <p:cNvSpPr/>
                <p:nvPr/>
              </p:nvSpPr>
              <p:spPr>
                <a:xfrm rot="-224403">
                  <a:off x="-5104800" y="1709190"/>
                  <a:ext cx="2888251" cy="3715615"/>
                </a:xfrm>
                <a:prstGeom prst="roundRect">
                  <a:avLst>
                    <a:gd fmla="val 10302" name="adj"/>
                  </a:avLst>
                </a:prstGeom>
                <a:solidFill>
                  <a:srgbClr val="FD84C9"/>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297" name="Google Shape;297;p16"/>
                <p:cNvSpPr/>
                <p:nvPr/>
              </p:nvSpPr>
              <p:spPr>
                <a:xfrm>
                  <a:off x="-5056659" y="1709245"/>
                  <a:ext cx="2888400" cy="3715500"/>
                </a:xfrm>
                <a:prstGeom prst="roundRect">
                  <a:avLst>
                    <a:gd fmla="val 10302" name="adj"/>
                  </a:avLst>
                </a:prstGeom>
                <a:solidFill>
                  <a:schemeClr val="lt1"/>
                </a:solidFill>
                <a:ln cap="flat" cmpd="sng" w="9525">
                  <a:solidFill>
                    <a:srgbClr val="FD84C9"/>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98" name="Google Shape;298;p16"/>
              <p:cNvSpPr txBox="1"/>
              <p:nvPr/>
            </p:nvSpPr>
            <p:spPr>
              <a:xfrm>
                <a:off x="931667" y="2101044"/>
                <a:ext cx="2988900" cy="6084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1000"/>
                  </a:spcBef>
                  <a:spcAft>
                    <a:spcPts val="0"/>
                  </a:spcAft>
                  <a:buClr>
                    <a:schemeClr val="dk1"/>
                  </a:buClr>
                  <a:buSzPts val="1100"/>
                  <a:buFont typeface="Arial"/>
                  <a:buNone/>
                </a:pPr>
                <a:r>
                  <a:rPr b="1" i="0" lang="en-GB" sz="1400" u="none" cap="none" strike="noStrike">
                    <a:solidFill>
                      <a:schemeClr val="dk1"/>
                    </a:solidFill>
                    <a:latin typeface="Corbel"/>
                    <a:ea typeface="Corbel"/>
                    <a:cs typeface="Corbel"/>
                    <a:sym typeface="Corbel"/>
                  </a:rPr>
                  <a:t>The relationship between PM₂.₅ concentrations and precipitation reveals:</a:t>
                </a:r>
                <a:endParaRPr b="1" i="0" sz="1400" u="none" cap="none" strike="noStrike">
                  <a:solidFill>
                    <a:schemeClr val="dk1"/>
                  </a:solidFill>
                  <a:latin typeface="Corbel"/>
                  <a:ea typeface="Corbel"/>
                  <a:cs typeface="Corbel"/>
                  <a:sym typeface="Corbel"/>
                </a:endParaRPr>
              </a:p>
              <a:p>
                <a:pPr indent="0" lvl="0" marL="0" marR="0" rtl="0" algn="l">
                  <a:lnSpc>
                    <a:spcPct val="90000"/>
                  </a:lnSpc>
                  <a:spcBef>
                    <a:spcPts val="1000"/>
                  </a:spcBef>
                  <a:spcAft>
                    <a:spcPts val="0"/>
                  </a:spcAft>
                  <a:buClr>
                    <a:schemeClr val="dk1"/>
                  </a:buClr>
                  <a:buSzPts val="1100"/>
                  <a:buFont typeface="Arial"/>
                  <a:buNone/>
                </a:pPr>
                <a:r>
                  <a:t/>
                </a:r>
                <a:endParaRPr b="1" i="0" sz="1800" u="none" cap="none" strike="noStrike">
                  <a:solidFill>
                    <a:schemeClr val="dk1"/>
                  </a:solidFill>
                  <a:latin typeface="Corbel"/>
                  <a:ea typeface="Corbel"/>
                  <a:cs typeface="Corbel"/>
                  <a:sym typeface="Corbel"/>
                </a:endParaRPr>
              </a:p>
            </p:txBody>
          </p:sp>
        </p:grpSp>
        <p:grpSp>
          <p:nvGrpSpPr>
            <p:cNvPr id="299" name="Google Shape;299;p16"/>
            <p:cNvGrpSpPr/>
            <p:nvPr/>
          </p:nvGrpSpPr>
          <p:grpSpPr>
            <a:xfrm>
              <a:off x="5184192" y="1833053"/>
              <a:ext cx="3778335" cy="3908156"/>
              <a:chOff x="-5222909" y="1618947"/>
              <a:chExt cx="3124469" cy="3896102"/>
            </a:xfrm>
          </p:grpSpPr>
          <p:sp>
            <p:nvSpPr>
              <p:cNvPr id="300" name="Google Shape;300;p16"/>
              <p:cNvSpPr/>
              <p:nvPr/>
            </p:nvSpPr>
            <p:spPr>
              <a:xfrm rot="-224403">
                <a:off x="-5104800" y="1709190"/>
                <a:ext cx="2888251" cy="3715615"/>
              </a:xfrm>
              <a:prstGeom prst="roundRect">
                <a:avLst>
                  <a:gd fmla="val 10302" name="adj"/>
                </a:avLst>
              </a:prstGeom>
              <a:solidFill>
                <a:srgbClr val="84FDD2"/>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01" name="Google Shape;301;p16"/>
              <p:cNvSpPr/>
              <p:nvPr/>
            </p:nvSpPr>
            <p:spPr>
              <a:xfrm>
                <a:off x="-5056659" y="1709245"/>
                <a:ext cx="2888400" cy="3715500"/>
              </a:xfrm>
              <a:prstGeom prst="roundRect">
                <a:avLst>
                  <a:gd fmla="val 10302" name="adj"/>
                </a:avLst>
              </a:prstGeom>
              <a:solidFill>
                <a:schemeClr val="lt1"/>
              </a:solidFill>
              <a:ln cap="flat" cmpd="sng" w="9525">
                <a:solidFill>
                  <a:srgbClr val="84FDD2"/>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302" name="Google Shape;302;p16"/>
          <p:cNvSpPr txBox="1"/>
          <p:nvPr/>
        </p:nvSpPr>
        <p:spPr>
          <a:xfrm>
            <a:off x="1737725" y="1993350"/>
            <a:ext cx="3605700" cy="34614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90000"/>
              </a:lnSpc>
              <a:spcBef>
                <a:spcPts val="1000"/>
              </a:spcBef>
              <a:spcAft>
                <a:spcPts val="0"/>
              </a:spcAft>
              <a:buClr>
                <a:schemeClr val="dk1"/>
              </a:buClr>
              <a:buSzPts val="1700"/>
              <a:buFont typeface="Arial"/>
              <a:buChar char="•"/>
            </a:pPr>
            <a:r>
              <a:rPr b="0" i="0" lang="en-GB" sz="1700" u="none" cap="none" strike="noStrike">
                <a:solidFill>
                  <a:schemeClr val="dk1"/>
                </a:solidFill>
                <a:latin typeface="Corbel"/>
                <a:ea typeface="Corbel"/>
                <a:cs typeface="Corbel"/>
                <a:sym typeface="Corbel"/>
              </a:rPr>
              <a:t>Despite increased rainfall during the monsoon (June–September), PM₂.₅ levels remains elevated.</a:t>
            </a:r>
            <a:endParaRPr b="0" i="0" sz="1700" u="none" cap="none" strike="noStrike">
              <a:solidFill>
                <a:schemeClr val="dk1"/>
              </a:solidFill>
              <a:latin typeface="Corbel"/>
              <a:ea typeface="Corbel"/>
              <a:cs typeface="Corbel"/>
              <a:sym typeface="Corbel"/>
            </a:endParaRPr>
          </a:p>
          <a:p>
            <a:pPr indent="0" lvl="0" marL="457200" marR="0" rtl="0" algn="l">
              <a:lnSpc>
                <a:spcPct val="90000"/>
              </a:lnSpc>
              <a:spcBef>
                <a:spcPts val="1000"/>
              </a:spcBef>
              <a:spcAft>
                <a:spcPts val="0"/>
              </a:spcAft>
              <a:buClr>
                <a:schemeClr val="dk1"/>
              </a:buClr>
              <a:buSzPts val="1100"/>
              <a:buFont typeface="Arial"/>
              <a:buNone/>
            </a:pPr>
            <a:r>
              <a:t/>
            </a:r>
            <a:endParaRPr b="0" i="0" sz="1700" u="none" cap="none" strike="noStrike">
              <a:solidFill>
                <a:schemeClr val="dk1"/>
              </a:solidFill>
              <a:latin typeface="Corbel"/>
              <a:ea typeface="Corbel"/>
              <a:cs typeface="Corbel"/>
              <a:sym typeface="Corbel"/>
            </a:endParaRPr>
          </a:p>
          <a:p>
            <a:pPr indent="-323850" lvl="0" marL="457200" marR="0" rtl="0" algn="l">
              <a:lnSpc>
                <a:spcPct val="90000"/>
              </a:lnSpc>
              <a:spcBef>
                <a:spcPts val="1000"/>
              </a:spcBef>
              <a:spcAft>
                <a:spcPts val="0"/>
              </a:spcAft>
              <a:buClr>
                <a:schemeClr val="dk1"/>
              </a:buClr>
              <a:buSzPts val="1500"/>
              <a:buFont typeface="Arial"/>
              <a:buChar char="•"/>
            </a:pPr>
            <a:r>
              <a:rPr b="0" i="0" lang="en-GB" sz="1500" u="none" cap="none" strike="noStrike">
                <a:solidFill>
                  <a:schemeClr val="dk1"/>
                </a:solidFill>
                <a:latin typeface="Arial"/>
                <a:ea typeface="Arial"/>
                <a:cs typeface="Arial"/>
                <a:sym typeface="Arial"/>
              </a:rPr>
              <a:t>This anomaly is explained by the “Greenfield gap” phenomenon, which highlights that fine particles (0.1–2.5 μm) are less efficiently removed by wet deposition .</a:t>
            </a:r>
            <a:endParaRPr b="0" i="0" sz="1500" u="none" cap="none" strike="noStrike">
              <a:solidFill>
                <a:schemeClr val="dk1"/>
              </a:solidFill>
              <a:latin typeface="Arial"/>
              <a:ea typeface="Arial"/>
              <a:cs typeface="Arial"/>
              <a:sym typeface="Arial"/>
            </a:endParaRPr>
          </a:p>
          <a:p>
            <a:pPr indent="0" lvl="0" marL="457200" marR="0" rtl="0" algn="l">
              <a:lnSpc>
                <a:spcPct val="90000"/>
              </a:lnSpc>
              <a:spcBef>
                <a:spcPts val="1000"/>
              </a:spcBef>
              <a:spcAft>
                <a:spcPts val="0"/>
              </a:spcAft>
              <a:buClr>
                <a:schemeClr val="dk1"/>
              </a:buClr>
              <a:buSzPts val="1100"/>
              <a:buFont typeface="Arial"/>
              <a:buNone/>
            </a:pPr>
            <a:r>
              <a:t/>
            </a:r>
            <a:endParaRPr b="0" i="0" sz="1500" u="none" cap="none" strike="noStrike">
              <a:solidFill>
                <a:schemeClr val="dk1"/>
              </a:solidFill>
              <a:latin typeface="Arial"/>
              <a:ea typeface="Arial"/>
              <a:cs typeface="Arial"/>
              <a:sym typeface="Arial"/>
            </a:endParaRPr>
          </a:p>
          <a:p>
            <a:pPr indent="-323850" lvl="0" marL="457200" marR="0" rtl="0" algn="l">
              <a:lnSpc>
                <a:spcPct val="90000"/>
              </a:lnSpc>
              <a:spcBef>
                <a:spcPts val="1000"/>
              </a:spcBef>
              <a:spcAft>
                <a:spcPts val="0"/>
              </a:spcAft>
              <a:buClr>
                <a:schemeClr val="dk1"/>
              </a:buClr>
              <a:buSzPts val="1500"/>
              <a:buFont typeface="Arial"/>
              <a:buChar char="•"/>
            </a:pPr>
            <a:r>
              <a:rPr b="0" i="0" lang="en-GB" sz="1500" u="none" cap="none" strike="noStrike">
                <a:solidFill>
                  <a:schemeClr val="dk1"/>
                </a:solidFill>
                <a:latin typeface="Arial"/>
                <a:ea typeface="Arial"/>
                <a:cs typeface="Arial"/>
                <a:sym typeface="Arial"/>
              </a:rPr>
              <a:t>PM₂.₅ has a much lower deposition velocity (0.32 cm·s⁻¹), resulting in its persistence even during high rainfall periods.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orbel"/>
              <a:ea typeface="Corbel"/>
              <a:cs typeface="Corbel"/>
              <a:sym typeface="Corbel"/>
            </a:endParaRPr>
          </a:p>
        </p:txBody>
      </p:sp>
      <p:sp>
        <p:nvSpPr>
          <p:cNvPr id="303" name="Google Shape;303;p16"/>
          <p:cNvSpPr txBox="1"/>
          <p:nvPr/>
        </p:nvSpPr>
        <p:spPr>
          <a:xfrm>
            <a:off x="6495575" y="1254500"/>
            <a:ext cx="3568500" cy="8409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1000"/>
              </a:spcBef>
              <a:spcAft>
                <a:spcPts val="0"/>
              </a:spcAft>
              <a:buClr>
                <a:schemeClr val="dk1"/>
              </a:buClr>
              <a:buSzPts val="1100"/>
              <a:buFont typeface="Arial"/>
              <a:buNone/>
            </a:pPr>
            <a:r>
              <a:rPr b="1" i="0" lang="en-GB" sz="1300" u="none" cap="none" strike="noStrike">
                <a:solidFill>
                  <a:schemeClr val="dk1"/>
                </a:solidFill>
                <a:latin typeface="Corbel"/>
                <a:ea typeface="Corbel"/>
                <a:cs typeface="Corbel"/>
                <a:sym typeface="Corbel"/>
              </a:rPr>
              <a:t>The relationship between PM</a:t>
            </a:r>
            <a:r>
              <a:rPr b="1" baseline="-25000" i="0" lang="en-GB" sz="1300" u="none" cap="none" strike="noStrike">
                <a:solidFill>
                  <a:schemeClr val="dk1"/>
                </a:solidFill>
                <a:latin typeface="Corbel"/>
                <a:ea typeface="Corbel"/>
                <a:cs typeface="Corbel"/>
                <a:sym typeface="Corbel"/>
              </a:rPr>
              <a:t>10</a:t>
            </a:r>
            <a:r>
              <a:rPr b="1" i="0" lang="en-GB" sz="1300" u="none" cap="none" strike="noStrike">
                <a:solidFill>
                  <a:schemeClr val="dk1"/>
                </a:solidFill>
                <a:latin typeface="Corbel"/>
                <a:ea typeface="Corbel"/>
                <a:cs typeface="Corbel"/>
                <a:sym typeface="Corbel"/>
              </a:rPr>
              <a:t> concentrations and precipitation reveals:</a:t>
            </a:r>
            <a:endParaRPr b="1" i="0" sz="1300" u="none" cap="none" strike="noStrike">
              <a:solidFill>
                <a:schemeClr val="dk1"/>
              </a:solidFill>
              <a:latin typeface="Corbel"/>
              <a:ea typeface="Corbel"/>
              <a:cs typeface="Corbel"/>
              <a:sym typeface="Corbel"/>
            </a:endParaRPr>
          </a:p>
          <a:p>
            <a:pPr indent="0" lvl="0" marL="0" marR="0" rtl="0" algn="l">
              <a:lnSpc>
                <a:spcPct val="90000"/>
              </a:lnSpc>
              <a:spcBef>
                <a:spcPts val="1000"/>
              </a:spcBef>
              <a:spcAft>
                <a:spcPts val="0"/>
              </a:spcAft>
              <a:buClr>
                <a:schemeClr val="dk1"/>
              </a:buClr>
              <a:buSzPts val="11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90000"/>
              </a:lnSpc>
              <a:spcBef>
                <a:spcPts val="1000"/>
              </a:spcBef>
              <a:spcAft>
                <a:spcPts val="0"/>
              </a:spcAft>
              <a:buClr>
                <a:schemeClr val="dk1"/>
              </a:buClr>
              <a:buSzPts val="1100"/>
              <a:buFont typeface="Arial"/>
              <a:buNone/>
            </a:pPr>
            <a:r>
              <a:t/>
            </a:r>
            <a:endParaRPr b="0"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04" name="Google Shape;304;p16"/>
          <p:cNvSpPr txBox="1"/>
          <p:nvPr/>
        </p:nvSpPr>
        <p:spPr>
          <a:xfrm>
            <a:off x="6495575" y="1849250"/>
            <a:ext cx="3531300" cy="35823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90000"/>
              </a:lnSpc>
              <a:spcBef>
                <a:spcPts val="1000"/>
              </a:spcBef>
              <a:spcAft>
                <a:spcPts val="0"/>
              </a:spcAft>
              <a:buClr>
                <a:schemeClr val="dk1"/>
              </a:buClr>
              <a:buSzPts val="1600"/>
              <a:buFont typeface="Arial"/>
              <a:buChar char="•"/>
            </a:pPr>
            <a:r>
              <a:rPr b="0" i="0" lang="en-GB" sz="1600" u="none" cap="none" strike="noStrike">
                <a:solidFill>
                  <a:schemeClr val="dk1"/>
                </a:solidFill>
                <a:latin typeface="Corbel"/>
                <a:ea typeface="Corbel"/>
                <a:cs typeface="Corbel"/>
                <a:sym typeface="Corbel"/>
              </a:rPr>
              <a:t>PM₁₀ concentrations show a more expected inverse relationship with precipitation. As rainfall increases during the monsoon season, PM₁₀ levels decrease significantly.</a:t>
            </a:r>
            <a:endParaRPr b="0" i="0" sz="1600" u="none" cap="none" strike="noStrike">
              <a:solidFill>
                <a:schemeClr val="dk1"/>
              </a:solidFill>
              <a:latin typeface="Corbel"/>
              <a:ea typeface="Corbel"/>
              <a:cs typeface="Corbel"/>
              <a:sym typeface="Corbel"/>
            </a:endParaRPr>
          </a:p>
          <a:p>
            <a:pPr indent="0" lvl="0" marL="457200" marR="0" rtl="0" algn="l">
              <a:lnSpc>
                <a:spcPct val="90000"/>
              </a:lnSpc>
              <a:spcBef>
                <a:spcPts val="1000"/>
              </a:spcBef>
              <a:spcAft>
                <a:spcPts val="0"/>
              </a:spcAft>
              <a:buClr>
                <a:schemeClr val="dk1"/>
              </a:buClr>
              <a:buSzPts val="1100"/>
              <a:buFont typeface="Arial"/>
              <a:buNone/>
            </a:pPr>
            <a:r>
              <a:t/>
            </a:r>
            <a:endParaRPr b="0" i="0" sz="1600" u="none" cap="none" strike="noStrike">
              <a:solidFill>
                <a:schemeClr val="dk1"/>
              </a:solidFill>
              <a:latin typeface="Corbel"/>
              <a:ea typeface="Corbel"/>
              <a:cs typeface="Corbel"/>
              <a:sym typeface="Corbel"/>
            </a:endParaRPr>
          </a:p>
          <a:p>
            <a:pPr indent="-330200" lvl="0" marL="457200" marR="0" rtl="0" algn="l">
              <a:lnSpc>
                <a:spcPct val="90000"/>
              </a:lnSpc>
              <a:spcBef>
                <a:spcPts val="1000"/>
              </a:spcBef>
              <a:spcAft>
                <a:spcPts val="0"/>
              </a:spcAft>
              <a:buClr>
                <a:schemeClr val="dk1"/>
              </a:buClr>
              <a:buSzPts val="1600"/>
              <a:buFont typeface="Arial"/>
              <a:buChar char="•"/>
            </a:pPr>
            <a:r>
              <a:rPr b="0" i="0" lang="en-GB" sz="1600" u="none" cap="none" strike="noStrike">
                <a:solidFill>
                  <a:schemeClr val="dk1"/>
                </a:solidFill>
                <a:latin typeface="Corbel"/>
                <a:ea typeface="Corbel"/>
                <a:cs typeface="Corbel"/>
                <a:sym typeface="Corbel"/>
              </a:rPr>
              <a:t>This is due to the higher deposition velocity of coarse particles like PM₁₀ (3.19 cm·s⁻¹), making them more efficiently removed from the atmosphere via wet deposition</a:t>
            </a:r>
            <a:endParaRPr b="0" i="0" sz="1600" u="none" cap="none" strike="noStrike">
              <a:solidFill>
                <a:schemeClr val="dk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pic>
        <p:nvPicPr>
          <p:cNvPr id="311" name="Google Shape;311;p17">
            <a:hlinkClick r:id="rId3"/>
          </p:cNvPr>
          <p:cNvPicPr preferRelativeResize="0"/>
          <p:nvPr/>
        </p:nvPicPr>
        <p:blipFill rotWithShape="1">
          <a:blip r:embed="rId4">
            <a:alphaModFix/>
          </a:blip>
          <a:srcRect b="0" l="0" r="0" t="0"/>
          <a:stretch/>
        </p:blipFill>
        <p:spPr>
          <a:xfrm>
            <a:off x="6144550" y="317475"/>
            <a:ext cx="4644250" cy="6039424"/>
          </a:xfrm>
          <a:prstGeom prst="rect">
            <a:avLst/>
          </a:prstGeom>
          <a:noFill/>
          <a:ln>
            <a:noFill/>
          </a:ln>
        </p:spPr>
      </p:pic>
      <p:sp>
        <p:nvSpPr>
          <p:cNvPr id="312" name="Google Shape;312;p17"/>
          <p:cNvSpPr/>
          <p:nvPr/>
        </p:nvSpPr>
        <p:spPr>
          <a:xfrm>
            <a:off x="605450" y="2299600"/>
            <a:ext cx="4381200" cy="793800"/>
          </a:xfrm>
          <a:prstGeom prst="chevron">
            <a:avLst>
              <a:gd fmla="val 50000" name="adj"/>
            </a:avLst>
          </a:prstGeom>
          <a:solidFill>
            <a:srgbClr val="84FD8D"/>
          </a:solidFill>
          <a:ln cap="flat" cmpd="sng" w="9525">
            <a:solidFill>
              <a:srgbClr val="84FD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313" name="Google Shape;313;p17"/>
          <p:cNvSpPr/>
          <p:nvPr/>
        </p:nvSpPr>
        <p:spPr>
          <a:xfrm>
            <a:off x="605461" y="2158925"/>
            <a:ext cx="4381200" cy="793800"/>
          </a:xfrm>
          <a:prstGeom prst="chevron">
            <a:avLst>
              <a:gd fmla="val 50000" name="adj"/>
            </a:avLst>
          </a:prstGeom>
          <a:solidFill>
            <a:schemeClr val="lt1"/>
          </a:solidFill>
          <a:ln cap="flat" cmpd="sng" w="19050">
            <a:solidFill>
              <a:srgbClr val="84FD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Dual Bar Analysis - Particulate Concentration vs. Monthly Rainfall</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8"/>
          <p:cNvSpPr txBox="1"/>
          <p:nvPr>
            <p:ph type="title"/>
          </p:nvPr>
        </p:nvSpPr>
        <p:spPr>
          <a:xfrm>
            <a:off x="747150" y="46545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SCATTER PLOTS </a:t>
            </a:r>
            <a:endParaRPr/>
          </a:p>
        </p:txBody>
      </p:sp>
      <p:sp>
        <p:nvSpPr>
          <p:cNvPr id="320" name="Google Shape;320;p18"/>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321" name="Google Shape;321;p18"/>
          <p:cNvSpPr txBox="1"/>
          <p:nvPr>
            <p:ph idx="1" type="body"/>
          </p:nvPr>
        </p:nvSpPr>
        <p:spPr>
          <a:xfrm>
            <a:off x="685800" y="833550"/>
            <a:ext cx="10820400" cy="100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t/>
            </a:r>
            <a:endParaRPr sz="1400">
              <a:latin typeface="Arial"/>
              <a:ea typeface="Arial"/>
              <a:cs typeface="Arial"/>
              <a:sym typeface="Arial"/>
            </a:endParaRPr>
          </a:p>
          <a:p>
            <a:pPr indent="0" lvl="0" marL="0" rtl="0" algn="l">
              <a:lnSpc>
                <a:spcPct val="90000"/>
              </a:lnSpc>
              <a:spcBef>
                <a:spcPts val="1000"/>
              </a:spcBef>
              <a:spcAft>
                <a:spcPts val="0"/>
              </a:spcAft>
              <a:buSzPts val="1800"/>
              <a:buNone/>
            </a:pPr>
            <a:r>
              <a:t/>
            </a:r>
            <a:endParaRPr sz="1400">
              <a:latin typeface="Arial"/>
              <a:ea typeface="Arial"/>
              <a:cs typeface="Arial"/>
              <a:sym typeface="Arial"/>
            </a:endParaRPr>
          </a:p>
          <a:p>
            <a:pPr indent="0" lvl="0" marL="0" rtl="0" algn="l">
              <a:lnSpc>
                <a:spcPct val="90000"/>
              </a:lnSpc>
              <a:spcBef>
                <a:spcPts val="1000"/>
              </a:spcBef>
              <a:spcAft>
                <a:spcPts val="0"/>
              </a:spcAft>
              <a:buSzPts val="1800"/>
              <a:buNone/>
            </a:pPr>
            <a:r>
              <a:t/>
            </a:r>
            <a:endParaRPr sz="1400">
              <a:latin typeface="Arial"/>
              <a:ea typeface="Arial"/>
              <a:cs typeface="Arial"/>
              <a:sym typeface="Arial"/>
            </a:endParaRPr>
          </a:p>
          <a:p>
            <a:pPr indent="0" lvl="0" marL="0" rtl="0" algn="l">
              <a:lnSpc>
                <a:spcPct val="90000"/>
              </a:lnSpc>
              <a:spcBef>
                <a:spcPts val="1000"/>
              </a:spcBef>
              <a:spcAft>
                <a:spcPts val="0"/>
              </a:spcAft>
              <a:buSzPts val="1800"/>
              <a:buNone/>
            </a:pPr>
            <a:r>
              <a:t/>
            </a:r>
            <a:endParaRPr sz="1400">
              <a:latin typeface="Arial"/>
              <a:ea typeface="Arial"/>
              <a:cs typeface="Arial"/>
              <a:sym typeface="Arial"/>
            </a:endParaRPr>
          </a:p>
        </p:txBody>
      </p:sp>
      <p:grpSp>
        <p:nvGrpSpPr>
          <p:cNvPr id="322" name="Google Shape;322;p18"/>
          <p:cNvGrpSpPr/>
          <p:nvPr/>
        </p:nvGrpSpPr>
        <p:grpSpPr>
          <a:xfrm>
            <a:off x="2389956" y="2004867"/>
            <a:ext cx="7653352" cy="3643450"/>
            <a:chOff x="700167" y="1833064"/>
            <a:chExt cx="8262283" cy="3997641"/>
          </a:xfrm>
        </p:grpSpPr>
        <p:grpSp>
          <p:nvGrpSpPr>
            <p:cNvPr id="323" name="Google Shape;323;p18"/>
            <p:cNvGrpSpPr/>
            <p:nvPr/>
          </p:nvGrpSpPr>
          <p:grpSpPr>
            <a:xfrm>
              <a:off x="700167" y="1922525"/>
              <a:ext cx="3778420" cy="3908180"/>
              <a:chOff x="-5222925" y="1618948"/>
              <a:chExt cx="3124469" cy="3896102"/>
            </a:xfrm>
          </p:grpSpPr>
          <p:sp>
            <p:nvSpPr>
              <p:cNvPr id="324" name="Google Shape;324;p18"/>
              <p:cNvSpPr/>
              <p:nvPr/>
            </p:nvSpPr>
            <p:spPr>
              <a:xfrm rot="-224403">
                <a:off x="-5104816" y="1709191"/>
                <a:ext cx="2888251" cy="3715615"/>
              </a:xfrm>
              <a:prstGeom prst="roundRect">
                <a:avLst>
                  <a:gd fmla="val 10302" name="adj"/>
                </a:avLst>
              </a:prstGeom>
              <a:solidFill>
                <a:srgbClr val="FDBC84"/>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25" name="Google Shape;325;p18"/>
              <p:cNvSpPr/>
              <p:nvPr/>
            </p:nvSpPr>
            <p:spPr>
              <a:xfrm>
                <a:off x="-5056659" y="1709245"/>
                <a:ext cx="2888400" cy="3715500"/>
              </a:xfrm>
              <a:prstGeom prst="roundRect">
                <a:avLst>
                  <a:gd fmla="val 10302" name="adj"/>
                </a:avLst>
              </a:prstGeom>
              <a:solidFill>
                <a:schemeClr val="lt1"/>
              </a:solidFill>
              <a:ln cap="flat" cmpd="sng" w="9525">
                <a:solidFill>
                  <a:srgbClr val="FDBC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26" name="Google Shape;326;p18"/>
            <p:cNvGrpSpPr/>
            <p:nvPr/>
          </p:nvGrpSpPr>
          <p:grpSpPr>
            <a:xfrm>
              <a:off x="5184030" y="1833064"/>
              <a:ext cx="3778420" cy="3908180"/>
              <a:chOff x="-5222925" y="1618948"/>
              <a:chExt cx="3124469" cy="3896102"/>
            </a:xfrm>
          </p:grpSpPr>
          <p:sp>
            <p:nvSpPr>
              <p:cNvPr id="327" name="Google Shape;327;p18"/>
              <p:cNvSpPr/>
              <p:nvPr/>
            </p:nvSpPr>
            <p:spPr>
              <a:xfrm rot="-224403">
                <a:off x="-5104816" y="1709191"/>
                <a:ext cx="2888251" cy="3715615"/>
              </a:xfrm>
              <a:prstGeom prst="roundRect">
                <a:avLst>
                  <a:gd fmla="val 10302" name="adj"/>
                </a:avLst>
              </a:prstGeom>
              <a:solidFill>
                <a:srgbClr val="FD84D0"/>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28" name="Google Shape;328;p18"/>
              <p:cNvSpPr/>
              <p:nvPr/>
            </p:nvSpPr>
            <p:spPr>
              <a:xfrm>
                <a:off x="-5056659" y="1709245"/>
                <a:ext cx="2888400" cy="3715500"/>
              </a:xfrm>
              <a:prstGeom prst="roundRect">
                <a:avLst>
                  <a:gd fmla="val 10302" name="adj"/>
                </a:avLst>
              </a:prstGeom>
              <a:solidFill>
                <a:schemeClr val="lt1"/>
              </a:solidFill>
              <a:ln cap="flat" cmpd="sng" w="9525">
                <a:solidFill>
                  <a:srgbClr val="FD84D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329" name="Google Shape;329;p18"/>
          <p:cNvSpPr txBox="1"/>
          <p:nvPr/>
        </p:nvSpPr>
        <p:spPr>
          <a:xfrm>
            <a:off x="3005250" y="2294100"/>
            <a:ext cx="2611200" cy="4491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chemeClr val="dk1"/>
              </a:buClr>
              <a:buSzPts val="1800"/>
              <a:buFont typeface="Arial"/>
              <a:buNone/>
            </a:pPr>
            <a:r>
              <a:rPr b="1" i="0" lang="en-GB" sz="1600" u="none" cap="none" strike="noStrike">
                <a:solidFill>
                  <a:schemeClr val="dk1"/>
                </a:solidFill>
                <a:latin typeface="Arial"/>
                <a:ea typeface="Arial"/>
                <a:cs typeface="Arial"/>
                <a:sym typeface="Arial"/>
              </a:rPr>
              <a:t>Purpose of Scatter Plots:</a:t>
            </a:r>
            <a:r>
              <a:rPr b="0" i="0" lang="en-GB"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p:txBody>
      </p:sp>
      <p:sp>
        <p:nvSpPr>
          <p:cNvPr id="330" name="Google Shape;330;p18"/>
          <p:cNvSpPr txBox="1"/>
          <p:nvPr/>
        </p:nvSpPr>
        <p:spPr>
          <a:xfrm>
            <a:off x="2852850" y="2871450"/>
            <a:ext cx="2425500" cy="2286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rgbClr val="000000"/>
              </a:buClr>
              <a:buSzPts val="1400"/>
              <a:buFont typeface="Arial"/>
              <a:buNone/>
            </a:pPr>
            <a:r>
              <a:rPr b="0" i="0" lang="en-GB" sz="1500" u="none" cap="none" strike="noStrike">
                <a:solidFill>
                  <a:schemeClr val="dk1"/>
                </a:solidFill>
                <a:latin typeface="Arial"/>
                <a:ea typeface="Arial"/>
                <a:cs typeface="Arial"/>
                <a:sym typeface="Arial"/>
              </a:rPr>
              <a:t>Each point represents one observation where both variables were measured simultaneously (e.g., rainfall and PM2.5 on the same day). Patterns emerge that show whether variables move together,move opposite to each other, or have no relationship at all.</a:t>
            </a:r>
            <a:endParaRPr b="0" i="0" sz="1900" u="none" cap="none" strike="noStrike">
              <a:solidFill>
                <a:schemeClr val="dk1"/>
              </a:solidFill>
              <a:latin typeface="Corbel"/>
              <a:ea typeface="Corbel"/>
              <a:cs typeface="Corbel"/>
              <a:sym typeface="Corbel"/>
            </a:endParaRPr>
          </a:p>
        </p:txBody>
      </p:sp>
      <p:sp>
        <p:nvSpPr>
          <p:cNvPr id="331" name="Google Shape;331;p18"/>
          <p:cNvSpPr txBox="1"/>
          <p:nvPr/>
        </p:nvSpPr>
        <p:spPr>
          <a:xfrm>
            <a:off x="7014125" y="2294100"/>
            <a:ext cx="2611200" cy="4491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rgbClr val="000000"/>
              </a:buClr>
              <a:buSzPts val="1400"/>
              <a:buFont typeface="Arial"/>
              <a:buNone/>
            </a:pPr>
            <a:r>
              <a:rPr b="1" i="0" lang="en-GB" sz="1500" u="none" cap="none" strike="noStrike">
                <a:solidFill>
                  <a:schemeClr val="dk1"/>
                </a:solidFill>
                <a:latin typeface="Arial"/>
                <a:ea typeface="Arial"/>
                <a:cs typeface="Arial"/>
                <a:sym typeface="Arial"/>
              </a:rPr>
              <a:t>Why Perfect For Our Study</a:t>
            </a:r>
            <a:endParaRPr b="0" i="0" sz="1500" u="none" cap="none" strike="noStrike">
              <a:solidFill>
                <a:schemeClr val="dk1"/>
              </a:solidFill>
              <a:latin typeface="Arial"/>
              <a:ea typeface="Arial"/>
              <a:cs typeface="Arial"/>
              <a:sym typeface="Arial"/>
            </a:endParaRPr>
          </a:p>
        </p:txBody>
      </p:sp>
      <p:sp>
        <p:nvSpPr>
          <p:cNvPr id="332" name="Google Shape;332;p18"/>
          <p:cNvSpPr txBox="1"/>
          <p:nvPr/>
        </p:nvSpPr>
        <p:spPr>
          <a:xfrm>
            <a:off x="6763225" y="2620525"/>
            <a:ext cx="3152100" cy="23115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14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1400"/>
              <a:buFont typeface="Arial"/>
              <a:buNone/>
            </a:pPr>
            <a:r>
              <a:rPr b="0" i="0" lang="en-GB" sz="1500" u="none" cap="none" strike="noStrike">
                <a:solidFill>
                  <a:schemeClr val="dk1"/>
                </a:solidFill>
                <a:latin typeface="Arial"/>
                <a:ea typeface="Arial"/>
                <a:cs typeface="Arial"/>
                <a:sym typeface="Arial"/>
              </a:rPr>
              <a:t>Scatter plots allow us to see these interactions directly - showing whether wind actually cleans the air.</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1400"/>
              <a:buFont typeface="Arial"/>
              <a:buNone/>
            </a:pPr>
            <a:r>
              <a:rPr b="0" i="0" lang="en-GB" sz="1500" u="none" cap="none" strike="noStrike">
                <a:solidFill>
                  <a:schemeClr val="dk1"/>
                </a:solidFill>
                <a:latin typeface="Arial"/>
                <a:ea typeface="Arial"/>
                <a:cs typeface="Arial"/>
                <a:sym typeface="Arial"/>
              </a:rPr>
              <a:t>How effective rainfall is at reducing particles, and whether temperature changes affect pollution concentrations.</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9"/>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338" name="Google Shape;338;p19"/>
          <p:cNvGrpSpPr/>
          <p:nvPr/>
        </p:nvGrpSpPr>
        <p:grpSpPr>
          <a:xfrm>
            <a:off x="457054" y="700420"/>
            <a:ext cx="10820286" cy="4929491"/>
            <a:chOff x="700167" y="1833064"/>
            <a:chExt cx="8262283" cy="3997641"/>
          </a:xfrm>
        </p:grpSpPr>
        <p:grpSp>
          <p:nvGrpSpPr>
            <p:cNvPr id="339" name="Google Shape;339;p19"/>
            <p:cNvGrpSpPr/>
            <p:nvPr/>
          </p:nvGrpSpPr>
          <p:grpSpPr>
            <a:xfrm>
              <a:off x="700167" y="1922525"/>
              <a:ext cx="3778420" cy="3908180"/>
              <a:chOff x="-5222925" y="1618948"/>
              <a:chExt cx="3124469" cy="3896102"/>
            </a:xfrm>
          </p:grpSpPr>
          <p:sp>
            <p:nvSpPr>
              <p:cNvPr id="340" name="Google Shape;340;p19"/>
              <p:cNvSpPr/>
              <p:nvPr/>
            </p:nvSpPr>
            <p:spPr>
              <a:xfrm rot="-224403">
                <a:off x="-5104816" y="1709191"/>
                <a:ext cx="2888251" cy="3715615"/>
              </a:xfrm>
              <a:prstGeom prst="roundRect">
                <a:avLst>
                  <a:gd fmla="val 10302" name="adj"/>
                </a:avLst>
              </a:prstGeom>
              <a:solidFill>
                <a:srgbClr val="DB84F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41" name="Google Shape;341;p19"/>
              <p:cNvSpPr/>
              <p:nvPr/>
            </p:nvSpPr>
            <p:spPr>
              <a:xfrm>
                <a:off x="-5056659" y="1709245"/>
                <a:ext cx="2888400" cy="3715500"/>
              </a:xfrm>
              <a:prstGeom prst="roundRect">
                <a:avLst>
                  <a:gd fmla="val 10302" name="adj"/>
                </a:avLst>
              </a:prstGeom>
              <a:solidFill>
                <a:schemeClr val="lt1"/>
              </a:solidFill>
              <a:ln cap="flat" cmpd="sng" w="9525">
                <a:solidFill>
                  <a:srgbClr val="DB84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42" name="Google Shape;342;p19"/>
            <p:cNvGrpSpPr/>
            <p:nvPr/>
          </p:nvGrpSpPr>
          <p:grpSpPr>
            <a:xfrm>
              <a:off x="5184030" y="1833064"/>
              <a:ext cx="3778420" cy="3908180"/>
              <a:chOff x="-5222925" y="1618948"/>
              <a:chExt cx="3124469" cy="3896102"/>
            </a:xfrm>
          </p:grpSpPr>
          <p:sp>
            <p:nvSpPr>
              <p:cNvPr id="343" name="Google Shape;343;p19"/>
              <p:cNvSpPr/>
              <p:nvPr/>
            </p:nvSpPr>
            <p:spPr>
              <a:xfrm rot="-224403">
                <a:off x="-5104816" y="1709191"/>
                <a:ext cx="2888251" cy="3715615"/>
              </a:xfrm>
              <a:prstGeom prst="roundRect">
                <a:avLst>
                  <a:gd fmla="val 10302" name="adj"/>
                </a:avLst>
              </a:prstGeom>
              <a:solidFill>
                <a:srgbClr val="A084F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44" name="Google Shape;344;p19"/>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pic>
        <p:nvPicPr>
          <p:cNvPr id="345" name="Google Shape;345;p19"/>
          <p:cNvPicPr preferRelativeResize="0"/>
          <p:nvPr/>
        </p:nvPicPr>
        <p:blipFill rotWithShape="1">
          <a:blip r:embed="rId3">
            <a:alphaModFix/>
          </a:blip>
          <a:srcRect b="0" l="0" r="0" t="0"/>
          <a:stretch/>
        </p:blipFill>
        <p:spPr>
          <a:xfrm>
            <a:off x="831100" y="1139275"/>
            <a:ext cx="4313275" cy="4127500"/>
          </a:xfrm>
          <a:prstGeom prst="rect">
            <a:avLst/>
          </a:prstGeom>
          <a:noFill/>
          <a:ln>
            <a:noFill/>
          </a:ln>
        </p:spPr>
      </p:pic>
      <p:pic>
        <p:nvPicPr>
          <p:cNvPr id="346" name="Google Shape;346;p19"/>
          <p:cNvPicPr preferRelativeResize="0"/>
          <p:nvPr/>
        </p:nvPicPr>
        <p:blipFill rotWithShape="1">
          <a:blip r:embed="rId4">
            <a:alphaModFix/>
          </a:blip>
          <a:srcRect b="0" l="0" r="0" t="0"/>
          <a:stretch/>
        </p:blipFill>
        <p:spPr>
          <a:xfrm>
            <a:off x="6695525" y="914400"/>
            <a:ext cx="4351599" cy="443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0"/>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353" name="Google Shape;353;p20"/>
          <p:cNvGrpSpPr/>
          <p:nvPr/>
        </p:nvGrpSpPr>
        <p:grpSpPr>
          <a:xfrm>
            <a:off x="1533350" y="1077868"/>
            <a:ext cx="8510151" cy="4570103"/>
            <a:chOff x="700187" y="1833063"/>
            <a:chExt cx="8262283" cy="3997641"/>
          </a:xfrm>
        </p:grpSpPr>
        <p:grpSp>
          <p:nvGrpSpPr>
            <p:cNvPr id="354" name="Google Shape;354;p20"/>
            <p:cNvGrpSpPr/>
            <p:nvPr/>
          </p:nvGrpSpPr>
          <p:grpSpPr>
            <a:xfrm>
              <a:off x="700187" y="1922524"/>
              <a:ext cx="3778420" cy="3908180"/>
              <a:chOff x="-5222909" y="1618947"/>
              <a:chExt cx="3124469" cy="3896102"/>
            </a:xfrm>
          </p:grpSpPr>
          <p:sp>
            <p:nvSpPr>
              <p:cNvPr id="355" name="Google Shape;355;p20"/>
              <p:cNvSpPr/>
              <p:nvPr/>
            </p:nvSpPr>
            <p:spPr>
              <a:xfrm rot="-224403">
                <a:off x="-5104800" y="1709190"/>
                <a:ext cx="2888251" cy="3715615"/>
              </a:xfrm>
              <a:prstGeom prst="roundRect">
                <a:avLst>
                  <a:gd fmla="val 10302" name="adj"/>
                </a:avLst>
              </a:prstGeom>
              <a:solidFill>
                <a:srgbClr val="FD849E"/>
              </a:solidFill>
              <a:ln cap="flat" cmpd="sng" w="9525">
                <a:solidFill>
                  <a:srgbClr val="FD849E"/>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56" name="Google Shape;356;p20"/>
              <p:cNvSpPr/>
              <p:nvPr/>
            </p:nvSpPr>
            <p:spPr>
              <a:xfrm>
                <a:off x="-5044486" y="1620058"/>
                <a:ext cx="2888400" cy="3715500"/>
              </a:xfrm>
              <a:prstGeom prst="roundRect">
                <a:avLst>
                  <a:gd fmla="val 10302" name="adj"/>
                </a:avLst>
              </a:prstGeom>
              <a:solidFill>
                <a:schemeClr val="lt1"/>
              </a:solidFill>
              <a:ln cap="flat" cmpd="sng" w="9525">
                <a:solidFill>
                  <a:srgbClr val="FD849E"/>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57" name="Google Shape;357;p20"/>
            <p:cNvGrpSpPr/>
            <p:nvPr/>
          </p:nvGrpSpPr>
          <p:grpSpPr>
            <a:xfrm>
              <a:off x="5184050" y="1833063"/>
              <a:ext cx="3778420" cy="3908180"/>
              <a:chOff x="-5222909" y="1618947"/>
              <a:chExt cx="3124469" cy="3896102"/>
            </a:xfrm>
          </p:grpSpPr>
          <p:sp>
            <p:nvSpPr>
              <p:cNvPr id="358" name="Google Shape;358;p20"/>
              <p:cNvSpPr/>
              <p:nvPr/>
            </p:nvSpPr>
            <p:spPr>
              <a:xfrm rot="-224403">
                <a:off x="-5104800" y="1709190"/>
                <a:ext cx="2888251" cy="3715615"/>
              </a:xfrm>
              <a:prstGeom prst="roundRect">
                <a:avLst>
                  <a:gd fmla="val 10302" name="adj"/>
                </a:avLst>
              </a:prstGeom>
              <a:solidFill>
                <a:srgbClr val="B0FD84"/>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59" name="Google Shape;359;p20"/>
              <p:cNvSpPr/>
              <p:nvPr/>
            </p:nvSpPr>
            <p:spPr>
              <a:xfrm>
                <a:off x="-5056659" y="1709245"/>
                <a:ext cx="2888400" cy="3715500"/>
              </a:xfrm>
              <a:prstGeom prst="roundRect">
                <a:avLst>
                  <a:gd fmla="val 10302" name="adj"/>
                </a:avLst>
              </a:prstGeom>
              <a:solidFill>
                <a:schemeClr val="lt1"/>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360" name="Google Shape;360;p20"/>
          <p:cNvSpPr txBox="1"/>
          <p:nvPr/>
        </p:nvSpPr>
        <p:spPr>
          <a:xfrm>
            <a:off x="1849250" y="1403200"/>
            <a:ext cx="3410400" cy="6132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1000"/>
              </a:spcBef>
              <a:spcAft>
                <a:spcPts val="0"/>
              </a:spcAft>
              <a:buClr>
                <a:srgbClr val="000000"/>
              </a:buClr>
              <a:buSzPts val="1600"/>
              <a:buFont typeface="Arial"/>
              <a:buNone/>
            </a:pPr>
            <a:r>
              <a:rPr b="1" i="0" lang="en-GB" sz="1600" u="none" cap="none" strike="noStrike">
                <a:solidFill>
                  <a:schemeClr val="dk1"/>
                </a:solidFill>
                <a:latin typeface="Corbel"/>
                <a:ea typeface="Corbel"/>
                <a:cs typeface="Corbel"/>
                <a:sym typeface="Corbel"/>
              </a:rPr>
              <a:t>PM₂.₅ vs Precipitation at (29.0°N, 78.125°E)</a:t>
            </a:r>
            <a:endParaRPr b="1" i="0" sz="1600" u="none" cap="none" strike="noStrike">
              <a:solidFill>
                <a:schemeClr val="dk1"/>
              </a:solidFill>
              <a:latin typeface="Corbel"/>
              <a:ea typeface="Corbel"/>
              <a:cs typeface="Corbel"/>
              <a:sym typeface="Corbel"/>
            </a:endParaRPr>
          </a:p>
        </p:txBody>
      </p:sp>
      <p:sp>
        <p:nvSpPr>
          <p:cNvPr id="361" name="Google Shape;361;p20"/>
          <p:cNvSpPr txBox="1"/>
          <p:nvPr/>
        </p:nvSpPr>
        <p:spPr>
          <a:xfrm>
            <a:off x="2100150" y="2035100"/>
            <a:ext cx="3057300" cy="3057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5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500"/>
              </a:spcBef>
              <a:spcAft>
                <a:spcPts val="0"/>
              </a:spcAft>
              <a:buClr>
                <a:srgbClr val="000000"/>
              </a:buClr>
              <a:buSzPts val="1500"/>
              <a:buFont typeface="Arial"/>
              <a:buNone/>
            </a:pPr>
            <a:r>
              <a:rPr b="0" i="0" lang="en-GB" sz="1500" u="none" cap="none" strike="noStrike">
                <a:solidFill>
                  <a:schemeClr val="dk1"/>
                </a:solidFill>
                <a:latin typeface="Arial"/>
                <a:ea typeface="Arial"/>
                <a:cs typeface="Arial"/>
                <a:sym typeface="Arial"/>
              </a:rPr>
              <a:t>A </a:t>
            </a:r>
            <a:r>
              <a:rPr b="1" i="0" lang="en-GB" sz="1500" u="none" cap="none" strike="noStrike">
                <a:solidFill>
                  <a:schemeClr val="dk1"/>
                </a:solidFill>
                <a:latin typeface="Arial"/>
                <a:ea typeface="Arial"/>
                <a:cs typeface="Arial"/>
                <a:sym typeface="Arial"/>
              </a:rPr>
              <a:t>negative correlation coefficient (r = -0.173)</a:t>
            </a:r>
            <a:r>
              <a:rPr b="0" i="0" lang="en-GB" sz="1500" u="none" cap="none" strike="noStrike">
                <a:solidFill>
                  <a:schemeClr val="dk1"/>
                </a:solidFill>
                <a:latin typeface="Arial"/>
                <a:ea typeface="Arial"/>
                <a:cs typeface="Arial"/>
                <a:sym typeface="Arial"/>
              </a:rPr>
              <a:t> suggests a weak inverse relationship: as precipitation increases, PM₂.₅ levels tend to decrease slightly.</a:t>
            </a:r>
            <a:endParaRPr b="0" i="0" sz="1500" u="none" cap="none" strike="noStrike">
              <a:solidFill>
                <a:schemeClr val="dk1"/>
              </a:solidFill>
              <a:latin typeface="Arial"/>
              <a:ea typeface="Arial"/>
              <a:cs typeface="Arial"/>
              <a:sym typeface="Arial"/>
            </a:endParaRPr>
          </a:p>
          <a:p>
            <a:pPr indent="0" lvl="0" marL="914400" marR="0" rtl="0" algn="l">
              <a:lnSpc>
                <a:spcPct val="90000"/>
              </a:lnSpc>
              <a:spcBef>
                <a:spcPts val="1000"/>
              </a:spcBef>
              <a:spcAft>
                <a:spcPts val="0"/>
              </a:spcAft>
              <a:buClr>
                <a:schemeClr val="dk1"/>
              </a:buClr>
              <a:buSzPts val="11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500"/>
              </a:spcBef>
              <a:spcAft>
                <a:spcPts val="0"/>
              </a:spcAft>
              <a:buClr>
                <a:srgbClr val="000000"/>
              </a:buClr>
              <a:buSzPts val="1500"/>
              <a:buFont typeface="Arial"/>
              <a:buNone/>
            </a:pPr>
            <a:r>
              <a:rPr b="0" i="0" lang="en-GB" sz="1500" u="none" cap="none" strike="noStrike">
                <a:solidFill>
                  <a:schemeClr val="dk1"/>
                </a:solidFill>
                <a:latin typeface="Arial"/>
                <a:ea typeface="Arial"/>
                <a:cs typeface="Arial"/>
                <a:sym typeface="Arial"/>
              </a:rPr>
              <a:t>As we discussed in bar plots ,that PM2.5 is </a:t>
            </a:r>
            <a:r>
              <a:rPr b="0" i="0" lang="en-GB" sz="2000" u="none" cap="none" strike="noStrike">
                <a:solidFill>
                  <a:schemeClr val="dk1"/>
                </a:solidFill>
                <a:latin typeface="Arial"/>
                <a:ea typeface="Arial"/>
                <a:cs typeface="Arial"/>
                <a:sym typeface="Arial"/>
              </a:rPr>
              <a:t> </a:t>
            </a:r>
            <a:r>
              <a:rPr b="1" i="0" lang="en-GB" sz="1600" u="none" cap="none" strike="noStrike">
                <a:solidFill>
                  <a:schemeClr val="dk1"/>
                </a:solidFill>
                <a:latin typeface="Arial"/>
                <a:ea typeface="Arial"/>
                <a:cs typeface="Arial"/>
                <a:sym typeface="Arial"/>
              </a:rPr>
              <a:t>less efficiently removed</a:t>
            </a:r>
            <a:r>
              <a:rPr b="0" i="0" lang="en-GB" sz="1600" u="none" cap="none" strike="noStrike">
                <a:solidFill>
                  <a:schemeClr val="dk1"/>
                </a:solidFill>
                <a:latin typeface="Arial"/>
                <a:ea typeface="Arial"/>
                <a:cs typeface="Arial"/>
                <a:sym typeface="Arial"/>
              </a:rPr>
              <a:t> by wet deposition</a:t>
            </a:r>
            <a:r>
              <a:rPr b="0" i="0" lang="en-GB"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362" name="Google Shape;362;p20"/>
          <p:cNvSpPr txBox="1"/>
          <p:nvPr/>
        </p:nvSpPr>
        <p:spPr>
          <a:xfrm>
            <a:off x="6480725" y="1403200"/>
            <a:ext cx="3410400" cy="6132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1000"/>
              </a:spcBef>
              <a:spcAft>
                <a:spcPts val="0"/>
              </a:spcAft>
              <a:buClr>
                <a:srgbClr val="000000"/>
              </a:buClr>
              <a:buSzPts val="1600"/>
              <a:buFont typeface="Arial"/>
              <a:buNone/>
            </a:pPr>
            <a:r>
              <a:rPr b="1" i="0" lang="en-GB" sz="1600" u="none" cap="none" strike="noStrike">
                <a:solidFill>
                  <a:schemeClr val="dk1"/>
                </a:solidFill>
                <a:latin typeface="Arial"/>
                <a:ea typeface="Arial"/>
                <a:cs typeface="Arial"/>
                <a:sym typeface="Arial"/>
              </a:rPr>
              <a:t>PM₁₀ vs Precipitation at (37.0°N, 76.25°E)</a:t>
            </a:r>
            <a:endParaRPr b="1" i="0" sz="1600" u="none" cap="none" strike="noStrike">
              <a:solidFill>
                <a:schemeClr val="dk1"/>
              </a:solidFill>
              <a:latin typeface="Arial"/>
              <a:ea typeface="Arial"/>
              <a:cs typeface="Arial"/>
              <a:sym typeface="Arial"/>
            </a:endParaRPr>
          </a:p>
          <a:p>
            <a:pPr indent="0" lvl="0" marL="457200" marR="0" rtl="0" algn="ctr">
              <a:lnSpc>
                <a:spcPct val="90000"/>
              </a:lnSpc>
              <a:spcBef>
                <a:spcPts val="100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ctr">
              <a:lnSpc>
                <a:spcPct val="90000"/>
              </a:lnSpc>
              <a:spcBef>
                <a:spcPts val="1000"/>
              </a:spcBef>
              <a:spcAft>
                <a:spcPts val="0"/>
              </a:spcAft>
              <a:buClr>
                <a:srgbClr val="000000"/>
              </a:buClr>
              <a:buSzPts val="1000"/>
              <a:buFont typeface="Arial"/>
              <a:buNone/>
            </a:pPr>
            <a:r>
              <a:t/>
            </a:r>
            <a:endParaRPr b="1" i="0" sz="1000" u="none" cap="none" strike="noStrike">
              <a:solidFill>
                <a:schemeClr val="dk1"/>
              </a:solidFill>
              <a:latin typeface="Corbel"/>
              <a:ea typeface="Corbel"/>
              <a:cs typeface="Corbel"/>
              <a:sym typeface="Corbel"/>
            </a:endParaRPr>
          </a:p>
        </p:txBody>
      </p:sp>
      <p:sp>
        <p:nvSpPr>
          <p:cNvPr id="363" name="Google Shape;363;p20"/>
          <p:cNvSpPr txBox="1"/>
          <p:nvPr/>
        </p:nvSpPr>
        <p:spPr>
          <a:xfrm>
            <a:off x="6616400" y="2183775"/>
            <a:ext cx="3122400" cy="29085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500"/>
              </a:spcBef>
              <a:spcAft>
                <a:spcPts val="0"/>
              </a:spcAft>
              <a:buClr>
                <a:srgbClr val="000000"/>
              </a:buClr>
              <a:buSzPts val="1500"/>
              <a:buFont typeface="Arial"/>
              <a:buNone/>
            </a:pPr>
            <a:r>
              <a:rPr b="0" i="0" lang="en-GB" sz="1500" u="none" cap="none" strike="noStrike">
                <a:solidFill>
                  <a:schemeClr val="dk1"/>
                </a:solidFill>
                <a:latin typeface="Arial"/>
                <a:ea typeface="Arial"/>
                <a:cs typeface="Arial"/>
                <a:sym typeface="Arial"/>
              </a:rPr>
              <a:t>A  </a:t>
            </a:r>
            <a:r>
              <a:rPr b="1" i="0" lang="en-GB" sz="1500" u="none" cap="none" strike="noStrike">
                <a:solidFill>
                  <a:schemeClr val="dk1"/>
                </a:solidFill>
                <a:latin typeface="Arial"/>
                <a:ea typeface="Arial"/>
                <a:cs typeface="Arial"/>
                <a:sym typeface="Arial"/>
              </a:rPr>
              <a:t>negative correlation (r = -0.632)</a:t>
            </a:r>
            <a:r>
              <a:rPr b="0" i="0" lang="en-GB" sz="1500" u="none" cap="none" strike="noStrike">
                <a:solidFill>
                  <a:schemeClr val="dk1"/>
                </a:solidFill>
                <a:latin typeface="Arial"/>
                <a:ea typeface="Arial"/>
                <a:cs typeface="Arial"/>
                <a:sym typeface="Arial"/>
              </a:rPr>
              <a:t> is observed, indicating a substantial decrease in PM₁₀ levels with increasing rainfall.</a:t>
            </a:r>
            <a:endParaRPr b="0" i="0" sz="1500" u="none" cap="none" strike="noStrike">
              <a:solidFill>
                <a:schemeClr val="dk1"/>
              </a:solidFill>
              <a:latin typeface="Arial"/>
              <a:ea typeface="Arial"/>
              <a:cs typeface="Arial"/>
              <a:sym typeface="Arial"/>
            </a:endParaRPr>
          </a:p>
          <a:p>
            <a:pPr indent="0" lvl="0" marL="914400" marR="0" rtl="0" algn="l">
              <a:lnSpc>
                <a:spcPct val="90000"/>
              </a:lnSpc>
              <a:spcBef>
                <a:spcPts val="10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500"/>
              </a:spcBef>
              <a:spcAft>
                <a:spcPts val="0"/>
              </a:spcAft>
              <a:buClr>
                <a:srgbClr val="000000"/>
              </a:buClr>
              <a:buSzPts val="1500"/>
              <a:buFont typeface="Arial"/>
              <a:buNone/>
            </a:pPr>
            <a:r>
              <a:rPr b="0" i="0" lang="en-GB" sz="1500" u="none" cap="none" strike="noStrike">
                <a:solidFill>
                  <a:schemeClr val="dk1"/>
                </a:solidFill>
                <a:latin typeface="Arial"/>
                <a:ea typeface="Arial"/>
                <a:cs typeface="Arial"/>
                <a:sym typeface="Arial"/>
              </a:rPr>
              <a:t>This relationship suggests effective </a:t>
            </a:r>
            <a:r>
              <a:rPr b="1" i="0" lang="en-GB" sz="1500" u="none" cap="none" strike="noStrike">
                <a:solidFill>
                  <a:schemeClr val="dk1"/>
                </a:solidFill>
                <a:latin typeface="Arial"/>
                <a:ea typeface="Arial"/>
                <a:cs typeface="Arial"/>
                <a:sym typeface="Arial"/>
              </a:rPr>
              <a:t>wet deposition (washout effect)</a:t>
            </a:r>
            <a:r>
              <a:rPr b="0" i="0" lang="en-GB" sz="1500" u="none" cap="none" strike="noStrike">
                <a:solidFill>
                  <a:schemeClr val="dk1"/>
                </a:solidFill>
                <a:latin typeface="Arial"/>
                <a:ea typeface="Arial"/>
                <a:cs typeface="Arial"/>
                <a:sym typeface="Arial"/>
              </a:rPr>
              <a:t>, where rainfall removes coarse particles (PM₁₀) from the atmosphere more efficiently than fine particles.</a:t>
            </a:r>
            <a:endParaRPr b="0" i="0" sz="1500" u="none" cap="none" strike="noStrike">
              <a:solidFill>
                <a:schemeClr val="dk1"/>
              </a:solidFill>
              <a:latin typeface="Arial"/>
              <a:ea typeface="Arial"/>
              <a:cs typeface="Arial"/>
              <a:sym typeface="Arial"/>
            </a:endParaRPr>
          </a:p>
          <a:p>
            <a:pPr indent="0" lvl="0" marL="914400" marR="0" rtl="0" algn="l">
              <a:lnSpc>
                <a:spcPct val="90000"/>
              </a:lnSpc>
              <a:spcBef>
                <a:spcPts val="5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370" name="Google Shape;370;p21"/>
          <p:cNvSpPr/>
          <p:nvPr/>
        </p:nvSpPr>
        <p:spPr>
          <a:xfrm>
            <a:off x="605450" y="2299600"/>
            <a:ext cx="4381200" cy="793800"/>
          </a:xfrm>
          <a:prstGeom prst="chevron">
            <a:avLst>
              <a:gd fmla="val 50000" name="adj"/>
            </a:avLst>
          </a:prstGeom>
          <a:solidFill>
            <a:srgbClr val="FD84C9"/>
          </a:solidFill>
          <a:ln cap="flat" cmpd="sng" w="9525">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371" name="Google Shape;371;p21"/>
          <p:cNvSpPr/>
          <p:nvPr/>
        </p:nvSpPr>
        <p:spPr>
          <a:xfrm>
            <a:off x="605461" y="2158925"/>
            <a:ext cx="4381200" cy="793800"/>
          </a:xfrm>
          <a:prstGeom prst="chevron">
            <a:avLst>
              <a:gd fmla="val 50000" name="adj"/>
            </a:avLst>
          </a:prstGeom>
          <a:solidFill>
            <a:schemeClr val="lt1"/>
          </a:solidFill>
          <a:ln cap="flat" cmpd="sng" w="19050">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Scatter Plot Analysis of PM2.5 Concentrations vs Precipitation</a:t>
            </a:r>
            <a:endParaRPr b="0" i="0" sz="1400" u="none" cap="none" strike="noStrike">
              <a:solidFill>
                <a:srgbClr val="000000"/>
              </a:solidFill>
              <a:latin typeface="Corbel"/>
              <a:ea typeface="Corbel"/>
              <a:cs typeface="Corbel"/>
              <a:sym typeface="Corbel"/>
            </a:endParaRPr>
          </a:p>
        </p:txBody>
      </p:sp>
      <p:pic>
        <p:nvPicPr>
          <p:cNvPr id="372" name="Google Shape;372;p21">
            <a:hlinkClick r:id="rId3"/>
          </p:cNvPr>
          <p:cNvPicPr preferRelativeResize="0"/>
          <p:nvPr/>
        </p:nvPicPr>
        <p:blipFill rotWithShape="1">
          <a:blip r:embed="rId4">
            <a:alphaModFix/>
          </a:blip>
          <a:srcRect b="0" l="0" r="0" t="0"/>
          <a:stretch/>
        </p:blipFill>
        <p:spPr>
          <a:xfrm>
            <a:off x="5736700" y="320500"/>
            <a:ext cx="5363849" cy="59637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2"/>
          <p:cNvSpPr txBox="1"/>
          <p:nvPr>
            <p:ph type="title"/>
          </p:nvPr>
        </p:nvSpPr>
        <p:spPr>
          <a:xfrm>
            <a:off x="849350" y="45720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rbel"/>
              <a:buNone/>
            </a:pPr>
            <a:r>
              <a:rPr lang="en-GB"/>
              <a:t>MULTIVARIATE ANALYSIS</a:t>
            </a:r>
            <a:endParaRPr/>
          </a:p>
        </p:txBody>
      </p:sp>
      <p:sp>
        <p:nvSpPr>
          <p:cNvPr id="378" name="Google Shape;378;p22"/>
          <p:cNvSpPr txBox="1"/>
          <p:nvPr>
            <p:ph idx="12" type="sldNum"/>
          </p:nvPr>
        </p:nvSpPr>
        <p:spPr>
          <a:xfrm>
            <a:off x="10655300" y="465439"/>
            <a:ext cx="1079500" cy="44896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379" name="Google Shape;379;p22"/>
          <p:cNvGrpSpPr/>
          <p:nvPr/>
        </p:nvGrpSpPr>
        <p:grpSpPr>
          <a:xfrm>
            <a:off x="2389956" y="2004867"/>
            <a:ext cx="7653352" cy="3643450"/>
            <a:chOff x="700167" y="1833064"/>
            <a:chExt cx="8262283" cy="3997641"/>
          </a:xfrm>
        </p:grpSpPr>
        <p:grpSp>
          <p:nvGrpSpPr>
            <p:cNvPr id="380" name="Google Shape;380;p22"/>
            <p:cNvGrpSpPr/>
            <p:nvPr/>
          </p:nvGrpSpPr>
          <p:grpSpPr>
            <a:xfrm>
              <a:off x="700167" y="1922525"/>
              <a:ext cx="3778420" cy="3908180"/>
              <a:chOff x="-5222925" y="1618948"/>
              <a:chExt cx="3124469" cy="3896102"/>
            </a:xfrm>
          </p:grpSpPr>
          <p:sp>
            <p:nvSpPr>
              <p:cNvPr id="381" name="Google Shape;381;p22"/>
              <p:cNvSpPr/>
              <p:nvPr/>
            </p:nvSpPr>
            <p:spPr>
              <a:xfrm rot="-224403">
                <a:off x="-5104816" y="1709191"/>
                <a:ext cx="2888251" cy="3715615"/>
              </a:xfrm>
              <a:prstGeom prst="roundRect">
                <a:avLst>
                  <a:gd fmla="val 10302" name="adj"/>
                </a:avLst>
              </a:prstGeom>
              <a:solidFill>
                <a:srgbClr val="FD849E"/>
              </a:solidFill>
              <a:ln cap="flat" cmpd="sng" w="9525">
                <a:solidFill>
                  <a:srgbClr val="FD849E"/>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82" name="Google Shape;382;p22"/>
              <p:cNvSpPr/>
              <p:nvPr/>
            </p:nvSpPr>
            <p:spPr>
              <a:xfrm>
                <a:off x="-5056659" y="1709245"/>
                <a:ext cx="2888400" cy="3715500"/>
              </a:xfrm>
              <a:prstGeom prst="roundRect">
                <a:avLst>
                  <a:gd fmla="val 10302" name="adj"/>
                </a:avLst>
              </a:prstGeom>
              <a:solidFill>
                <a:schemeClr val="lt1"/>
              </a:solidFill>
              <a:ln cap="flat" cmpd="sng" w="9525">
                <a:solidFill>
                  <a:srgbClr val="FD849E"/>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83" name="Google Shape;383;p22"/>
            <p:cNvGrpSpPr/>
            <p:nvPr/>
          </p:nvGrpSpPr>
          <p:grpSpPr>
            <a:xfrm>
              <a:off x="5184030" y="1833064"/>
              <a:ext cx="3778420" cy="3908180"/>
              <a:chOff x="-5222925" y="1618948"/>
              <a:chExt cx="3124469" cy="3896102"/>
            </a:xfrm>
          </p:grpSpPr>
          <p:sp>
            <p:nvSpPr>
              <p:cNvPr id="384" name="Google Shape;384;p22"/>
              <p:cNvSpPr/>
              <p:nvPr/>
            </p:nvSpPr>
            <p:spPr>
              <a:xfrm rot="-224403">
                <a:off x="-5104816" y="1709191"/>
                <a:ext cx="2888251" cy="3715615"/>
              </a:xfrm>
              <a:prstGeom prst="roundRect">
                <a:avLst>
                  <a:gd fmla="val 10302" name="adj"/>
                </a:avLst>
              </a:prstGeom>
              <a:solidFill>
                <a:srgbClr val="B0FD84"/>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385" name="Google Shape;385;p22"/>
              <p:cNvSpPr/>
              <p:nvPr/>
            </p:nvSpPr>
            <p:spPr>
              <a:xfrm>
                <a:off x="-5056659" y="1709245"/>
                <a:ext cx="2888400" cy="3715500"/>
              </a:xfrm>
              <a:prstGeom prst="roundRect">
                <a:avLst>
                  <a:gd fmla="val 10302" name="adj"/>
                </a:avLst>
              </a:prstGeom>
              <a:solidFill>
                <a:schemeClr val="lt1"/>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386" name="Google Shape;386;p22"/>
          <p:cNvSpPr txBox="1"/>
          <p:nvPr/>
        </p:nvSpPr>
        <p:spPr>
          <a:xfrm>
            <a:off x="2945775" y="2406800"/>
            <a:ext cx="2360400" cy="44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orbel"/>
                <a:ea typeface="Corbel"/>
                <a:cs typeface="Corbel"/>
                <a:sym typeface="Corbel"/>
              </a:rPr>
              <a:t>Multivariate Analysis</a:t>
            </a:r>
            <a:endParaRPr b="1" i="0" sz="1800" u="none" cap="none" strike="noStrike">
              <a:solidFill>
                <a:schemeClr val="dk1"/>
              </a:solidFill>
              <a:latin typeface="Corbel"/>
              <a:ea typeface="Corbel"/>
              <a:cs typeface="Corbel"/>
              <a:sym typeface="Corbel"/>
            </a:endParaRPr>
          </a:p>
        </p:txBody>
      </p:sp>
      <p:sp>
        <p:nvSpPr>
          <p:cNvPr id="387" name="Google Shape;387;p22"/>
          <p:cNvSpPr txBox="1"/>
          <p:nvPr/>
        </p:nvSpPr>
        <p:spPr>
          <a:xfrm>
            <a:off x="2871450" y="2871450"/>
            <a:ext cx="2741400" cy="2286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GB" sz="1600" u="none" cap="none" strike="noStrike">
                <a:solidFill>
                  <a:schemeClr val="dk1"/>
                </a:solidFill>
                <a:latin typeface="Arial"/>
                <a:ea typeface="Arial"/>
                <a:cs typeface="Arial"/>
                <a:sym typeface="Arial"/>
              </a:rPr>
              <a:t>Examines relationships between </a:t>
            </a:r>
            <a:r>
              <a:rPr b="1" i="0" lang="en-GB" sz="1600" u="none" cap="none" strike="noStrike">
                <a:solidFill>
                  <a:schemeClr val="dk1"/>
                </a:solidFill>
                <a:latin typeface="Arial"/>
                <a:ea typeface="Arial"/>
                <a:cs typeface="Arial"/>
                <a:sym typeface="Arial"/>
              </a:rPr>
              <a:t>three or more variables simultaneously</a:t>
            </a:r>
            <a:r>
              <a:rPr b="0" i="0" lang="en-GB" sz="1600" u="none" cap="none" strike="noStrike">
                <a:solidFill>
                  <a:schemeClr val="dk1"/>
                </a:solidFill>
                <a:latin typeface="Arial"/>
                <a:ea typeface="Arial"/>
                <a:cs typeface="Arial"/>
                <a:sym typeface="Arial"/>
              </a:rPr>
              <a:t>, rather than looking at pairs individually (bivariate analysis).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88" name="Google Shape;388;p22"/>
          <p:cNvSpPr txBox="1"/>
          <p:nvPr/>
        </p:nvSpPr>
        <p:spPr>
          <a:xfrm>
            <a:off x="6765075" y="2286000"/>
            <a:ext cx="3048000" cy="570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400"/>
              </a:spcBef>
              <a:spcAft>
                <a:spcPts val="0"/>
              </a:spcAft>
              <a:buClr>
                <a:schemeClr val="dk1"/>
              </a:buClr>
              <a:buSzPts val="1100"/>
              <a:buFont typeface="Arial"/>
              <a:buNone/>
            </a:pPr>
            <a:r>
              <a:rPr b="1" i="0" lang="en-GB" sz="1700" u="none" cap="none" strike="noStrike">
                <a:solidFill>
                  <a:schemeClr val="dk1"/>
                </a:solidFill>
                <a:latin typeface="Arial"/>
                <a:ea typeface="Arial"/>
                <a:cs typeface="Arial"/>
                <a:sym typeface="Arial"/>
              </a:rPr>
              <a:t>Why Move Beyond Bivariate Analysis</a:t>
            </a:r>
            <a:endParaRPr b="0" i="0" sz="1700" u="none" cap="none" strike="noStrike">
              <a:solidFill>
                <a:schemeClr val="dk1"/>
              </a:solidFill>
              <a:latin typeface="Corbel"/>
              <a:ea typeface="Corbel"/>
              <a:cs typeface="Corbel"/>
              <a:sym typeface="Corbel"/>
            </a:endParaRPr>
          </a:p>
        </p:txBody>
      </p:sp>
      <p:sp>
        <p:nvSpPr>
          <p:cNvPr id="389" name="Google Shape;389;p22"/>
          <p:cNvSpPr txBox="1"/>
          <p:nvPr/>
        </p:nvSpPr>
        <p:spPr>
          <a:xfrm>
            <a:off x="6969500" y="3075875"/>
            <a:ext cx="2601900" cy="195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Missing the bigger picture</a:t>
            </a:r>
            <a:r>
              <a:rPr b="0" i="0" lang="en-GB" sz="1300" u="none" cap="none" strike="noStrike">
                <a:solidFill>
                  <a:schemeClr val="dk1"/>
                </a:solidFill>
                <a:latin typeface="Arial"/>
                <a:ea typeface="Arial"/>
                <a:cs typeface="Arial"/>
                <a:sym typeface="Arial"/>
              </a:rPr>
              <a:t>: Air quality is influenced by multiple factors working together.</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Confounding variables</a:t>
            </a:r>
            <a:r>
              <a:rPr b="0" i="0" lang="en-GB" sz="1300" u="none" cap="none" strike="noStrike">
                <a:solidFill>
                  <a:schemeClr val="dk1"/>
                </a:solidFill>
                <a:latin typeface="Arial"/>
                <a:ea typeface="Arial"/>
                <a:cs typeface="Arial"/>
                <a:sym typeface="Arial"/>
              </a:rPr>
              <a:t>: Other factors may mask or enhance apparent relationships</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114300" lvl="0" marL="228600" marR="0" rtl="0" algn="l">
              <a:lnSpc>
                <a:spcPct val="90000"/>
              </a:lnSpc>
              <a:spcBef>
                <a:spcPts val="400"/>
              </a:spcBef>
              <a:spcAft>
                <a:spcPts val="0"/>
              </a:spcAft>
              <a:buClr>
                <a:schemeClr val="dk1"/>
              </a:buClr>
              <a:buSzPts val="1800"/>
              <a:buFont typeface="Arial"/>
              <a:buNone/>
            </a:pPr>
            <a:r>
              <a:t/>
            </a:r>
            <a:endParaRPr b="0" i="0" sz="23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3"/>
          <p:cNvSpPr txBox="1"/>
          <p:nvPr>
            <p:ph type="title"/>
          </p:nvPr>
        </p:nvSpPr>
        <p:spPr>
          <a:xfrm>
            <a:off x="700650" y="263925"/>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HEATMAPS</a:t>
            </a:r>
            <a:endParaRPr/>
          </a:p>
        </p:txBody>
      </p:sp>
      <p:sp>
        <p:nvSpPr>
          <p:cNvPr id="396" name="Google Shape;396;p23"/>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397" name="Google Shape;397;p23"/>
          <p:cNvGrpSpPr/>
          <p:nvPr/>
        </p:nvGrpSpPr>
        <p:grpSpPr>
          <a:xfrm>
            <a:off x="2389956" y="2004867"/>
            <a:ext cx="7653352" cy="3643450"/>
            <a:chOff x="700167" y="1833064"/>
            <a:chExt cx="8262283" cy="3997641"/>
          </a:xfrm>
        </p:grpSpPr>
        <p:grpSp>
          <p:nvGrpSpPr>
            <p:cNvPr id="398" name="Google Shape;398;p23"/>
            <p:cNvGrpSpPr/>
            <p:nvPr/>
          </p:nvGrpSpPr>
          <p:grpSpPr>
            <a:xfrm>
              <a:off x="700167" y="1922525"/>
              <a:ext cx="3778420" cy="3908180"/>
              <a:chOff x="-5222925" y="1618948"/>
              <a:chExt cx="3124469" cy="3896102"/>
            </a:xfrm>
          </p:grpSpPr>
          <p:sp>
            <p:nvSpPr>
              <p:cNvPr id="399" name="Google Shape;399;p23"/>
              <p:cNvSpPr/>
              <p:nvPr/>
            </p:nvSpPr>
            <p:spPr>
              <a:xfrm rot="-224403">
                <a:off x="-5104816" y="1709191"/>
                <a:ext cx="2888251" cy="3715615"/>
              </a:xfrm>
              <a:prstGeom prst="roundRect">
                <a:avLst>
                  <a:gd fmla="val 10302" name="adj"/>
                </a:avLst>
              </a:prstGeom>
              <a:solidFill>
                <a:srgbClr val="FDC85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400" name="Google Shape;400;p23"/>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401" name="Google Shape;401;p23"/>
            <p:cNvGrpSpPr/>
            <p:nvPr/>
          </p:nvGrpSpPr>
          <p:grpSpPr>
            <a:xfrm>
              <a:off x="5184030" y="1833064"/>
              <a:ext cx="3778420" cy="3908180"/>
              <a:chOff x="-5222925" y="1618948"/>
              <a:chExt cx="3124469" cy="3896102"/>
            </a:xfrm>
          </p:grpSpPr>
          <p:sp>
            <p:nvSpPr>
              <p:cNvPr id="402" name="Google Shape;402;p23"/>
              <p:cNvSpPr/>
              <p:nvPr/>
            </p:nvSpPr>
            <p:spPr>
              <a:xfrm rot="-224403">
                <a:off x="-5104816" y="1709191"/>
                <a:ext cx="2888251" cy="3715615"/>
              </a:xfrm>
              <a:prstGeom prst="roundRect">
                <a:avLst>
                  <a:gd fmla="val 10302" name="adj"/>
                </a:avLst>
              </a:prstGeom>
              <a:solidFill>
                <a:srgbClr val="9DC77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403" name="Google Shape;403;p23"/>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404" name="Google Shape;404;p23"/>
          <p:cNvSpPr txBox="1"/>
          <p:nvPr/>
        </p:nvSpPr>
        <p:spPr>
          <a:xfrm>
            <a:off x="2592650" y="2304575"/>
            <a:ext cx="3131700" cy="449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400"/>
              </a:spcBef>
              <a:spcAft>
                <a:spcPts val="0"/>
              </a:spcAft>
              <a:buClr>
                <a:schemeClr val="dk1"/>
              </a:buClr>
              <a:buSzPts val="1100"/>
              <a:buFont typeface="Arial"/>
              <a:buNone/>
            </a:pPr>
            <a:r>
              <a:rPr b="1" i="0" lang="en-GB" sz="1700" u="none" cap="none" strike="noStrike">
                <a:solidFill>
                  <a:schemeClr val="dk1"/>
                </a:solidFill>
                <a:latin typeface="Arial"/>
                <a:ea typeface="Arial"/>
                <a:cs typeface="Arial"/>
                <a:sym typeface="Arial"/>
              </a:rPr>
              <a:t>Visual Data Made Simple</a:t>
            </a:r>
            <a:endParaRPr b="1" i="0" sz="1700" u="none" cap="none" strike="noStrike">
              <a:solidFill>
                <a:schemeClr val="dk1"/>
              </a:solidFill>
              <a:latin typeface="Arial"/>
              <a:ea typeface="Arial"/>
              <a:cs typeface="Arial"/>
              <a:sym typeface="Arial"/>
            </a:endParaRPr>
          </a:p>
        </p:txBody>
      </p:sp>
      <p:sp>
        <p:nvSpPr>
          <p:cNvPr id="405" name="Google Shape;405;p23"/>
          <p:cNvSpPr txBox="1"/>
          <p:nvPr/>
        </p:nvSpPr>
        <p:spPr>
          <a:xfrm>
            <a:off x="2750625" y="2750625"/>
            <a:ext cx="2834400" cy="26391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GB" sz="1500" u="none" cap="none" strike="noStrike">
                <a:solidFill>
                  <a:schemeClr val="dk1"/>
                </a:solidFill>
                <a:latin typeface="Arial"/>
                <a:ea typeface="Arial"/>
                <a:cs typeface="Arial"/>
                <a:sym typeface="Arial"/>
              </a:rPr>
              <a:t>A heatmap is like a weather map on TV - it uses colors to show data instead of confusing numbers. This makes it much easier to spot patterns quickly rather than reading through hundreds of numbers in a table</a:t>
            </a:r>
            <a:r>
              <a:rPr b="0" i="0" lang="en-GB"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406" name="Google Shape;406;p23"/>
          <p:cNvSpPr txBox="1"/>
          <p:nvPr/>
        </p:nvSpPr>
        <p:spPr>
          <a:xfrm>
            <a:off x="6867300" y="2220950"/>
            <a:ext cx="3029400" cy="631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400"/>
              </a:spcBef>
              <a:spcAft>
                <a:spcPts val="0"/>
              </a:spcAft>
              <a:buClr>
                <a:schemeClr val="dk1"/>
              </a:buClr>
              <a:buSzPts val="1100"/>
              <a:buFont typeface="Arial"/>
              <a:buNone/>
            </a:pPr>
            <a:r>
              <a:rPr b="1" i="0" lang="en-GB" sz="1700" u="none" cap="none" strike="noStrike">
                <a:solidFill>
                  <a:schemeClr val="dk1"/>
                </a:solidFill>
                <a:latin typeface="Arial"/>
                <a:ea typeface="Arial"/>
                <a:cs typeface="Arial"/>
                <a:sym typeface="Arial"/>
              </a:rPr>
              <a:t>Correlation Understanding Made Easy</a:t>
            </a:r>
            <a:endParaRPr b="0" i="0" sz="1800" u="none" cap="none" strike="noStrike">
              <a:solidFill>
                <a:schemeClr val="dk1"/>
              </a:solidFill>
              <a:latin typeface="Corbel"/>
              <a:ea typeface="Corbel"/>
              <a:cs typeface="Corbel"/>
              <a:sym typeface="Corbel"/>
            </a:endParaRPr>
          </a:p>
        </p:txBody>
      </p:sp>
      <p:sp>
        <p:nvSpPr>
          <p:cNvPr id="407" name="Google Shape;407;p23"/>
          <p:cNvSpPr txBox="1"/>
          <p:nvPr/>
        </p:nvSpPr>
        <p:spPr>
          <a:xfrm>
            <a:off x="6867300" y="3038700"/>
            <a:ext cx="3029400" cy="220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GB" sz="1500" u="none" cap="none" strike="noStrike">
                <a:solidFill>
                  <a:schemeClr val="dk1"/>
                </a:solidFill>
                <a:latin typeface="Arial"/>
                <a:ea typeface="Arial"/>
                <a:cs typeface="Arial"/>
                <a:sym typeface="Arial"/>
              </a:rPr>
              <a:t>The correlation heatmap answers the question: "</a:t>
            </a:r>
            <a:r>
              <a:rPr b="1" i="0" lang="en-GB" sz="1500" u="none" cap="none" strike="noStrike">
                <a:solidFill>
                  <a:schemeClr val="dk1"/>
                </a:solidFill>
                <a:latin typeface="Arial"/>
                <a:ea typeface="Arial"/>
                <a:cs typeface="Arial"/>
                <a:sym typeface="Arial"/>
              </a:rPr>
              <a:t>When one thing goes up, does another thing also go up</a:t>
            </a:r>
            <a:r>
              <a:rPr b="0" i="0" lang="en-GB"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ts val="1800"/>
              <a:buFont typeface="Arial"/>
              <a:buNone/>
            </a:pPr>
            <a:r>
              <a:t/>
            </a:r>
            <a:endParaRPr b="0"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4"/>
          <p:cNvSpPr/>
          <p:nvPr/>
        </p:nvSpPr>
        <p:spPr>
          <a:xfrm>
            <a:off x="1068650" y="529675"/>
            <a:ext cx="5584200" cy="5766300"/>
          </a:xfrm>
          <a:prstGeom prst="ellipse">
            <a:avLst/>
          </a:prstGeom>
          <a:noFill/>
          <a:ln cap="flat" cmpd="sng" w="19050">
            <a:solidFill>
              <a:srgbClr val="E06666"/>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Corbel"/>
              <a:ea typeface="Corbel"/>
              <a:cs typeface="Corbel"/>
              <a:sym typeface="Corbel"/>
            </a:endParaRPr>
          </a:p>
        </p:txBody>
      </p:sp>
      <p:sp>
        <p:nvSpPr>
          <p:cNvPr id="414" name="Google Shape;414;p24"/>
          <p:cNvSpPr txBox="1"/>
          <p:nvPr>
            <p:ph idx="12" type="sldNum"/>
          </p:nvPr>
        </p:nvSpPr>
        <p:spPr>
          <a:xfrm>
            <a:off x="10655300" y="465439"/>
            <a:ext cx="1079400" cy="449100"/>
          </a:xfrm>
          <a:prstGeom prst="rect">
            <a:avLst/>
          </a:prstGeom>
          <a:noFill/>
          <a:ln>
            <a:noFill/>
          </a:ln>
          <a:effectLst>
            <a:reflection blurRad="0" dir="5400000" dist="38100" endA="0" fadeDir="5400012" kx="0" rotWithShape="0" algn="bl" stPos="0" sy="-100000" ky="0"/>
          </a:effectLst>
        </p:spPr>
        <p:txBody>
          <a:bodyPr anchorCtr="0" anchor="t" bIns="45700" lIns="91425" spcFirstLastPara="1" rIns="91425" wrap="square" tIns="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pSp>
        <p:nvGrpSpPr>
          <p:cNvPr id="415" name="Google Shape;415;p24"/>
          <p:cNvGrpSpPr/>
          <p:nvPr/>
        </p:nvGrpSpPr>
        <p:grpSpPr>
          <a:xfrm>
            <a:off x="7920791" y="1479610"/>
            <a:ext cx="3853237" cy="4336184"/>
            <a:chOff x="6210821" y="1477496"/>
            <a:chExt cx="3832161" cy="4077660"/>
          </a:xfrm>
        </p:grpSpPr>
        <p:grpSp>
          <p:nvGrpSpPr>
            <p:cNvPr id="416" name="Google Shape;416;p24"/>
            <p:cNvGrpSpPr/>
            <p:nvPr/>
          </p:nvGrpSpPr>
          <p:grpSpPr>
            <a:xfrm>
              <a:off x="6210821" y="1477496"/>
              <a:ext cx="3832161" cy="4077660"/>
              <a:chOff x="-5222925" y="1618948"/>
              <a:chExt cx="3124469" cy="3896102"/>
            </a:xfrm>
          </p:grpSpPr>
          <p:sp>
            <p:nvSpPr>
              <p:cNvPr id="417" name="Google Shape;417;p24"/>
              <p:cNvSpPr/>
              <p:nvPr/>
            </p:nvSpPr>
            <p:spPr>
              <a:xfrm rot="-224403">
                <a:off x="-5104816" y="1709191"/>
                <a:ext cx="2888251" cy="3715615"/>
              </a:xfrm>
              <a:prstGeom prst="roundRect">
                <a:avLst>
                  <a:gd fmla="val 10302" name="adj"/>
                </a:avLst>
              </a:prstGeom>
              <a:solidFill>
                <a:srgbClr val="E06666"/>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418" name="Google Shape;418;p24"/>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419" name="Google Shape;419;p24"/>
            <p:cNvSpPr txBox="1"/>
            <p:nvPr/>
          </p:nvSpPr>
          <p:spPr>
            <a:xfrm>
              <a:off x="6755775" y="1690075"/>
              <a:ext cx="2787900" cy="449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orbel"/>
                  <a:ea typeface="Corbel"/>
                  <a:cs typeface="Corbel"/>
                  <a:sym typeface="Corbel"/>
                </a:rPr>
                <a:t>How to Read it:</a:t>
              </a:r>
              <a:endParaRPr b="1" i="0" sz="1800" u="none" cap="none" strike="noStrike">
                <a:solidFill>
                  <a:schemeClr val="dk1"/>
                </a:solidFill>
                <a:latin typeface="Corbel"/>
                <a:ea typeface="Corbel"/>
                <a:cs typeface="Corbel"/>
                <a:sym typeface="Corbel"/>
              </a:endParaRPr>
            </a:p>
          </p:txBody>
        </p:sp>
        <p:sp>
          <p:nvSpPr>
            <p:cNvPr id="420" name="Google Shape;420;p24"/>
            <p:cNvSpPr txBox="1"/>
            <p:nvPr/>
          </p:nvSpPr>
          <p:spPr>
            <a:xfrm>
              <a:off x="6637250" y="2289025"/>
              <a:ext cx="3131700" cy="3005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Dark Red (like 1.000)</a:t>
              </a:r>
              <a:r>
                <a:rPr b="0" i="0" lang="en-GB" sz="1300" u="none" cap="none" strike="noStrike">
                  <a:solidFill>
                    <a:schemeClr val="dk1"/>
                  </a:solidFill>
                  <a:latin typeface="Arial"/>
                  <a:ea typeface="Arial"/>
                  <a:cs typeface="Arial"/>
                  <a:sym typeface="Arial"/>
                </a:rPr>
                <a:t>: Perfect relationship - they always move together</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Orange (like 0.575)</a:t>
              </a:r>
              <a:r>
                <a:rPr b="0" i="0" lang="en-GB" sz="1300" u="none" cap="none" strike="noStrike">
                  <a:solidFill>
                    <a:schemeClr val="dk1"/>
                  </a:solidFill>
                  <a:latin typeface="Arial"/>
                  <a:ea typeface="Arial"/>
                  <a:cs typeface="Arial"/>
                  <a:sym typeface="Arial"/>
                </a:rPr>
                <a:t>: Good relationship - when one goes up, the other usually goes up too.</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Light Blue (like -0.261)</a:t>
              </a:r>
              <a:r>
                <a:rPr b="0" i="0" lang="en-GB" sz="1300" u="none" cap="none" strike="noStrike">
                  <a:solidFill>
                    <a:schemeClr val="dk1"/>
                  </a:solidFill>
                  <a:latin typeface="Arial"/>
                  <a:ea typeface="Arial"/>
                  <a:cs typeface="Arial"/>
                  <a:sym typeface="Arial"/>
                </a:rPr>
                <a:t>: Weak opposite relationship - slight tendency to move in opposite directions</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Dark Blue (like -0.704)</a:t>
              </a:r>
              <a:r>
                <a:rPr b="0" i="0" lang="en-GB" sz="1300" u="none" cap="none" strike="noStrike">
                  <a:solidFill>
                    <a:schemeClr val="dk1"/>
                  </a:solidFill>
                  <a:latin typeface="Arial"/>
                  <a:ea typeface="Arial"/>
                  <a:cs typeface="Arial"/>
                  <a:sym typeface="Arial"/>
                </a:rPr>
                <a:t>: Strong opposite relationship - when one goes up, the other goes down</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cxnSp>
        <p:nvCxnSpPr>
          <p:cNvPr id="421" name="Google Shape;421;p24"/>
          <p:cNvCxnSpPr/>
          <p:nvPr/>
        </p:nvCxnSpPr>
        <p:spPr>
          <a:xfrm>
            <a:off x="4616459" y="749567"/>
            <a:ext cx="5652000" cy="828600"/>
          </a:xfrm>
          <a:prstGeom prst="straightConnector1">
            <a:avLst/>
          </a:prstGeom>
          <a:noFill/>
          <a:ln cap="flat" cmpd="sng" w="19050">
            <a:solidFill>
              <a:schemeClr val="dk2"/>
            </a:solidFill>
            <a:prstDash val="dot"/>
            <a:round/>
            <a:headEnd len="sm" w="sm" type="none"/>
            <a:tailEnd len="sm" w="sm" type="none"/>
          </a:ln>
        </p:spPr>
      </p:cxnSp>
      <p:cxnSp>
        <p:nvCxnSpPr>
          <p:cNvPr id="422" name="Google Shape;422;p24"/>
          <p:cNvCxnSpPr>
            <a:endCxn id="418" idx="2"/>
          </p:cNvCxnSpPr>
          <p:nvPr/>
        </p:nvCxnSpPr>
        <p:spPr>
          <a:xfrm flipH="1" rot="10800000">
            <a:off x="4174791" y="5715289"/>
            <a:ext cx="5732100" cy="551100"/>
          </a:xfrm>
          <a:prstGeom prst="straightConnector1">
            <a:avLst/>
          </a:prstGeom>
          <a:noFill/>
          <a:ln cap="flat" cmpd="sng" w="19050">
            <a:solidFill>
              <a:schemeClr val="dk2"/>
            </a:solidFill>
            <a:prstDash val="dot"/>
            <a:round/>
            <a:headEnd len="sm" w="sm" type="none"/>
            <a:tailEnd len="sm" w="sm" type="none"/>
          </a:ln>
        </p:spPr>
      </p:cxnSp>
      <p:pic>
        <p:nvPicPr>
          <p:cNvPr id="423" name="Google Shape;423;p24"/>
          <p:cNvPicPr preferRelativeResize="0"/>
          <p:nvPr/>
        </p:nvPicPr>
        <p:blipFill rotWithShape="1">
          <a:blip r:embed="rId3">
            <a:alphaModFix/>
          </a:blip>
          <a:srcRect b="0" l="0" r="0" t="0"/>
          <a:stretch/>
        </p:blipFill>
        <p:spPr>
          <a:xfrm>
            <a:off x="1689613" y="1697750"/>
            <a:ext cx="4342275" cy="3462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5"/>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430" name="Google Shape;430;p25"/>
          <p:cNvGrpSpPr/>
          <p:nvPr/>
        </p:nvGrpSpPr>
        <p:grpSpPr>
          <a:xfrm>
            <a:off x="1663432" y="1477552"/>
            <a:ext cx="8379607" cy="4171138"/>
            <a:chOff x="700167" y="1833064"/>
            <a:chExt cx="8262283" cy="3997641"/>
          </a:xfrm>
        </p:grpSpPr>
        <p:grpSp>
          <p:nvGrpSpPr>
            <p:cNvPr id="431" name="Google Shape;431;p25"/>
            <p:cNvGrpSpPr/>
            <p:nvPr/>
          </p:nvGrpSpPr>
          <p:grpSpPr>
            <a:xfrm>
              <a:off x="700167" y="1922525"/>
              <a:ext cx="3778420" cy="3908180"/>
              <a:chOff x="-5222925" y="1618948"/>
              <a:chExt cx="3124469" cy="3896102"/>
            </a:xfrm>
          </p:grpSpPr>
          <p:sp>
            <p:nvSpPr>
              <p:cNvPr id="432" name="Google Shape;432;p25"/>
              <p:cNvSpPr/>
              <p:nvPr/>
            </p:nvSpPr>
            <p:spPr>
              <a:xfrm rot="-224403">
                <a:off x="-5104816" y="1709191"/>
                <a:ext cx="2888251" cy="3715615"/>
              </a:xfrm>
              <a:prstGeom prst="roundRect">
                <a:avLst>
                  <a:gd fmla="val 10302" name="adj"/>
                </a:avLst>
              </a:prstGeom>
              <a:solidFill>
                <a:srgbClr val="84DCFD"/>
              </a:solidFill>
              <a:ln cap="flat" cmpd="sng" w="9525">
                <a:solidFill>
                  <a:srgbClr val="84DC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433" name="Google Shape;433;p25"/>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434" name="Google Shape;434;p25"/>
            <p:cNvGrpSpPr/>
            <p:nvPr/>
          </p:nvGrpSpPr>
          <p:grpSpPr>
            <a:xfrm>
              <a:off x="5184030" y="1833064"/>
              <a:ext cx="3778420" cy="3908180"/>
              <a:chOff x="-5222925" y="1618948"/>
              <a:chExt cx="3124469" cy="3896102"/>
            </a:xfrm>
          </p:grpSpPr>
          <p:sp>
            <p:nvSpPr>
              <p:cNvPr id="435" name="Google Shape;435;p25"/>
              <p:cNvSpPr/>
              <p:nvPr/>
            </p:nvSpPr>
            <p:spPr>
              <a:xfrm rot="-224403">
                <a:off x="-5104816" y="1709191"/>
                <a:ext cx="2888251" cy="3715615"/>
              </a:xfrm>
              <a:prstGeom prst="roundRect">
                <a:avLst>
                  <a:gd fmla="val 10302" name="adj"/>
                </a:avLst>
              </a:prstGeom>
              <a:solidFill>
                <a:srgbClr val="9DC77D"/>
              </a:solidFill>
              <a:ln cap="flat" cmpd="sng" w="9525">
                <a:solidFill>
                  <a:srgbClr val="9DC77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436" name="Google Shape;436;p25"/>
              <p:cNvSpPr/>
              <p:nvPr/>
            </p:nvSpPr>
            <p:spPr>
              <a:xfrm>
                <a:off x="-5056659" y="1709245"/>
                <a:ext cx="2888400" cy="3715500"/>
              </a:xfrm>
              <a:prstGeom prst="roundRect">
                <a:avLst>
                  <a:gd fmla="val 10302" name="adj"/>
                </a:avLst>
              </a:prstGeom>
              <a:solidFill>
                <a:schemeClr val="lt1"/>
              </a:solidFill>
              <a:ln cap="flat" cmpd="sng" w="9525">
                <a:solidFill>
                  <a:srgbClr val="9DC77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437" name="Google Shape;437;p25"/>
          <p:cNvSpPr txBox="1"/>
          <p:nvPr/>
        </p:nvSpPr>
        <p:spPr>
          <a:xfrm>
            <a:off x="2230250" y="2044400"/>
            <a:ext cx="2741400" cy="2769300"/>
          </a:xfrm>
          <a:prstGeom prst="rect">
            <a:avLst/>
          </a:prstGeom>
          <a:noFill/>
          <a:ln>
            <a:noFill/>
          </a:ln>
        </p:spPr>
        <p:txBody>
          <a:bodyPr anchorCtr="0" anchor="t" bIns="91425" lIns="91425" spcFirstLastPara="1" rIns="91425" wrap="square" tIns="91425">
            <a:noAutofit/>
          </a:bodyPr>
          <a:lstStyle/>
          <a:p>
            <a:pPr indent="0" lvl="0" marL="0" marR="0" rtl="0" algn="l">
              <a:lnSpc>
                <a:spcPct val="105000"/>
              </a:lnSpc>
              <a:spcBef>
                <a:spcPts val="1200"/>
              </a:spcBef>
              <a:spcAft>
                <a:spcPts val="0"/>
              </a:spcAft>
              <a:buClr>
                <a:srgbClr val="000000"/>
              </a:buClr>
              <a:buSzPts val="1560"/>
              <a:buFont typeface="Arial"/>
              <a:buNone/>
            </a:pPr>
            <a:r>
              <a:rPr b="1" i="0" lang="en-GB" sz="1560" u="none" cap="none" strike="noStrike">
                <a:solidFill>
                  <a:schemeClr val="dk1"/>
                </a:solidFill>
                <a:latin typeface="Arial"/>
                <a:ea typeface="Arial"/>
                <a:cs typeface="Arial"/>
                <a:sym typeface="Arial"/>
              </a:rPr>
              <a:t>Air pollution types cluster together</a:t>
            </a:r>
            <a:r>
              <a:rPr b="0" i="0" lang="en-GB" sz="1560" u="none" cap="none" strike="noStrike">
                <a:solidFill>
                  <a:schemeClr val="dk1"/>
                </a:solidFill>
                <a:latin typeface="Arial"/>
                <a:ea typeface="Arial"/>
                <a:cs typeface="Arial"/>
                <a:sym typeface="Arial"/>
              </a:rPr>
              <a:t> - if you have one type of particulate pollution, you likely have others.</a:t>
            </a:r>
            <a:endParaRPr b="0" i="0" sz="1560" u="none" cap="none" strike="noStrike">
              <a:solidFill>
                <a:schemeClr val="dk1"/>
              </a:solidFill>
              <a:latin typeface="Arial"/>
              <a:ea typeface="Arial"/>
              <a:cs typeface="Arial"/>
              <a:sym typeface="Arial"/>
            </a:endParaRPr>
          </a:p>
          <a:p>
            <a:pPr indent="0" lvl="0" marL="0" marR="0" rtl="0" algn="l">
              <a:lnSpc>
                <a:spcPct val="105000"/>
              </a:lnSpc>
              <a:spcBef>
                <a:spcPts val="1200"/>
              </a:spcBef>
              <a:spcAft>
                <a:spcPts val="0"/>
              </a:spcAft>
              <a:buClr>
                <a:srgbClr val="000000"/>
              </a:buClr>
              <a:buSzPts val="1560"/>
              <a:buFont typeface="Arial"/>
              <a:buNone/>
            </a:pPr>
            <a:r>
              <a:rPr b="1" i="0" lang="en-GB" sz="1560" u="none" cap="none" strike="noStrike">
                <a:solidFill>
                  <a:schemeClr val="dk1"/>
                </a:solidFill>
                <a:latin typeface="Arial"/>
                <a:ea typeface="Arial"/>
                <a:cs typeface="Arial"/>
                <a:sym typeface="Arial"/>
              </a:rPr>
              <a:t>Weather factors interact predictably</a:t>
            </a:r>
            <a:r>
              <a:rPr b="0" i="0" lang="en-GB" sz="1560" u="none" cap="none" strike="noStrike">
                <a:solidFill>
                  <a:schemeClr val="dk1"/>
                </a:solidFill>
                <a:latin typeface="Arial"/>
                <a:ea typeface="Arial"/>
                <a:cs typeface="Arial"/>
                <a:sym typeface="Arial"/>
              </a:rPr>
              <a:t> - wind cools things down, rain coincides with cooler weather.</a:t>
            </a:r>
            <a:endParaRPr b="0" i="0" sz="1560" u="none" cap="none" strike="noStrike">
              <a:solidFill>
                <a:schemeClr val="dk1"/>
              </a:solidFill>
              <a:latin typeface="Arial"/>
              <a:ea typeface="Arial"/>
              <a:cs typeface="Arial"/>
              <a:sym typeface="Arial"/>
            </a:endParaRPr>
          </a:p>
          <a:p>
            <a:pPr indent="0" lvl="0" marL="457200" marR="0" rtl="0" algn="l">
              <a:lnSpc>
                <a:spcPct val="105000"/>
              </a:lnSpc>
              <a:spcBef>
                <a:spcPts val="1200"/>
              </a:spcBef>
              <a:spcAft>
                <a:spcPts val="0"/>
              </a:spcAft>
              <a:buClr>
                <a:schemeClr val="dk1"/>
              </a:buClr>
              <a:buSzPts val="935"/>
              <a:buFont typeface="Arial"/>
              <a:buNone/>
            </a:pPr>
            <a:r>
              <a:t/>
            </a:r>
            <a:endParaRPr b="0" i="0" sz="1560" u="none" cap="none" strike="noStrike">
              <a:solidFill>
                <a:schemeClr val="dk1"/>
              </a:solidFill>
              <a:latin typeface="Arial"/>
              <a:ea typeface="Arial"/>
              <a:cs typeface="Arial"/>
              <a:sym typeface="Arial"/>
            </a:endParaRPr>
          </a:p>
          <a:p>
            <a:pPr indent="0" lvl="0" marL="0" marR="0" rtl="0" algn="l">
              <a:lnSpc>
                <a:spcPct val="105000"/>
              </a:lnSpc>
              <a:spcBef>
                <a:spcPts val="1200"/>
              </a:spcBef>
              <a:spcAft>
                <a:spcPts val="0"/>
              </a:spcAft>
              <a:buClr>
                <a:srgbClr val="000000"/>
              </a:buClr>
              <a:buSzPts val="1560"/>
              <a:buFont typeface="Arial"/>
              <a:buNone/>
            </a:pPr>
            <a:r>
              <a:t/>
            </a:r>
            <a:endParaRPr b="0" i="0" sz="156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438" name="Google Shape;438;p25"/>
          <p:cNvSpPr txBox="1"/>
          <p:nvPr/>
        </p:nvSpPr>
        <p:spPr>
          <a:xfrm>
            <a:off x="6969500" y="1970050"/>
            <a:ext cx="2508900" cy="2258100"/>
          </a:xfrm>
          <a:prstGeom prst="rect">
            <a:avLst/>
          </a:prstGeom>
          <a:noFill/>
          <a:ln>
            <a:noFill/>
          </a:ln>
        </p:spPr>
        <p:txBody>
          <a:bodyPr anchorCtr="0" anchor="t" bIns="91425" lIns="91425" spcFirstLastPara="1" rIns="91425" wrap="square" tIns="91425">
            <a:noAutofit/>
          </a:bodyPr>
          <a:lstStyle/>
          <a:p>
            <a:pPr indent="0" lvl="0" marL="0" marR="0" rtl="0" algn="l">
              <a:lnSpc>
                <a:spcPct val="105000"/>
              </a:lnSpc>
              <a:spcBef>
                <a:spcPts val="1200"/>
              </a:spcBef>
              <a:spcAft>
                <a:spcPts val="0"/>
              </a:spcAft>
              <a:buClr>
                <a:srgbClr val="000000"/>
              </a:buClr>
              <a:buSzPts val="1560"/>
              <a:buFont typeface="Arial"/>
              <a:buNone/>
            </a:pPr>
            <a:r>
              <a:rPr b="1" i="0" lang="en-GB" sz="1560" u="none" cap="none" strike="noStrike">
                <a:solidFill>
                  <a:schemeClr val="dk1"/>
                </a:solidFill>
                <a:latin typeface="Arial"/>
                <a:ea typeface="Arial"/>
                <a:cs typeface="Arial"/>
                <a:sym typeface="Arial"/>
              </a:rPr>
              <a:t>Temperature is a key player</a:t>
            </a:r>
            <a:r>
              <a:rPr b="0" i="0" lang="en-GB" sz="1560" u="none" cap="none" strike="noStrike">
                <a:solidFill>
                  <a:schemeClr val="dk1"/>
                </a:solidFill>
                <a:latin typeface="Arial"/>
                <a:ea typeface="Arial"/>
                <a:cs typeface="Arial"/>
                <a:sym typeface="Arial"/>
              </a:rPr>
              <a:t> - it has meaningful relationships with both wind and precipitation</a:t>
            </a:r>
            <a:endParaRPr b="0" i="0" sz="1560" u="none" cap="none" strike="noStrike">
              <a:solidFill>
                <a:schemeClr val="dk1"/>
              </a:solidFill>
              <a:latin typeface="Arial"/>
              <a:ea typeface="Arial"/>
              <a:cs typeface="Arial"/>
              <a:sym typeface="Arial"/>
            </a:endParaRPr>
          </a:p>
          <a:p>
            <a:pPr indent="0" lvl="0" marL="457200" marR="0" rtl="0" algn="l">
              <a:lnSpc>
                <a:spcPct val="105000"/>
              </a:lnSpc>
              <a:spcBef>
                <a:spcPts val="1200"/>
              </a:spcBef>
              <a:spcAft>
                <a:spcPts val="0"/>
              </a:spcAft>
              <a:buClr>
                <a:schemeClr val="dk1"/>
              </a:buClr>
              <a:buSzPts val="935"/>
              <a:buFont typeface="Arial"/>
              <a:buNone/>
            </a:pPr>
            <a:r>
              <a:t/>
            </a:r>
            <a:endParaRPr b="0" i="0" sz="156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439" name="Google Shape;439;p25"/>
          <p:cNvSpPr txBox="1"/>
          <p:nvPr/>
        </p:nvSpPr>
        <p:spPr>
          <a:xfrm>
            <a:off x="622600" y="390300"/>
            <a:ext cx="4479000" cy="86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orbel"/>
                <a:ea typeface="Corbel"/>
                <a:cs typeface="Corbel"/>
                <a:sym typeface="Corbel"/>
              </a:rPr>
              <a:t>KEY INSIGHTS</a:t>
            </a:r>
            <a:endParaRPr b="1" i="0" sz="2400" u="none" cap="none" strike="noStrike">
              <a:solidFill>
                <a:schemeClr val="dk1"/>
              </a:solidFill>
              <a:latin typeface="Corbel"/>
              <a:ea typeface="Corbel"/>
              <a:cs typeface="Corbel"/>
              <a:sym typeface="Corbe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6761c423f8_17_14"/>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446" name="Google Shape;446;g36761c423f8_17_14">
            <a:hlinkClick r:id="rId3"/>
          </p:cNvPr>
          <p:cNvPicPr preferRelativeResize="0"/>
          <p:nvPr/>
        </p:nvPicPr>
        <p:blipFill>
          <a:blip r:embed="rId4">
            <a:alphaModFix/>
          </a:blip>
          <a:stretch>
            <a:fillRect/>
          </a:stretch>
        </p:blipFill>
        <p:spPr>
          <a:xfrm>
            <a:off x="5894949" y="457200"/>
            <a:ext cx="5196300" cy="5812127"/>
          </a:xfrm>
          <a:prstGeom prst="rect">
            <a:avLst/>
          </a:prstGeom>
          <a:noFill/>
          <a:ln>
            <a:noFill/>
          </a:ln>
        </p:spPr>
      </p:pic>
      <p:sp>
        <p:nvSpPr>
          <p:cNvPr id="447" name="Google Shape;447;g36761c423f8_17_14"/>
          <p:cNvSpPr/>
          <p:nvPr/>
        </p:nvSpPr>
        <p:spPr>
          <a:xfrm>
            <a:off x="605450" y="2299600"/>
            <a:ext cx="4381200" cy="793800"/>
          </a:xfrm>
          <a:prstGeom prst="chevron">
            <a:avLst>
              <a:gd fmla="val 50000" name="adj"/>
            </a:avLst>
          </a:prstGeom>
          <a:solidFill>
            <a:srgbClr val="FD84C9"/>
          </a:solidFill>
          <a:ln cap="flat" cmpd="sng" w="9525">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448" name="Google Shape;448;g36761c423f8_17_14"/>
          <p:cNvSpPr/>
          <p:nvPr/>
        </p:nvSpPr>
        <p:spPr>
          <a:xfrm>
            <a:off x="605461" y="2158925"/>
            <a:ext cx="4381200" cy="793800"/>
          </a:xfrm>
          <a:prstGeom prst="chevron">
            <a:avLst>
              <a:gd fmla="val 50000" name="adj"/>
            </a:avLst>
          </a:prstGeom>
          <a:solidFill>
            <a:schemeClr val="lt1"/>
          </a:solidFill>
          <a:ln cap="flat" cmpd="sng" w="19050">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a:t>
            </a:r>
            <a:r>
              <a:rPr b="1" lang="en-GB">
                <a:solidFill>
                  <a:schemeClr val="dk1"/>
                </a:solidFill>
                <a:latin typeface="Corbel"/>
                <a:ea typeface="Corbel"/>
                <a:cs typeface="Corbel"/>
                <a:sym typeface="Corbel"/>
              </a:rPr>
              <a:t>Correlation analysis using Heatmaps</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67550e999e_0_0"/>
          <p:cNvSpPr txBox="1"/>
          <p:nvPr>
            <p:ph type="title"/>
          </p:nvPr>
        </p:nvSpPr>
        <p:spPr>
          <a:xfrm>
            <a:off x="457200" y="371700"/>
            <a:ext cx="10360200" cy="486300"/>
          </a:xfrm>
          <a:prstGeom prst="rect">
            <a:avLst/>
          </a:prstGeom>
        </p:spPr>
        <p:txBody>
          <a:bodyPr anchorCtr="0" anchor="b" bIns="45700" lIns="91425" spcFirstLastPara="1" rIns="91425" wrap="square" tIns="45700">
            <a:normAutofit fontScale="90000"/>
          </a:bodyPr>
          <a:lstStyle/>
          <a:p>
            <a:pPr indent="0" lvl="0" marL="0" rtl="0" algn="just">
              <a:lnSpc>
                <a:spcPct val="115000"/>
              </a:lnSpc>
              <a:spcBef>
                <a:spcPts val="0"/>
              </a:spcBef>
              <a:spcAft>
                <a:spcPts val="0"/>
              </a:spcAft>
              <a:buClr>
                <a:schemeClr val="dk1"/>
              </a:buClr>
              <a:buSzPct val="73333"/>
              <a:buFont typeface="Arial"/>
              <a:buNone/>
            </a:pPr>
            <a:r>
              <a:t/>
            </a:r>
            <a:endParaRPr sz="1500" u="none">
              <a:latin typeface="Times New Roman"/>
              <a:ea typeface="Times New Roman"/>
              <a:cs typeface="Times New Roman"/>
              <a:sym typeface="Times New Roman"/>
            </a:endParaRPr>
          </a:p>
          <a:p>
            <a:pPr indent="0" lvl="0" marL="0" rtl="0" algn="l">
              <a:spcBef>
                <a:spcPts val="0"/>
              </a:spcBef>
              <a:spcAft>
                <a:spcPts val="0"/>
              </a:spcAft>
              <a:buNone/>
            </a:pPr>
            <a:r>
              <a:rPr lang="en-GB" sz="2133"/>
              <a:t>SPATIAL DISTRIBUTION OF SEASONAL AVERAGE AIR POLLUTANTS CONCENTRATIONS</a:t>
            </a:r>
            <a:endParaRPr sz="2133"/>
          </a:p>
        </p:txBody>
      </p:sp>
      <p:sp>
        <p:nvSpPr>
          <p:cNvPr id="455" name="Google Shape;455;g367550e999e_0_0"/>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456" name="Google Shape;456;g367550e999e_0_0"/>
          <p:cNvPicPr preferRelativeResize="0"/>
          <p:nvPr/>
        </p:nvPicPr>
        <p:blipFill rotWithShape="1">
          <a:blip r:embed="rId3">
            <a:alphaModFix/>
          </a:blip>
          <a:srcRect b="0" l="0" r="0" t="9214"/>
          <a:stretch/>
        </p:blipFill>
        <p:spPr>
          <a:xfrm>
            <a:off x="1584388" y="966475"/>
            <a:ext cx="8995325" cy="2527600"/>
          </a:xfrm>
          <a:prstGeom prst="rect">
            <a:avLst/>
          </a:prstGeom>
          <a:noFill/>
          <a:ln>
            <a:noFill/>
          </a:ln>
        </p:spPr>
      </p:pic>
      <p:sp>
        <p:nvSpPr>
          <p:cNvPr id="457" name="Google Shape;457;g367550e999e_0_0"/>
          <p:cNvSpPr txBox="1"/>
          <p:nvPr/>
        </p:nvSpPr>
        <p:spPr>
          <a:xfrm>
            <a:off x="966450" y="3602425"/>
            <a:ext cx="10231200" cy="2856000"/>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120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An elevation gradient in PM2.5 concentrations is observed during monsoon months, with higher concentrations recorded at elevated sites relative to mid-elevation locations. </a:t>
            </a:r>
            <a:endParaRPr>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120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This could be explained by enhanced biogenic volatile organic compound (BVOC) emissions from alpine vegetation at higher elevations during monsoon, which undergo aqueous-phase oxidation in cloud droplets to form secondary organic aerosols (SOAs) .</a:t>
            </a:r>
            <a:endParaRPr>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120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These secondary organic aerosols, containing both sulfate and organic components, represent up to 40% of total PM₂.₅ mass at 3,000 m altitude during monsoon periods.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6761c423f8_0_0"/>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464" name="Google Shape;464;g36761c423f8_0_0">
            <a:hlinkClick r:id="rId3"/>
          </p:cNvPr>
          <p:cNvPicPr preferRelativeResize="0"/>
          <p:nvPr/>
        </p:nvPicPr>
        <p:blipFill>
          <a:blip r:embed="rId4">
            <a:alphaModFix/>
          </a:blip>
          <a:stretch>
            <a:fillRect/>
          </a:stretch>
        </p:blipFill>
        <p:spPr>
          <a:xfrm>
            <a:off x="5934173" y="363450"/>
            <a:ext cx="5203550" cy="5943598"/>
          </a:xfrm>
          <a:prstGeom prst="rect">
            <a:avLst/>
          </a:prstGeom>
          <a:noFill/>
          <a:ln>
            <a:noFill/>
          </a:ln>
        </p:spPr>
      </p:pic>
      <p:sp>
        <p:nvSpPr>
          <p:cNvPr id="465" name="Google Shape;465;g36761c423f8_0_0"/>
          <p:cNvSpPr/>
          <p:nvPr/>
        </p:nvSpPr>
        <p:spPr>
          <a:xfrm>
            <a:off x="605450" y="2299600"/>
            <a:ext cx="4381200" cy="793800"/>
          </a:xfrm>
          <a:prstGeom prst="chevron">
            <a:avLst>
              <a:gd fmla="val 50000" name="adj"/>
            </a:avLst>
          </a:prstGeom>
          <a:solidFill>
            <a:srgbClr val="FD84C9"/>
          </a:solidFill>
          <a:ln cap="flat" cmpd="sng" w="9525">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466" name="Google Shape;466;g36761c423f8_0_0"/>
          <p:cNvSpPr/>
          <p:nvPr/>
        </p:nvSpPr>
        <p:spPr>
          <a:xfrm>
            <a:off x="605461" y="2158925"/>
            <a:ext cx="4381200" cy="793800"/>
          </a:xfrm>
          <a:prstGeom prst="chevron">
            <a:avLst>
              <a:gd fmla="val 50000" name="adj"/>
            </a:avLst>
          </a:prstGeom>
          <a:solidFill>
            <a:schemeClr val="lt1"/>
          </a:solidFill>
          <a:ln cap="flat" cmpd="sng" w="19050">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S</a:t>
            </a:r>
            <a:r>
              <a:rPr b="1" lang="en-GB">
                <a:solidFill>
                  <a:schemeClr val="dk1"/>
                </a:solidFill>
                <a:latin typeface="Corbel"/>
                <a:ea typeface="Corbel"/>
                <a:cs typeface="Corbel"/>
                <a:sym typeface="Corbel"/>
              </a:rPr>
              <a:t>patial</a:t>
            </a:r>
            <a:r>
              <a:rPr b="1" i="0" lang="en-GB" sz="1400" u="none" cap="none" strike="noStrike">
                <a:solidFill>
                  <a:schemeClr val="dk1"/>
                </a:solidFill>
                <a:latin typeface="Corbel"/>
                <a:ea typeface="Corbel"/>
                <a:cs typeface="Corbel"/>
                <a:sym typeface="Corbel"/>
              </a:rPr>
              <a:t> Plot Analysis of PM2.5 Concentrations </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67550e999e_0_9"/>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473" name="Google Shape;473;g367550e999e_0_9"/>
          <p:cNvPicPr preferRelativeResize="0"/>
          <p:nvPr/>
        </p:nvPicPr>
        <p:blipFill rotWithShape="1">
          <a:blip r:embed="rId3">
            <a:alphaModFix/>
          </a:blip>
          <a:srcRect b="0" l="0" r="0" t="5784"/>
          <a:stretch/>
        </p:blipFill>
        <p:spPr>
          <a:xfrm>
            <a:off x="1979350" y="457200"/>
            <a:ext cx="8675950" cy="2668352"/>
          </a:xfrm>
          <a:prstGeom prst="rect">
            <a:avLst/>
          </a:prstGeom>
          <a:noFill/>
          <a:ln>
            <a:noFill/>
          </a:ln>
        </p:spPr>
      </p:pic>
      <p:sp>
        <p:nvSpPr>
          <p:cNvPr id="474" name="Google Shape;474;g367550e999e_0_9"/>
          <p:cNvSpPr txBox="1"/>
          <p:nvPr/>
        </p:nvSpPr>
        <p:spPr>
          <a:xfrm>
            <a:off x="1105825" y="3354650"/>
            <a:ext cx="10171800" cy="30462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120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PM₁₀ distribution during winter months, with concentrations decreasing systematically from lower elevations (highest) through mid-elevations (moderate) to higher elevations (lowest).</a:t>
            </a:r>
            <a:endParaRPr sz="15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120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This can be explained as the influence of stable atmospheric conditions and low mixing heights that trap coarse particles near the surface.</a:t>
            </a:r>
            <a:endParaRPr sz="15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120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Also in winters , there is minimum rainfall occur, so there is not washout of PM10 takes place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6761c423f8_17_4"/>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481" name="Google Shape;481;g36761c423f8_17_4">
            <a:hlinkClick r:id="rId3"/>
          </p:cNvPr>
          <p:cNvPicPr preferRelativeResize="0"/>
          <p:nvPr/>
        </p:nvPicPr>
        <p:blipFill>
          <a:blip r:embed="rId4">
            <a:alphaModFix/>
          </a:blip>
          <a:stretch>
            <a:fillRect/>
          </a:stretch>
        </p:blipFill>
        <p:spPr>
          <a:xfrm>
            <a:off x="6798225" y="224125"/>
            <a:ext cx="3626024" cy="6219249"/>
          </a:xfrm>
          <a:prstGeom prst="rect">
            <a:avLst/>
          </a:prstGeom>
          <a:noFill/>
          <a:ln>
            <a:noFill/>
          </a:ln>
        </p:spPr>
      </p:pic>
      <p:sp>
        <p:nvSpPr>
          <p:cNvPr id="482" name="Google Shape;482;g36761c423f8_17_4"/>
          <p:cNvSpPr/>
          <p:nvPr/>
        </p:nvSpPr>
        <p:spPr>
          <a:xfrm>
            <a:off x="605450" y="2299600"/>
            <a:ext cx="4381200" cy="793800"/>
          </a:xfrm>
          <a:prstGeom prst="chevron">
            <a:avLst>
              <a:gd fmla="val 50000" name="adj"/>
            </a:avLst>
          </a:prstGeom>
          <a:solidFill>
            <a:srgbClr val="FD84C9"/>
          </a:solidFill>
          <a:ln cap="flat" cmpd="sng" w="9525">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483" name="Google Shape;483;g36761c423f8_17_4"/>
          <p:cNvSpPr/>
          <p:nvPr/>
        </p:nvSpPr>
        <p:spPr>
          <a:xfrm>
            <a:off x="605461" y="2158925"/>
            <a:ext cx="4381200" cy="793800"/>
          </a:xfrm>
          <a:prstGeom prst="chevron">
            <a:avLst>
              <a:gd fmla="val 50000" name="adj"/>
            </a:avLst>
          </a:prstGeom>
          <a:solidFill>
            <a:schemeClr val="lt1"/>
          </a:solidFill>
          <a:ln cap="flat" cmpd="sng" w="19050">
            <a:solidFill>
              <a:srgbClr val="FD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S</a:t>
            </a:r>
            <a:r>
              <a:rPr b="1" lang="en-GB">
                <a:solidFill>
                  <a:schemeClr val="dk1"/>
                </a:solidFill>
                <a:latin typeface="Corbel"/>
                <a:ea typeface="Corbel"/>
                <a:cs typeface="Corbel"/>
                <a:sym typeface="Corbel"/>
              </a:rPr>
              <a:t>patial</a:t>
            </a:r>
            <a:r>
              <a:rPr b="1" i="0" lang="en-GB" sz="1400" u="none" cap="none" strike="noStrike">
                <a:solidFill>
                  <a:schemeClr val="dk1"/>
                </a:solidFill>
                <a:latin typeface="Corbel"/>
                <a:ea typeface="Corbel"/>
                <a:cs typeface="Corbel"/>
                <a:sym typeface="Corbel"/>
              </a:rPr>
              <a:t> Plot Analysis of PM</a:t>
            </a:r>
            <a:r>
              <a:rPr b="1" lang="en-GB">
                <a:solidFill>
                  <a:schemeClr val="dk1"/>
                </a:solidFill>
                <a:latin typeface="Corbel"/>
                <a:ea typeface="Corbel"/>
                <a:cs typeface="Corbel"/>
                <a:sym typeface="Corbel"/>
              </a:rPr>
              <a:t>10</a:t>
            </a:r>
            <a:r>
              <a:rPr b="1" i="0" lang="en-GB" sz="1400" u="none" cap="none" strike="noStrike">
                <a:solidFill>
                  <a:schemeClr val="dk1"/>
                </a:solidFill>
                <a:latin typeface="Corbel"/>
                <a:ea typeface="Corbel"/>
                <a:cs typeface="Corbel"/>
                <a:sym typeface="Corbel"/>
              </a:rPr>
              <a:t> Concentrations </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6"/>
          <p:cNvSpPr txBox="1"/>
          <p:nvPr>
            <p:ph type="title"/>
          </p:nvPr>
        </p:nvSpPr>
        <p:spPr>
          <a:xfrm>
            <a:off x="548275" y="324600"/>
            <a:ext cx="105963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WIND ROSE DIAGRAM</a:t>
            </a:r>
            <a:endParaRPr/>
          </a:p>
        </p:txBody>
      </p:sp>
      <p:sp>
        <p:nvSpPr>
          <p:cNvPr id="490" name="Google Shape;490;p26"/>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491" name="Google Shape;491;p26"/>
          <p:cNvSpPr txBox="1"/>
          <p:nvPr>
            <p:ph idx="1" type="body"/>
          </p:nvPr>
        </p:nvSpPr>
        <p:spPr>
          <a:xfrm>
            <a:off x="548275" y="1764000"/>
            <a:ext cx="10788600" cy="4573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GB" sz="1900"/>
              <a:t>A wind rose is a circular diagram that graphically represents the frequency and direction of wind at a specific location. It's essentially a visual summary of how often wind blows from different directions.</a:t>
            </a:r>
            <a:endParaRPr sz="1900"/>
          </a:p>
          <a:p>
            <a:pPr indent="0" lvl="0" marL="0" rtl="0" algn="l">
              <a:lnSpc>
                <a:spcPct val="90000"/>
              </a:lnSpc>
              <a:spcBef>
                <a:spcPts val="1000"/>
              </a:spcBef>
              <a:spcAft>
                <a:spcPts val="0"/>
              </a:spcAft>
              <a:buSzPts val="1800"/>
              <a:buNone/>
            </a:pPr>
            <a:r>
              <a:t/>
            </a:r>
            <a:endParaRPr sz="1900"/>
          </a:p>
          <a:p>
            <a:pPr indent="0" lvl="0" marL="0" rtl="0" algn="l">
              <a:lnSpc>
                <a:spcPct val="90000"/>
              </a:lnSpc>
              <a:spcBef>
                <a:spcPts val="1000"/>
              </a:spcBef>
              <a:spcAft>
                <a:spcPts val="0"/>
              </a:spcAft>
              <a:buClr>
                <a:schemeClr val="dk1"/>
              </a:buClr>
              <a:buSzPts val="1100"/>
              <a:buFont typeface="Arial"/>
              <a:buNone/>
            </a:pPr>
            <a:r>
              <a:rPr b="1" lang="en-GB" sz="1600"/>
              <a:t>Key Components:</a:t>
            </a:r>
            <a:endParaRPr b="1" sz="1600"/>
          </a:p>
          <a:p>
            <a:pPr indent="0" lvl="0" marL="0" rtl="0" algn="l">
              <a:lnSpc>
                <a:spcPct val="115000"/>
              </a:lnSpc>
              <a:spcBef>
                <a:spcPts val="1200"/>
              </a:spcBef>
              <a:spcAft>
                <a:spcPts val="0"/>
              </a:spcAft>
              <a:buSzPts val="1800"/>
              <a:buNone/>
            </a:pPr>
            <a:r>
              <a:rPr b="1" lang="en-GB" sz="1600"/>
              <a:t>Circular Shape:</a:t>
            </a:r>
            <a:br>
              <a:rPr b="1" lang="en-GB" sz="1600"/>
            </a:br>
            <a:r>
              <a:rPr lang="en-GB" sz="1600"/>
              <a:t>The circle represents all possible wind directions. </a:t>
            </a:r>
            <a:endParaRPr sz="1600"/>
          </a:p>
          <a:p>
            <a:pPr indent="0" lvl="0" marL="0" rtl="0" algn="l">
              <a:lnSpc>
                <a:spcPct val="115000"/>
              </a:lnSpc>
              <a:spcBef>
                <a:spcPts val="1200"/>
              </a:spcBef>
              <a:spcAft>
                <a:spcPts val="0"/>
              </a:spcAft>
              <a:buClr>
                <a:schemeClr val="dk1"/>
              </a:buClr>
              <a:buSzPts val="1100"/>
              <a:buFont typeface="Arial"/>
              <a:buNone/>
            </a:pPr>
            <a:r>
              <a:rPr b="1" lang="en-GB" sz="1600"/>
              <a:t>Spoke Length:</a:t>
            </a:r>
            <a:br>
              <a:rPr b="1" lang="en-GB" sz="1600"/>
            </a:br>
            <a:r>
              <a:rPr lang="en-GB" sz="1600"/>
              <a:t>The length of each spoke indicates the percentage of time that wind blew from that particular direction. A longer spoke means the wind blew from that direction more frequently. </a:t>
            </a:r>
            <a:endParaRPr sz="1600"/>
          </a:p>
          <a:p>
            <a:pPr indent="0" lvl="0" marL="0" rtl="0" algn="l">
              <a:lnSpc>
                <a:spcPct val="90000"/>
              </a:lnSpc>
              <a:spcBef>
                <a:spcPts val="1000"/>
              </a:spcBef>
              <a:spcAft>
                <a:spcPts val="0"/>
              </a:spcAft>
              <a:buClr>
                <a:schemeClr val="dk1"/>
              </a:buClr>
              <a:buSzPts val="1100"/>
              <a:buFont typeface="Arial"/>
              <a:buNone/>
            </a:pPr>
            <a:r>
              <a:t/>
            </a:r>
            <a:endParaRPr sz="1600"/>
          </a:p>
          <a:p>
            <a:pPr indent="0" lvl="0" marL="0" rtl="0" algn="l">
              <a:lnSpc>
                <a:spcPct val="90000"/>
              </a:lnSpc>
              <a:spcBef>
                <a:spcPts val="1000"/>
              </a:spcBef>
              <a:spcAft>
                <a:spcPts val="0"/>
              </a:spcAft>
              <a:buClr>
                <a:schemeClr val="dk1"/>
              </a:buClr>
              <a:buSzPts val="1100"/>
              <a:buFont typeface="Arial"/>
              <a:buNone/>
            </a:pPr>
            <a:r>
              <a:rPr b="1" lang="en-GB" sz="1600"/>
              <a:t>Colors or Shades:</a:t>
            </a:r>
            <a:endParaRPr b="1" sz="1600"/>
          </a:p>
          <a:p>
            <a:pPr indent="0" lvl="0" marL="0" rtl="0" algn="l">
              <a:lnSpc>
                <a:spcPct val="90000"/>
              </a:lnSpc>
              <a:spcBef>
                <a:spcPts val="1000"/>
              </a:spcBef>
              <a:spcAft>
                <a:spcPts val="0"/>
              </a:spcAft>
              <a:buClr>
                <a:schemeClr val="dk1"/>
              </a:buClr>
              <a:buSzPts val="1100"/>
              <a:buFont typeface="Arial"/>
              <a:buNone/>
            </a:pPr>
            <a:r>
              <a:rPr lang="en-GB" sz="1600"/>
              <a:t>C</a:t>
            </a:r>
            <a:r>
              <a:rPr lang="en-GB" sz="1600"/>
              <a:t>olors or shades along the spokes are used to represent wind speed categories, further enhancing the information provided.</a:t>
            </a:r>
            <a:endParaRPr sz="1600"/>
          </a:p>
          <a:p>
            <a:pPr indent="0" lvl="0" marL="0" rtl="0" algn="l">
              <a:lnSpc>
                <a:spcPct val="90000"/>
              </a:lnSpc>
              <a:spcBef>
                <a:spcPts val="1000"/>
              </a:spcBef>
              <a:spcAft>
                <a:spcPts val="0"/>
              </a:spcAft>
              <a:buClr>
                <a:schemeClr val="dk1"/>
              </a:buClr>
              <a:buSzPts val="1100"/>
              <a:buFont typeface="Arial"/>
              <a:buNone/>
            </a:pPr>
            <a:r>
              <a:t/>
            </a:r>
            <a:endParaRPr sz="1500">
              <a:latin typeface="Arial"/>
              <a:ea typeface="Arial"/>
              <a:cs typeface="Arial"/>
              <a:sym typeface="Arial"/>
            </a:endParaRPr>
          </a:p>
          <a:p>
            <a:pPr indent="0" lvl="0" marL="0" rtl="0" algn="l">
              <a:lnSpc>
                <a:spcPct val="90000"/>
              </a:lnSpc>
              <a:spcBef>
                <a:spcPts val="1000"/>
              </a:spcBef>
              <a:spcAft>
                <a:spcPts val="0"/>
              </a:spcAft>
              <a:buSzPts val="1800"/>
              <a:buNone/>
            </a:pPr>
            <a:r>
              <a:t/>
            </a:r>
            <a:endParaRPr sz="2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7"/>
          <p:cNvSpPr txBox="1"/>
          <p:nvPr>
            <p:ph type="title"/>
          </p:nvPr>
        </p:nvSpPr>
        <p:spPr>
          <a:xfrm>
            <a:off x="914400" y="91440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HOW TO INTERPRET A WIND ROSE:</a:t>
            </a:r>
            <a:endParaRPr/>
          </a:p>
        </p:txBody>
      </p:sp>
      <p:sp>
        <p:nvSpPr>
          <p:cNvPr id="498" name="Google Shape;498;p27"/>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499" name="Google Shape;499;p27"/>
          <p:cNvSpPr txBox="1"/>
          <p:nvPr>
            <p:ph idx="1" type="body"/>
          </p:nvPr>
        </p:nvSpPr>
        <p:spPr>
          <a:xfrm>
            <a:off x="914400" y="2743200"/>
            <a:ext cx="10450500" cy="3163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GB" sz="1600">
                <a:latin typeface="Arial"/>
                <a:ea typeface="Arial"/>
                <a:cs typeface="Arial"/>
                <a:sym typeface="Arial"/>
              </a:rPr>
              <a:t>1. Identify Dominant Wind Directions:</a:t>
            </a:r>
            <a:endParaRPr b="1" sz="1600">
              <a:latin typeface="Arial"/>
              <a:ea typeface="Arial"/>
              <a:cs typeface="Arial"/>
              <a:sym typeface="Arial"/>
            </a:endParaRPr>
          </a:p>
          <a:p>
            <a:pPr indent="0" lvl="0" marL="0" rtl="0" algn="l">
              <a:lnSpc>
                <a:spcPct val="90000"/>
              </a:lnSpc>
              <a:spcBef>
                <a:spcPts val="1000"/>
              </a:spcBef>
              <a:spcAft>
                <a:spcPts val="0"/>
              </a:spcAft>
              <a:buSzPts val="1800"/>
              <a:buNone/>
            </a:pPr>
            <a:r>
              <a:rPr lang="en-GB" sz="1600">
                <a:latin typeface="Arial"/>
                <a:ea typeface="Arial"/>
                <a:cs typeface="Arial"/>
                <a:sym typeface="Arial"/>
              </a:rPr>
              <a:t>Look for the longest spokes. These indicate the directions from which wind blows most frequently.</a:t>
            </a:r>
            <a:endParaRPr sz="1600">
              <a:latin typeface="Arial"/>
              <a:ea typeface="Arial"/>
              <a:cs typeface="Arial"/>
              <a:sym typeface="Arial"/>
            </a:endParaRPr>
          </a:p>
          <a:p>
            <a:pPr indent="0" lvl="0" marL="0" rtl="0" algn="l">
              <a:lnSpc>
                <a:spcPct val="90000"/>
              </a:lnSpc>
              <a:spcBef>
                <a:spcPts val="1000"/>
              </a:spcBef>
              <a:spcAft>
                <a:spcPts val="0"/>
              </a:spcAft>
              <a:buSzPts val="1800"/>
              <a:buNone/>
            </a:pPr>
            <a:r>
              <a:rPr b="1" lang="en-GB" sz="1600">
                <a:latin typeface="Arial"/>
                <a:ea typeface="Arial"/>
                <a:cs typeface="Arial"/>
                <a:sym typeface="Arial"/>
              </a:rPr>
              <a:t>2. Consider Wind Speed:</a:t>
            </a:r>
            <a:endParaRPr b="1" sz="1600">
              <a:latin typeface="Arial"/>
              <a:ea typeface="Arial"/>
              <a:cs typeface="Arial"/>
              <a:sym typeface="Arial"/>
            </a:endParaRPr>
          </a:p>
          <a:p>
            <a:pPr indent="0" lvl="0" marL="0" rtl="0" algn="l">
              <a:lnSpc>
                <a:spcPct val="90000"/>
              </a:lnSpc>
              <a:spcBef>
                <a:spcPts val="1000"/>
              </a:spcBef>
              <a:spcAft>
                <a:spcPts val="0"/>
              </a:spcAft>
              <a:buSzPts val="1800"/>
              <a:buNone/>
            </a:pPr>
            <a:r>
              <a:rPr lang="en-GB" sz="1600">
                <a:latin typeface="Arial"/>
                <a:ea typeface="Arial"/>
                <a:cs typeface="Arial"/>
                <a:sym typeface="Arial"/>
              </a:rPr>
              <a:t>If wind speeds are represented, pay attention to the color or shading of the spokes to understand the typical wind speed for each direction</a:t>
            </a:r>
            <a:endParaRPr sz="1600">
              <a:latin typeface="Arial"/>
              <a:ea typeface="Arial"/>
              <a:cs typeface="Arial"/>
              <a:sym typeface="Arial"/>
            </a:endParaRPr>
          </a:p>
          <a:p>
            <a:pPr indent="0" lvl="0" marL="0" rtl="0" algn="l">
              <a:lnSpc>
                <a:spcPct val="90000"/>
              </a:lnSpc>
              <a:spcBef>
                <a:spcPts val="1000"/>
              </a:spcBef>
              <a:spcAft>
                <a:spcPts val="0"/>
              </a:spcAft>
              <a:buSzPts val="1800"/>
              <a:buNone/>
            </a:pPr>
            <a:r>
              <a:rPr b="1" lang="en-GB" sz="1600">
                <a:latin typeface="Arial"/>
                <a:ea typeface="Arial"/>
                <a:cs typeface="Arial"/>
                <a:sym typeface="Arial"/>
              </a:rPr>
              <a:t>3. Determine Calm Winds:</a:t>
            </a:r>
            <a:endParaRPr b="1" sz="1600">
              <a:latin typeface="Arial"/>
              <a:ea typeface="Arial"/>
              <a:cs typeface="Arial"/>
              <a:sym typeface="Arial"/>
            </a:endParaRPr>
          </a:p>
          <a:p>
            <a:pPr indent="0" lvl="0" marL="0" rtl="0" algn="l">
              <a:lnSpc>
                <a:spcPct val="90000"/>
              </a:lnSpc>
              <a:spcBef>
                <a:spcPts val="1000"/>
              </a:spcBef>
              <a:spcAft>
                <a:spcPts val="0"/>
              </a:spcAft>
              <a:buSzPts val="1800"/>
              <a:buNone/>
            </a:pPr>
            <a:r>
              <a:rPr lang="en-GB" sz="1600">
                <a:latin typeface="Arial"/>
                <a:ea typeface="Arial"/>
                <a:cs typeface="Arial"/>
                <a:sym typeface="Arial"/>
              </a:rPr>
              <a:t>A small spoke near the center often indicates calm winds (no wind or very light winds)</a:t>
            </a:r>
            <a:endParaRPr sz="23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8"/>
          <p:cNvSpPr txBox="1"/>
          <p:nvPr>
            <p:ph type="title"/>
          </p:nvPr>
        </p:nvSpPr>
        <p:spPr>
          <a:xfrm>
            <a:off x="306625" y="223950"/>
            <a:ext cx="11322600" cy="690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1800"/>
              <a:buNone/>
            </a:pPr>
            <a:r>
              <a:rPr lang="en-GB" sz="2500" u="none">
                <a:latin typeface="Arial"/>
                <a:ea typeface="Arial"/>
                <a:cs typeface="Arial"/>
                <a:sym typeface="Arial"/>
              </a:rPr>
              <a:t>🧭 </a:t>
            </a:r>
            <a:r>
              <a:rPr b="1" lang="en-GB" sz="2500" u="none">
                <a:latin typeface="Arial"/>
                <a:ea typeface="Arial"/>
                <a:cs typeface="Arial"/>
                <a:sym typeface="Arial"/>
              </a:rPr>
              <a:t>GEOGRAPHICAL ORIENTATION OF THE NORTHWEST HIMALAYAS:</a:t>
            </a:r>
            <a:endParaRPr sz="5000"/>
          </a:p>
        </p:txBody>
      </p:sp>
      <p:sp>
        <p:nvSpPr>
          <p:cNvPr id="506" name="Google Shape;506;p28"/>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pic>
        <p:nvPicPr>
          <p:cNvPr id="507" name="Google Shape;507;p28"/>
          <p:cNvPicPr preferRelativeResize="0"/>
          <p:nvPr/>
        </p:nvPicPr>
        <p:blipFill>
          <a:blip r:embed="rId3">
            <a:alphaModFix/>
          </a:blip>
          <a:stretch>
            <a:fillRect/>
          </a:stretch>
        </p:blipFill>
        <p:spPr>
          <a:xfrm>
            <a:off x="7950500" y="1421775"/>
            <a:ext cx="3905100" cy="4204950"/>
          </a:xfrm>
          <a:prstGeom prst="rect">
            <a:avLst/>
          </a:prstGeom>
          <a:noFill/>
          <a:ln>
            <a:noFill/>
          </a:ln>
        </p:spPr>
      </p:pic>
      <p:sp>
        <p:nvSpPr>
          <p:cNvPr id="508" name="Google Shape;508;p28"/>
          <p:cNvSpPr txBox="1"/>
          <p:nvPr/>
        </p:nvSpPr>
        <p:spPr>
          <a:xfrm>
            <a:off x="659775" y="1356725"/>
            <a:ext cx="6662700" cy="4811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Times New Roman"/>
              <a:buChar char="●"/>
            </a:pPr>
            <a:r>
              <a:rPr lang="en-GB" sz="1600">
                <a:solidFill>
                  <a:schemeClr val="dk1"/>
                </a:solidFill>
                <a:latin typeface="Corbel"/>
                <a:ea typeface="Corbel"/>
                <a:cs typeface="Corbel"/>
                <a:sym typeface="Corbel"/>
              </a:rPr>
              <a:t>The image shows a map of India with an overlaid </a:t>
            </a:r>
            <a:r>
              <a:rPr b="1" lang="en-GB" sz="1600">
                <a:solidFill>
                  <a:schemeClr val="dk1"/>
                </a:solidFill>
                <a:latin typeface="Corbel"/>
                <a:ea typeface="Corbel"/>
                <a:cs typeface="Corbel"/>
                <a:sym typeface="Corbel"/>
              </a:rPr>
              <a:t>32-point compass rose</a:t>
            </a:r>
            <a:r>
              <a:rPr lang="en-GB" sz="1600">
                <a:solidFill>
                  <a:schemeClr val="dk1"/>
                </a:solidFill>
                <a:latin typeface="Corbel"/>
                <a:ea typeface="Corbel"/>
                <a:cs typeface="Corbel"/>
                <a:sym typeface="Corbel"/>
              </a:rPr>
              <a:t>, which includes all major and intermediate directions (e.g., N, NE, ESE, SW). This directional overlay is essential for understanding the </a:t>
            </a:r>
            <a:r>
              <a:rPr b="1" lang="en-GB" sz="1600">
                <a:solidFill>
                  <a:schemeClr val="dk1"/>
                </a:solidFill>
                <a:latin typeface="Corbel"/>
                <a:ea typeface="Corbel"/>
                <a:cs typeface="Corbel"/>
                <a:sym typeface="Corbel"/>
              </a:rPr>
              <a:t>geographical orientation of the Indo-Gangetic Plain (IGP)</a:t>
            </a:r>
            <a:r>
              <a:rPr lang="en-GB" sz="1600">
                <a:solidFill>
                  <a:schemeClr val="dk1"/>
                </a:solidFill>
                <a:latin typeface="Corbel"/>
                <a:ea typeface="Corbel"/>
                <a:cs typeface="Corbel"/>
                <a:sym typeface="Corbel"/>
              </a:rPr>
              <a:t> and analyzing environmental or atmospheric data with respect to wind direction.</a:t>
            </a:r>
            <a:endParaRPr sz="1600">
              <a:solidFill>
                <a:schemeClr val="dk1"/>
              </a:solidFill>
              <a:latin typeface="Corbel"/>
              <a:ea typeface="Corbel"/>
              <a:cs typeface="Corbel"/>
              <a:sym typeface="Corbel"/>
            </a:endParaRPr>
          </a:p>
          <a:p>
            <a:pPr indent="0" lvl="0" marL="457200" rtl="0" algn="l">
              <a:spcBef>
                <a:spcPts val="0"/>
              </a:spcBef>
              <a:spcAft>
                <a:spcPts val="0"/>
              </a:spcAft>
              <a:buNone/>
            </a:pPr>
            <a:r>
              <a:t/>
            </a:r>
            <a:endParaRPr sz="1600">
              <a:solidFill>
                <a:schemeClr val="dk1"/>
              </a:solidFill>
              <a:latin typeface="Corbel"/>
              <a:ea typeface="Corbel"/>
              <a:cs typeface="Corbel"/>
              <a:sym typeface="Corbel"/>
            </a:endParaRPr>
          </a:p>
          <a:p>
            <a:pPr indent="0" lvl="0" marL="457200" rtl="0" algn="l">
              <a:spcBef>
                <a:spcPts val="0"/>
              </a:spcBef>
              <a:spcAft>
                <a:spcPts val="0"/>
              </a:spcAft>
              <a:buNone/>
            </a:pPr>
            <a:r>
              <a:t/>
            </a:r>
            <a:endParaRPr sz="16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Times New Roman"/>
              <a:buChar char="●"/>
            </a:pPr>
            <a:r>
              <a:rPr lang="en-GB" sz="1700">
                <a:solidFill>
                  <a:schemeClr val="dk1"/>
                </a:solidFill>
                <a:latin typeface="Corbel"/>
                <a:ea typeface="Corbel"/>
                <a:cs typeface="Corbel"/>
                <a:sym typeface="Corbel"/>
              </a:rPr>
              <a:t>The </a:t>
            </a:r>
            <a:r>
              <a:rPr b="1" lang="en-GB" sz="1700">
                <a:solidFill>
                  <a:schemeClr val="dk1"/>
                </a:solidFill>
                <a:latin typeface="Corbel"/>
                <a:ea typeface="Corbel"/>
                <a:cs typeface="Corbel"/>
                <a:sym typeface="Corbel"/>
              </a:rPr>
              <a:t>compass rose</a:t>
            </a:r>
            <a:r>
              <a:rPr lang="en-GB" sz="1700">
                <a:solidFill>
                  <a:schemeClr val="dk1"/>
                </a:solidFill>
                <a:latin typeface="Corbel"/>
                <a:ea typeface="Corbel"/>
                <a:cs typeface="Corbel"/>
                <a:sym typeface="Corbel"/>
              </a:rPr>
              <a:t> helps accurately determine the direction of wind flow and pollutant transport across this region.</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7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Times New Roman"/>
              <a:buChar char="●"/>
            </a:pPr>
            <a:r>
              <a:rPr lang="en-GB" sz="1700">
                <a:solidFill>
                  <a:schemeClr val="dk1"/>
                </a:solidFill>
                <a:latin typeface="Corbel"/>
                <a:ea typeface="Corbel"/>
                <a:cs typeface="Corbel"/>
                <a:sym typeface="Corbel"/>
              </a:rPr>
              <a:t>For example, if data shows winds blowing from the </a:t>
            </a:r>
            <a:r>
              <a:rPr b="1" lang="en-GB" sz="1700">
                <a:solidFill>
                  <a:schemeClr val="dk1"/>
                </a:solidFill>
                <a:latin typeface="Corbel"/>
                <a:ea typeface="Corbel"/>
                <a:cs typeface="Corbel"/>
                <a:sym typeface="Corbel"/>
              </a:rPr>
              <a:t>West-Southwest (WSW)</a:t>
            </a:r>
            <a:r>
              <a:rPr lang="en-GB" sz="1700">
                <a:solidFill>
                  <a:schemeClr val="dk1"/>
                </a:solidFill>
                <a:latin typeface="Corbel"/>
                <a:ea typeface="Corbel"/>
                <a:cs typeface="Corbel"/>
                <a:sym typeface="Corbel"/>
              </a:rPr>
              <a:t> direction, this indicates that air masses may be </a:t>
            </a:r>
            <a:r>
              <a:rPr b="1" lang="en-GB" sz="1700">
                <a:solidFill>
                  <a:schemeClr val="dk1"/>
                </a:solidFill>
                <a:latin typeface="Corbel"/>
                <a:ea typeface="Corbel"/>
                <a:cs typeface="Corbel"/>
                <a:sym typeface="Corbel"/>
              </a:rPr>
              <a:t>originating from the Thar Desert region in Rajasthan.</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600">
              <a:solidFill>
                <a:schemeClr val="dk1"/>
              </a:solidFill>
              <a:latin typeface="Corbel"/>
              <a:ea typeface="Corbel"/>
              <a:cs typeface="Corbel"/>
              <a:sym typeface="Corbe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6761c423f8_52_0"/>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515" name="Google Shape;515;g36761c423f8_52_0"/>
          <p:cNvPicPr preferRelativeResize="0"/>
          <p:nvPr/>
        </p:nvPicPr>
        <p:blipFill>
          <a:blip r:embed="rId3">
            <a:alphaModFix/>
          </a:blip>
          <a:stretch>
            <a:fillRect/>
          </a:stretch>
        </p:blipFill>
        <p:spPr>
          <a:xfrm>
            <a:off x="6272550" y="260175"/>
            <a:ext cx="5073801" cy="5919451"/>
          </a:xfrm>
          <a:prstGeom prst="rect">
            <a:avLst/>
          </a:prstGeom>
          <a:noFill/>
          <a:ln>
            <a:noFill/>
          </a:ln>
        </p:spPr>
      </p:pic>
      <p:pic>
        <p:nvPicPr>
          <p:cNvPr id="516" name="Google Shape;516;g36761c423f8_52_0"/>
          <p:cNvPicPr preferRelativeResize="0"/>
          <p:nvPr/>
        </p:nvPicPr>
        <p:blipFill rotWithShape="1">
          <a:blip r:embed="rId4">
            <a:alphaModFix/>
          </a:blip>
          <a:srcRect b="7304" l="4800" r="7603" t="0"/>
          <a:stretch/>
        </p:blipFill>
        <p:spPr>
          <a:xfrm>
            <a:off x="8659350" y="1568075"/>
            <a:ext cx="1386050" cy="1466750"/>
          </a:xfrm>
          <a:prstGeom prst="rect">
            <a:avLst/>
          </a:prstGeom>
          <a:noFill/>
          <a:ln>
            <a:noFill/>
          </a:ln>
        </p:spPr>
      </p:pic>
      <p:sp>
        <p:nvSpPr>
          <p:cNvPr id="517" name="Google Shape;517;g36761c423f8_52_0"/>
          <p:cNvSpPr txBox="1"/>
          <p:nvPr/>
        </p:nvSpPr>
        <p:spPr>
          <a:xfrm>
            <a:off x="473925" y="381000"/>
            <a:ext cx="5445600" cy="57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Corbel"/>
              <a:ea typeface="Corbel"/>
              <a:cs typeface="Corbel"/>
              <a:sym typeface="Corbel"/>
            </a:endParaRPr>
          </a:p>
          <a:p>
            <a:pPr indent="0" lvl="0" marL="0" rtl="0" algn="l">
              <a:spcBef>
                <a:spcPts val="0"/>
              </a:spcBef>
              <a:spcAft>
                <a:spcPts val="0"/>
              </a:spcAft>
              <a:buNone/>
            </a:pPr>
            <a:r>
              <a:t/>
            </a:r>
            <a:endParaRPr sz="1800">
              <a:solidFill>
                <a:schemeClr val="dk1"/>
              </a:solidFill>
              <a:latin typeface="Corbel"/>
              <a:ea typeface="Corbel"/>
              <a:cs typeface="Corbel"/>
              <a:sym typeface="Corbel"/>
            </a:endParaRPr>
          </a:p>
          <a:p>
            <a:pPr indent="0" lvl="0" marL="0" rtl="0" algn="l">
              <a:spcBef>
                <a:spcPts val="0"/>
              </a:spcBef>
              <a:spcAft>
                <a:spcPts val="0"/>
              </a:spcAft>
              <a:buNone/>
            </a:pPr>
            <a:r>
              <a:rPr lang="en-GB" sz="1800">
                <a:solidFill>
                  <a:schemeClr val="dk1"/>
                </a:solidFill>
                <a:latin typeface="Corbel"/>
                <a:ea typeface="Corbel"/>
                <a:cs typeface="Corbel"/>
                <a:sym typeface="Corbel"/>
              </a:rPr>
              <a:t>Jammu &amp; Kashmir lies to the northwest, Himachal Pradesh to the west-southwest, and Uttarakhand to the southwest of the Northwest Himalayan region.</a:t>
            </a:r>
            <a:endParaRPr sz="1800">
              <a:solidFill>
                <a:schemeClr val="dk1"/>
              </a:solidFill>
              <a:latin typeface="Corbel"/>
              <a:ea typeface="Corbel"/>
              <a:cs typeface="Corbel"/>
              <a:sym typeface="Corbel"/>
            </a:endParaRPr>
          </a:p>
          <a:p>
            <a:pPr indent="0" lvl="0" marL="0" rtl="0" algn="l">
              <a:spcBef>
                <a:spcPts val="0"/>
              </a:spcBef>
              <a:spcAft>
                <a:spcPts val="0"/>
              </a:spcAft>
              <a:buNone/>
            </a:pPr>
            <a:r>
              <a:t/>
            </a:r>
            <a:endParaRPr sz="1800">
              <a:solidFill>
                <a:schemeClr val="dk1"/>
              </a:solidFill>
              <a:latin typeface="Corbel"/>
              <a:ea typeface="Corbel"/>
              <a:cs typeface="Corbel"/>
              <a:sym typeface="Corbel"/>
            </a:endParaRPr>
          </a:p>
          <a:p>
            <a:pPr indent="0" lvl="0" marL="0" rtl="0" algn="l">
              <a:spcBef>
                <a:spcPts val="0"/>
              </a:spcBef>
              <a:spcAft>
                <a:spcPts val="0"/>
              </a:spcAft>
              <a:buNone/>
            </a:pPr>
            <a:r>
              <a:rPr b="1" lang="en-GB" sz="1800">
                <a:solidFill>
                  <a:schemeClr val="dk1"/>
                </a:solidFill>
                <a:latin typeface="Corbel"/>
                <a:ea typeface="Corbel"/>
                <a:cs typeface="Corbel"/>
                <a:sym typeface="Corbel"/>
              </a:rPr>
              <a:t>IGP BELT :</a:t>
            </a:r>
            <a:endParaRPr b="1" sz="1800">
              <a:solidFill>
                <a:schemeClr val="dk1"/>
              </a:solidFill>
              <a:latin typeface="Corbel"/>
              <a:ea typeface="Corbel"/>
              <a:cs typeface="Corbel"/>
              <a:sym typeface="Corbel"/>
            </a:endParaRPr>
          </a:p>
          <a:p>
            <a:pPr indent="0" lvl="0" marL="0" rtl="0" algn="l">
              <a:spcBef>
                <a:spcPts val="0"/>
              </a:spcBef>
              <a:spcAft>
                <a:spcPts val="0"/>
              </a:spcAft>
              <a:buNone/>
            </a:pPr>
            <a:r>
              <a:rPr lang="en-GB" sz="1800">
                <a:solidFill>
                  <a:schemeClr val="dk1"/>
                </a:solidFill>
                <a:latin typeface="Corbel"/>
                <a:ea typeface="Corbel"/>
                <a:cs typeface="Corbel"/>
                <a:sym typeface="Corbel"/>
              </a:rPr>
              <a:t>Punjab is to the west , Haryana to the west-southwest, Delhi to the southwest, western Uttar Pradesh to the south, Bihar to the southeast, and West Bengal to the far southeast of the Northwest Himalayas.</a:t>
            </a:r>
            <a:endParaRPr sz="1800">
              <a:solidFill>
                <a:schemeClr val="dk1"/>
              </a:solidFill>
              <a:latin typeface="Corbel"/>
              <a:ea typeface="Corbel"/>
              <a:cs typeface="Corbel"/>
              <a:sym typeface="Corbel"/>
            </a:endParaRPr>
          </a:p>
          <a:p>
            <a:pPr indent="0" lvl="0" marL="0" rtl="0" algn="l">
              <a:spcBef>
                <a:spcPts val="0"/>
              </a:spcBef>
              <a:spcAft>
                <a:spcPts val="0"/>
              </a:spcAft>
              <a:buNone/>
            </a:pPr>
            <a:r>
              <a:t/>
            </a:r>
            <a:endParaRPr sz="1800">
              <a:solidFill>
                <a:schemeClr val="dk1"/>
              </a:solidFill>
              <a:latin typeface="Corbel"/>
              <a:ea typeface="Corbel"/>
              <a:cs typeface="Corbel"/>
              <a:sym typeface="Corbel"/>
            </a:endParaRPr>
          </a:p>
          <a:p>
            <a:pPr indent="0" lvl="0" marL="0" rtl="0" algn="l">
              <a:spcBef>
                <a:spcPts val="0"/>
              </a:spcBef>
              <a:spcAft>
                <a:spcPts val="0"/>
              </a:spcAft>
              <a:buNone/>
            </a:pPr>
            <a:r>
              <a:rPr lang="en-GB" sz="1800">
                <a:solidFill>
                  <a:schemeClr val="dk1"/>
                </a:solidFill>
                <a:latin typeface="Corbel"/>
                <a:ea typeface="Corbel"/>
                <a:cs typeface="Corbel"/>
                <a:sym typeface="Corbel"/>
              </a:rPr>
              <a:t>So, primarily, the </a:t>
            </a:r>
            <a:r>
              <a:rPr b="1" lang="en-GB" sz="1800">
                <a:solidFill>
                  <a:schemeClr val="dk1"/>
                </a:solidFill>
                <a:latin typeface="Corbel"/>
                <a:ea typeface="Corbel"/>
                <a:cs typeface="Corbel"/>
                <a:sym typeface="Corbel"/>
              </a:rPr>
              <a:t>Indo-Gangetic Plain (IGP) lies </a:t>
            </a:r>
            <a:r>
              <a:rPr lang="en-GB" sz="1800">
                <a:solidFill>
                  <a:schemeClr val="dk1"/>
                </a:solidFill>
                <a:latin typeface="Corbel"/>
                <a:ea typeface="Corbel"/>
                <a:cs typeface="Corbel"/>
                <a:sym typeface="Corbel"/>
              </a:rPr>
              <a:t>to the </a:t>
            </a:r>
            <a:r>
              <a:rPr b="1" lang="en-GB" sz="1800">
                <a:solidFill>
                  <a:schemeClr val="dk1"/>
                </a:solidFill>
                <a:latin typeface="Corbel"/>
                <a:ea typeface="Corbel"/>
                <a:cs typeface="Corbel"/>
                <a:sym typeface="Corbel"/>
              </a:rPr>
              <a:t>south and southeast</a:t>
            </a:r>
            <a:r>
              <a:rPr lang="en-GB" sz="1800">
                <a:solidFill>
                  <a:schemeClr val="dk1"/>
                </a:solidFill>
                <a:latin typeface="Corbel"/>
                <a:ea typeface="Corbel"/>
                <a:cs typeface="Corbel"/>
                <a:sym typeface="Corbel"/>
              </a:rPr>
              <a:t> of the Northwest Himalayan (NWH) region.</a:t>
            </a:r>
            <a:endParaRPr sz="2500">
              <a:solidFill>
                <a:schemeClr val="dk1"/>
              </a:solidFill>
              <a:latin typeface="Corbel"/>
              <a:ea typeface="Corbel"/>
              <a:cs typeface="Corbel"/>
              <a:sym typeface="Corbe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6761c423f8_17_24"/>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524" name="Google Shape;524;g36761c423f8_17_24"/>
          <p:cNvPicPr preferRelativeResize="0"/>
          <p:nvPr/>
        </p:nvPicPr>
        <p:blipFill>
          <a:blip r:embed="rId3">
            <a:alphaModFix/>
          </a:blip>
          <a:stretch>
            <a:fillRect/>
          </a:stretch>
        </p:blipFill>
        <p:spPr>
          <a:xfrm>
            <a:off x="6712200" y="914400"/>
            <a:ext cx="4652974" cy="4576475"/>
          </a:xfrm>
          <a:prstGeom prst="rect">
            <a:avLst/>
          </a:prstGeom>
          <a:noFill/>
          <a:ln>
            <a:noFill/>
          </a:ln>
        </p:spPr>
      </p:pic>
      <p:sp>
        <p:nvSpPr>
          <p:cNvPr id="525" name="Google Shape;525;g36761c423f8_17_24"/>
          <p:cNvSpPr txBox="1"/>
          <p:nvPr/>
        </p:nvSpPr>
        <p:spPr>
          <a:xfrm>
            <a:off x="1195300" y="1372725"/>
            <a:ext cx="52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26" name="Google Shape;526;g36761c423f8_17_24"/>
          <p:cNvSpPr txBox="1"/>
          <p:nvPr/>
        </p:nvSpPr>
        <p:spPr>
          <a:xfrm>
            <a:off x="606975" y="728375"/>
            <a:ext cx="5603100" cy="52482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The spatial distribution of winter mean PM₂.₅ concentrations across India, overlaid with surface wind vectors (U2M and V2M components), reveals significant regional variation influenced by both emission sources and atmospheric transport.</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7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Elevated PM₂.₅ levels are observed over northwestern India, particularly in parts of Rajasthan, Punjab, Haryana, indicating strong local emissions likely linked to industrial activity, vehicular traffic, and residual biomass burning.</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7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The wind vectors show a dominant northwesterly to southeasterly flow during winter. These prevailing winds facilitate the movement of PM₂.₅ but it is not moving towards the IGP or foothills of NWH .</a:t>
            </a:r>
            <a:endParaRPr sz="1700">
              <a:solidFill>
                <a:schemeClr val="dk1"/>
              </a:solidFill>
              <a:latin typeface="Corbel"/>
              <a:ea typeface="Corbel"/>
              <a:cs typeface="Corbel"/>
              <a:sym typeface="Corbe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6761c423f8_17_32"/>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533" name="Google Shape;533;g36761c423f8_17_32"/>
          <p:cNvPicPr preferRelativeResize="0"/>
          <p:nvPr/>
        </p:nvPicPr>
        <p:blipFill>
          <a:blip r:embed="rId3">
            <a:alphaModFix/>
          </a:blip>
          <a:stretch>
            <a:fillRect/>
          </a:stretch>
        </p:blipFill>
        <p:spPr>
          <a:xfrm>
            <a:off x="6453075" y="648950"/>
            <a:ext cx="5004400" cy="4990950"/>
          </a:xfrm>
          <a:prstGeom prst="rect">
            <a:avLst/>
          </a:prstGeom>
          <a:noFill/>
          <a:ln>
            <a:noFill/>
          </a:ln>
        </p:spPr>
      </p:pic>
      <p:sp>
        <p:nvSpPr>
          <p:cNvPr id="534" name="Google Shape;534;g36761c423f8_17_32"/>
          <p:cNvSpPr txBox="1"/>
          <p:nvPr/>
        </p:nvSpPr>
        <p:spPr>
          <a:xfrm>
            <a:off x="518400" y="497525"/>
            <a:ext cx="5577600" cy="529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orbel"/>
              <a:buChar char="●"/>
            </a:pPr>
            <a:r>
              <a:rPr lang="en-GB" sz="1800">
                <a:solidFill>
                  <a:schemeClr val="dk1"/>
                </a:solidFill>
                <a:latin typeface="Corbel"/>
                <a:ea typeface="Corbel"/>
                <a:cs typeface="Corbel"/>
                <a:sym typeface="Corbel"/>
              </a:rPr>
              <a:t>The spatial distribution of mean summer PM₂.₅ concentrations across India, overlaid with wind vector fields, reveals a distinct pattern compared to winter. </a:t>
            </a:r>
            <a:endParaRPr sz="1800">
              <a:solidFill>
                <a:schemeClr val="dk1"/>
              </a:solidFill>
              <a:latin typeface="Corbel"/>
              <a:ea typeface="Corbel"/>
              <a:cs typeface="Corbel"/>
              <a:sym typeface="Corbel"/>
            </a:endParaRPr>
          </a:p>
          <a:p>
            <a:pPr indent="0" lvl="0" marL="457200" rtl="0" algn="l">
              <a:spcBef>
                <a:spcPts val="0"/>
              </a:spcBef>
              <a:spcAft>
                <a:spcPts val="0"/>
              </a:spcAft>
              <a:buNone/>
            </a:pPr>
            <a:r>
              <a:t/>
            </a:r>
            <a:endParaRPr sz="18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This pronounced hotspot in the arid northwest can largely be attributed to </a:t>
            </a:r>
            <a:r>
              <a:rPr b="1" lang="en-GB" sz="1700">
                <a:solidFill>
                  <a:schemeClr val="dk1"/>
                </a:solidFill>
                <a:latin typeface="Corbel"/>
                <a:ea typeface="Corbel"/>
                <a:cs typeface="Corbel"/>
                <a:sym typeface="Corbel"/>
              </a:rPr>
              <a:t>natural dust emissions</a:t>
            </a:r>
            <a:r>
              <a:rPr lang="en-GB" sz="1700">
                <a:solidFill>
                  <a:schemeClr val="dk1"/>
                </a:solidFill>
                <a:latin typeface="Corbel"/>
                <a:ea typeface="Corbel"/>
                <a:cs typeface="Corbel"/>
                <a:sym typeface="Corbel"/>
              </a:rPr>
              <a:t> driven from Thar Deserts.</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2100">
              <a:solidFill>
                <a:schemeClr val="dk1"/>
              </a:solidFill>
              <a:latin typeface="Corbel"/>
              <a:ea typeface="Corbel"/>
              <a:cs typeface="Corbel"/>
              <a:sym typeface="Corbel"/>
            </a:endParaRPr>
          </a:p>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The wind vectors indicate strong, consistent </a:t>
            </a:r>
            <a:r>
              <a:rPr b="1" lang="en-GB" sz="1700">
                <a:solidFill>
                  <a:schemeClr val="dk1"/>
                </a:solidFill>
                <a:latin typeface="Corbel"/>
                <a:ea typeface="Corbel"/>
                <a:cs typeface="Corbel"/>
                <a:sym typeface="Corbel"/>
              </a:rPr>
              <a:t>westerly and northwesterly winds</a:t>
            </a:r>
            <a:r>
              <a:rPr lang="en-GB" sz="1700">
                <a:solidFill>
                  <a:schemeClr val="dk1"/>
                </a:solidFill>
                <a:latin typeface="Corbel"/>
                <a:ea typeface="Corbel"/>
                <a:cs typeface="Corbel"/>
                <a:sym typeface="Corbel"/>
              </a:rPr>
              <a:t>, which are characteristic of pre-monsoon circulation patterns. These winds facilitate the </a:t>
            </a:r>
            <a:r>
              <a:rPr b="1" lang="en-GB" sz="1700">
                <a:solidFill>
                  <a:schemeClr val="dk1"/>
                </a:solidFill>
                <a:latin typeface="Corbel"/>
                <a:ea typeface="Corbel"/>
                <a:cs typeface="Corbel"/>
                <a:sym typeface="Corbel"/>
              </a:rPr>
              <a:t>long-range transport of mineral dust</a:t>
            </a:r>
            <a:r>
              <a:rPr lang="en-GB" sz="1700">
                <a:solidFill>
                  <a:schemeClr val="dk1"/>
                </a:solidFill>
                <a:latin typeface="Corbel"/>
                <a:ea typeface="Corbel"/>
                <a:cs typeface="Corbel"/>
                <a:sym typeface="Corbel"/>
              </a:rPr>
              <a:t> from desert regions such as the Thar Desert and parts of Pakistan into the Indo-Gangetic Plain and further eastward.</a:t>
            </a:r>
            <a:endParaRPr sz="2200">
              <a:solidFill>
                <a:schemeClr val="dk1"/>
              </a:solidFill>
              <a:latin typeface="Corbel"/>
              <a:ea typeface="Corbel"/>
              <a:cs typeface="Corbel"/>
              <a:sym typeface="Corbe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6761c423f8_17_40"/>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pic>
        <p:nvPicPr>
          <p:cNvPr id="541" name="Google Shape;541;g36761c423f8_17_40"/>
          <p:cNvPicPr preferRelativeResize="0"/>
          <p:nvPr/>
        </p:nvPicPr>
        <p:blipFill>
          <a:blip r:embed="rId3">
            <a:alphaModFix/>
          </a:blip>
          <a:stretch>
            <a:fillRect/>
          </a:stretch>
        </p:blipFill>
        <p:spPr>
          <a:xfrm>
            <a:off x="6557600" y="824250"/>
            <a:ext cx="5009774" cy="4863475"/>
          </a:xfrm>
          <a:prstGeom prst="rect">
            <a:avLst/>
          </a:prstGeom>
          <a:noFill/>
          <a:ln>
            <a:noFill/>
          </a:ln>
        </p:spPr>
      </p:pic>
      <p:sp>
        <p:nvSpPr>
          <p:cNvPr id="542" name="Google Shape;542;g36761c423f8_17_40"/>
          <p:cNvSpPr txBox="1"/>
          <p:nvPr/>
        </p:nvSpPr>
        <p:spPr>
          <a:xfrm>
            <a:off x="622800" y="677750"/>
            <a:ext cx="5658900" cy="5227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600">
              <a:solidFill>
                <a:schemeClr val="dk1"/>
              </a:solidFill>
              <a:latin typeface="Corbel"/>
              <a:ea typeface="Corbel"/>
              <a:cs typeface="Corbel"/>
              <a:sym typeface="Corbel"/>
            </a:endParaRPr>
          </a:p>
          <a:p>
            <a:pPr indent="-330200" lvl="0" marL="457200" rtl="0" algn="l">
              <a:spcBef>
                <a:spcPts val="0"/>
              </a:spcBef>
              <a:spcAft>
                <a:spcPts val="0"/>
              </a:spcAft>
              <a:buClr>
                <a:schemeClr val="dk1"/>
              </a:buClr>
              <a:buSzPts val="1600"/>
              <a:buFont typeface="Corbel"/>
              <a:buChar char="●"/>
            </a:pPr>
            <a:r>
              <a:rPr lang="en-GB" sz="1600">
                <a:solidFill>
                  <a:schemeClr val="dk1"/>
                </a:solidFill>
                <a:latin typeface="Corbel"/>
                <a:ea typeface="Corbel"/>
                <a:cs typeface="Corbel"/>
                <a:sym typeface="Corbel"/>
              </a:rPr>
              <a:t>During the monsoon season, the spatial distribution of mean PM₂.₅ concentrations indicates </a:t>
            </a:r>
            <a:r>
              <a:rPr b="1" lang="en-GB" sz="1600">
                <a:solidFill>
                  <a:schemeClr val="dk1"/>
                </a:solidFill>
                <a:latin typeface="Corbel"/>
                <a:ea typeface="Corbel"/>
                <a:cs typeface="Corbel"/>
                <a:sym typeface="Corbel"/>
              </a:rPr>
              <a:t>relatively elevated levels over northwestern India</a:t>
            </a:r>
            <a:r>
              <a:rPr lang="en-GB" sz="1600">
                <a:solidFill>
                  <a:schemeClr val="dk1"/>
                </a:solidFill>
                <a:latin typeface="Corbel"/>
                <a:ea typeface="Corbel"/>
                <a:cs typeface="Corbel"/>
                <a:sym typeface="Corbel"/>
              </a:rPr>
              <a:t>, particularly in </a:t>
            </a:r>
            <a:r>
              <a:rPr b="1" lang="en-GB" sz="1600">
                <a:solidFill>
                  <a:schemeClr val="dk1"/>
                </a:solidFill>
                <a:latin typeface="Corbel"/>
                <a:ea typeface="Corbel"/>
                <a:cs typeface="Corbel"/>
                <a:sym typeface="Corbel"/>
              </a:rPr>
              <a:t>western Rajasthan</a:t>
            </a:r>
            <a:r>
              <a:rPr lang="en-GB" sz="1600">
                <a:solidFill>
                  <a:schemeClr val="dk1"/>
                </a:solidFill>
                <a:latin typeface="Corbel"/>
                <a:ea typeface="Corbel"/>
                <a:cs typeface="Corbel"/>
                <a:sym typeface="Corbel"/>
              </a:rPr>
              <a:t>, with concentrations gradually decreasing toward central and southern regions. </a:t>
            </a:r>
            <a:endParaRPr sz="1600">
              <a:solidFill>
                <a:schemeClr val="dk1"/>
              </a:solidFill>
              <a:latin typeface="Corbel"/>
              <a:ea typeface="Corbel"/>
              <a:cs typeface="Corbel"/>
              <a:sym typeface="Corbel"/>
            </a:endParaRPr>
          </a:p>
          <a:p>
            <a:pPr indent="0" lvl="0" marL="0" rtl="0" algn="l">
              <a:spcBef>
                <a:spcPts val="0"/>
              </a:spcBef>
              <a:spcAft>
                <a:spcPts val="0"/>
              </a:spcAft>
              <a:buNone/>
            </a:pPr>
            <a:r>
              <a:t/>
            </a:r>
            <a:endParaRPr sz="1600">
              <a:solidFill>
                <a:schemeClr val="dk1"/>
              </a:solidFill>
              <a:latin typeface="Corbel"/>
              <a:ea typeface="Corbel"/>
              <a:cs typeface="Corbel"/>
              <a:sym typeface="Corbel"/>
            </a:endParaRPr>
          </a:p>
          <a:p>
            <a:pPr indent="0" lvl="0" marL="0" rtl="0" algn="l">
              <a:spcBef>
                <a:spcPts val="0"/>
              </a:spcBef>
              <a:spcAft>
                <a:spcPts val="0"/>
              </a:spcAft>
              <a:buNone/>
            </a:pPr>
            <a:r>
              <a:t/>
            </a:r>
            <a:endParaRPr sz="1600">
              <a:solidFill>
                <a:schemeClr val="dk1"/>
              </a:solidFill>
              <a:latin typeface="Corbel"/>
              <a:ea typeface="Corbel"/>
              <a:cs typeface="Corbel"/>
              <a:sym typeface="Corbel"/>
            </a:endParaRPr>
          </a:p>
          <a:p>
            <a:pPr indent="-330200" lvl="0" marL="457200" rtl="0" algn="l">
              <a:spcBef>
                <a:spcPts val="0"/>
              </a:spcBef>
              <a:spcAft>
                <a:spcPts val="0"/>
              </a:spcAft>
              <a:buClr>
                <a:schemeClr val="dk1"/>
              </a:buClr>
              <a:buSzPts val="1600"/>
              <a:buFont typeface="Corbel"/>
              <a:buChar char="●"/>
            </a:pPr>
            <a:r>
              <a:rPr lang="en-GB" sz="1600">
                <a:solidFill>
                  <a:schemeClr val="dk1"/>
                </a:solidFill>
                <a:latin typeface="Corbel"/>
                <a:ea typeface="Corbel"/>
                <a:cs typeface="Corbel"/>
                <a:sym typeface="Corbel"/>
              </a:rPr>
              <a:t>The overlaid wind vectors show a dominant </a:t>
            </a:r>
            <a:r>
              <a:rPr b="1" lang="en-GB" sz="1600">
                <a:solidFill>
                  <a:schemeClr val="dk1"/>
                </a:solidFill>
                <a:latin typeface="Corbel"/>
                <a:ea typeface="Corbel"/>
                <a:cs typeface="Corbel"/>
                <a:sym typeface="Corbel"/>
              </a:rPr>
              <a:t>northwesterly flow</a:t>
            </a:r>
            <a:r>
              <a:rPr lang="en-GB" sz="1600">
                <a:solidFill>
                  <a:schemeClr val="dk1"/>
                </a:solidFill>
                <a:latin typeface="Corbel"/>
                <a:ea typeface="Corbel"/>
                <a:cs typeface="Corbel"/>
                <a:sym typeface="Corbel"/>
              </a:rPr>
              <a:t>, moving toward the </a:t>
            </a:r>
            <a:r>
              <a:rPr b="1" lang="en-GB" sz="1600">
                <a:solidFill>
                  <a:schemeClr val="dk1"/>
                </a:solidFill>
                <a:latin typeface="Corbel"/>
                <a:ea typeface="Corbel"/>
                <a:cs typeface="Corbel"/>
                <a:sym typeface="Corbel"/>
              </a:rPr>
              <a:t>southeast and east</a:t>
            </a:r>
            <a:r>
              <a:rPr lang="en-GB" sz="1600">
                <a:solidFill>
                  <a:schemeClr val="dk1"/>
                </a:solidFill>
                <a:latin typeface="Corbel"/>
                <a:ea typeface="Corbel"/>
                <a:cs typeface="Corbel"/>
                <a:sym typeface="Corbel"/>
              </a:rPr>
              <a:t>, which likely facilitates the </a:t>
            </a:r>
            <a:r>
              <a:rPr b="1" lang="en-GB" sz="1600">
                <a:solidFill>
                  <a:schemeClr val="dk1"/>
                </a:solidFill>
                <a:latin typeface="Corbel"/>
                <a:ea typeface="Corbel"/>
                <a:cs typeface="Corbel"/>
                <a:sym typeface="Corbel"/>
              </a:rPr>
              <a:t>transport of dust-laden air</a:t>
            </a:r>
            <a:r>
              <a:rPr lang="en-GB" sz="1600">
                <a:solidFill>
                  <a:schemeClr val="dk1"/>
                </a:solidFill>
                <a:latin typeface="Corbel"/>
                <a:ea typeface="Corbel"/>
                <a:cs typeface="Corbel"/>
                <a:sym typeface="Corbel"/>
              </a:rPr>
              <a:t> from the Thar Desert toward central and eastern India.</a:t>
            </a:r>
            <a:endParaRPr sz="2100">
              <a:solidFill>
                <a:schemeClr val="dk1"/>
              </a:solidFill>
              <a:latin typeface="Corbel"/>
              <a:ea typeface="Corbel"/>
              <a:cs typeface="Corbel"/>
              <a:sym typeface="Corbe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29"/>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549" name="Google Shape;549;p29"/>
          <p:cNvGrpSpPr/>
          <p:nvPr/>
        </p:nvGrpSpPr>
        <p:grpSpPr>
          <a:xfrm>
            <a:off x="1440371" y="987358"/>
            <a:ext cx="9329802" cy="3510317"/>
            <a:chOff x="-5110104" y="1709245"/>
            <a:chExt cx="3011848" cy="3799045"/>
          </a:xfrm>
        </p:grpSpPr>
        <p:sp>
          <p:nvSpPr>
            <p:cNvPr id="550" name="Google Shape;550;p29"/>
            <p:cNvSpPr/>
            <p:nvPr/>
          </p:nvSpPr>
          <p:spPr>
            <a:xfrm rot="-224462">
              <a:off x="-4997348" y="1873900"/>
              <a:ext cx="2786337" cy="3547269"/>
            </a:xfrm>
            <a:prstGeom prst="roundRect">
              <a:avLst>
                <a:gd fmla="val 10302" name="adj"/>
              </a:avLst>
            </a:prstGeom>
            <a:solidFill>
              <a:srgbClr val="E06666"/>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51" name="Google Shape;551;p29"/>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pic>
        <p:nvPicPr>
          <p:cNvPr id="552" name="Google Shape;552;p29"/>
          <p:cNvPicPr preferRelativeResize="0"/>
          <p:nvPr/>
        </p:nvPicPr>
        <p:blipFill rotWithShape="1">
          <a:blip r:embed="rId3">
            <a:alphaModFix/>
          </a:blip>
          <a:srcRect b="0" l="0" r="0" t="0"/>
          <a:stretch/>
        </p:blipFill>
        <p:spPr>
          <a:xfrm>
            <a:off x="1823700" y="1184825"/>
            <a:ext cx="8546926" cy="3192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0"/>
          <p:cNvSpPr txBox="1"/>
          <p:nvPr>
            <p:ph type="title"/>
          </p:nvPr>
        </p:nvSpPr>
        <p:spPr>
          <a:xfrm>
            <a:off x="478725" y="223050"/>
            <a:ext cx="10360200" cy="691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KEY OBSERVATIONS</a:t>
            </a:r>
            <a:endParaRPr/>
          </a:p>
        </p:txBody>
      </p:sp>
      <p:sp>
        <p:nvSpPr>
          <p:cNvPr id="559" name="Google Shape;559;p30"/>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560" name="Google Shape;560;p30"/>
          <p:cNvGrpSpPr/>
          <p:nvPr/>
        </p:nvGrpSpPr>
        <p:grpSpPr>
          <a:xfrm>
            <a:off x="478725" y="1636036"/>
            <a:ext cx="7158977" cy="4811437"/>
            <a:chOff x="838795" y="1834257"/>
            <a:chExt cx="7015166" cy="3988922"/>
          </a:xfrm>
        </p:grpSpPr>
        <p:grpSp>
          <p:nvGrpSpPr>
            <p:cNvPr id="561" name="Google Shape;561;p30"/>
            <p:cNvGrpSpPr/>
            <p:nvPr/>
          </p:nvGrpSpPr>
          <p:grpSpPr>
            <a:xfrm>
              <a:off x="838795" y="1923640"/>
              <a:ext cx="3348189" cy="3899539"/>
              <a:chOff x="-5108291" y="1620059"/>
              <a:chExt cx="2768700" cy="3887487"/>
            </a:xfrm>
          </p:grpSpPr>
          <p:sp>
            <p:nvSpPr>
              <p:cNvPr id="562" name="Google Shape;562;p30"/>
              <p:cNvSpPr/>
              <p:nvPr/>
            </p:nvSpPr>
            <p:spPr>
              <a:xfrm rot="-224211">
                <a:off x="-4989782" y="1713389"/>
                <a:ext cx="2531683" cy="3715615"/>
              </a:xfrm>
              <a:prstGeom prst="roundRect">
                <a:avLst>
                  <a:gd fmla="val 10302" name="adj"/>
                </a:avLst>
              </a:prstGeom>
              <a:solidFill>
                <a:srgbClr val="EF84FD">
                  <a:alpha val="90980"/>
                </a:srgbClr>
              </a:solidFill>
              <a:ln cap="flat" cmpd="sng" w="9525">
                <a:solidFill>
                  <a:srgbClr val="EF84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63" name="Google Shape;563;p30"/>
              <p:cNvSpPr/>
              <p:nvPr/>
            </p:nvSpPr>
            <p:spPr>
              <a:xfrm>
                <a:off x="-5044479" y="1620059"/>
                <a:ext cx="2590200" cy="3715500"/>
              </a:xfrm>
              <a:prstGeom prst="roundRect">
                <a:avLst>
                  <a:gd fmla="val 10302" name="adj"/>
                </a:avLst>
              </a:prstGeom>
              <a:solidFill>
                <a:schemeClr val="lt1"/>
              </a:solidFill>
              <a:ln cap="flat" cmpd="sng" w="9525">
                <a:solidFill>
                  <a:srgbClr val="EF84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564" name="Google Shape;564;p30"/>
            <p:cNvGrpSpPr/>
            <p:nvPr/>
          </p:nvGrpSpPr>
          <p:grpSpPr>
            <a:xfrm>
              <a:off x="4328212" y="1834257"/>
              <a:ext cx="3525749" cy="3965054"/>
              <a:chOff x="-5930623" y="1620137"/>
              <a:chExt cx="2915529" cy="3952800"/>
            </a:xfrm>
          </p:grpSpPr>
          <p:sp>
            <p:nvSpPr>
              <p:cNvPr id="565" name="Google Shape;565;p30"/>
              <p:cNvSpPr/>
              <p:nvPr/>
            </p:nvSpPr>
            <p:spPr>
              <a:xfrm rot="-224408">
                <a:off x="-5809839" y="1702350"/>
                <a:ext cx="2644432" cy="3788374"/>
              </a:xfrm>
              <a:prstGeom prst="roundRect">
                <a:avLst>
                  <a:gd fmla="val 10302" name="adj"/>
                </a:avLst>
              </a:prstGeom>
              <a:solidFill>
                <a:srgbClr val="B0FD84"/>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66" name="Google Shape;566;p30"/>
              <p:cNvSpPr/>
              <p:nvPr/>
            </p:nvSpPr>
            <p:spPr>
              <a:xfrm>
                <a:off x="-5783794" y="1672630"/>
                <a:ext cx="2768700" cy="3803700"/>
              </a:xfrm>
              <a:prstGeom prst="roundRect">
                <a:avLst>
                  <a:gd fmla="val 10302" name="adj"/>
                </a:avLst>
              </a:prstGeom>
              <a:solidFill>
                <a:schemeClr val="lt1"/>
              </a:solidFill>
              <a:ln cap="flat" cmpd="sng" w="9525">
                <a:solidFill>
                  <a:srgbClr val="B0FD8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567" name="Google Shape;567;p30"/>
          <p:cNvSpPr txBox="1"/>
          <p:nvPr/>
        </p:nvSpPr>
        <p:spPr>
          <a:xfrm>
            <a:off x="820400" y="1763350"/>
            <a:ext cx="2840100" cy="4307400"/>
          </a:xfrm>
          <a:prstGeom prst="rect">
            <a:avLst/>
          </a:prstGeom>
          <a:noFill/>
          <a:ln>
            <a:noFill/>
          </a:ln>
        </p:spPr>
        <p:txBody>
          <a:bodyPr anchorCtr="0" anchor="t" bIns="91425" lIns="91425" spcFirstLastPara="1" rIns="91425" wrap="square" tIns="91425">
            <a:noAutofit/>
          </a:bodyPr>
          <a:lstStyle/>
          <a:p>
            <a:pPr indent="0" lvl="0" marL="0" marR="0" rtl="0" algn="l">
              <a:lnSpc>
                <a:spcPct val="95000"/>
              </a:lnSpc>
              <a:spcBef>
                <a:spcPts val="1200"/>
              </a:spcBef>
              <a:spcAft>
                <a:spcPts val="0"/>
              </a:spcAft>
              <a:buClr>
                <a:schemeClr val="dk1"/>
              </a:buClr>
              <a:buSzPts val="1018"/>
              <a:buFont typeface="Arial"/>
              <a:buNone/>
            </a:pPr>
            <a:r>
              <a:rPr b="1" i="0" lang="en-GB" sz="1702" u="none" cap="none" strike="noStrike">
                <a:solidFill>
                  <a:schemeClr val="dk1"/>
                </a:solidFill>
                <a:latin typeface="Corbel"/>
                <a:ea typeface="Corbel"/>
                <a:cs typeface="Corbel"/>
                <a:sym typeface="Corbel"/>
              </a:rPr>
              <a:t>1. Dominant Wind Direction</a:t>
            </a:r>
            <a:endParaRPr b="1" i="0" sz="1702" u="none" cap="none" strike="noStrike">
              <a:solidFill>
                <a:schemeClr val="dk1"/>
              </a:solidFill>
              <a:latin typeface="Corbel"/>
              <a:ea typeface="Corbel"/>
              <a:cs typeface="Corbel"/>
              <a:sym typeface="Corbel"/>
            </a:endParaRPr>
          </a:p>
          <a:p>
            <a:pPr indent="-336708" lvl="0" marL="457200" marR="0" rtl="0" algn="l">
              <a:lnSpc>
                <a:spcPct val="95000"/>
              </a:lnSpc>
              <a:spcBef>
                <a:spcPts val="1200"/>
              </a:spcBef>
              <a:spcAft>
                <a:spcPts val="0"/>
              </a:spcAft>
              <a:buClr>
                <a:schemeClr val="dk1"/>
              </a:buClr>
              <a:buSzPts val="1703"/>
              <a:buFont typeface="Arial"/>
              <a:buChar char="●"/>
            </a:pPr>
            <a:r>
              <a:rPr i="0" lang="en-GB" sz="1702" u="none" cap="none" strike="noStrike">
                <a:solidFill>
                  <a:schemeClr val="dk1"/>
                </a:solidFill>
                <a:latin typeface="Corbel"/>
                <a:ea typeface="Corbel"/>
                <a:cs typeface="Corbel"/>
                <a:sym typeface="Corbel"/>
              </a:rPr>
              <a:t>Across all three seasons, </a:t>
            </a:r>
            <a:r>
              <a:rPr b="1" i="0" lang="en-GB" sz="1702" u="none" cap="none" strike="noStrike">
                <a:solidFill>
                  <a:schemeClr val="dk1"/>
                </a:solidFill>
                <a:latin typeface="Corbel"/>
                <a:ea typeface="Corbel"/>
                <a:cs typeface="Corbel"/>
                <a:sym typeface="Corbel"/>
              </a:rPr>
              <a:t>dominant winds blow from the West and South-West</a:t>
            </a:r>
            <a:r>
              <a:rPr i="0" lang="en-GB" sz="1702" u="none" cap="none" strike="noStrike">
                <a:solidFill>
                  <a:schemeClr val="dk1"/>
                </a:solidFill>
                <a:latin typeface="Corbel"/>
                <a:ea typeface="Corbel"/>
                <a:cs typeface="Corbel"/>
                <a:sym typeface="Corbel"/>
              </a:rPr>
              <a:t> directions.</a:t>
            </a:r>
            <a:br>
              <a:rPr i="0" lang="en-GB" sz="1702" u="none" cap="none" strike="noStrike">
                <a:solidFill>
                  <a:schemeClr val="dk1"/>
                </a:solidFill>
                <a:latin typeface="Corbel"/>
                <a:ea typeface="Corbel"/>
                <a:cs typeface="Corbel"/>
                <a:sym typeface="Corbel"/>
              </a:rPr>
            </a:br>
            <a:endParaRPr i="0" sz="1702" u="none" cap="none" strike="noStrike">
              <a:solidFill>
                <a:schemeClr val="dk1"/>
              </a:solidFill>
              <a:latin typeface="Corbel"/>
              <a:ea typeface="Corbel"/>
              <a:cs typeface="Corbel"/>
              <a:sym typeface="Corbel"/>
            </a:endParaRPr>
          </a:p>
          <a:p>
            <a:pPr indent="-317658" lvl="0" marL="457200" marR="0" rtl="0" algn="l">
              <a:lnSpc>
                <a:spcPct val="95000"/>
              </a:lnSpc>
              <a:spcBef>
                <a:spcPts val="0"/>
              </a:spcBef>
              <a:spcAft>
                <a:spcPts val="0"/>
              </a:spcAft>
              <a:buClr>
                <a:schemeClr val="dk1"/>
              </a:buClr>
              <a:buSzPts val="1403"/>
              <a:buFont typeface="Arial"/>
              <a:buChar char="●"/>
            </a:pPr>
            <a:r>
              <a:rPr i="0" lang="en-GB" sz="1702" u="none" cap="none" strike="noStrike">
                <a:solidFill>
                  <a:schemeClr val="dk1"/>
                </a:solidFill>
                <a:latin typeface="Corbel"/>
                <a:ea typeface="Corbel"/>
                <a:cs typeface="Corbel"/>
                <a:sym typeface="Corbel"/>
              </a:rPr>
              <a:t>This implies that air masses are entering the </a:t>
            </a:r>
            <a:r>
              <a:rPr b="1" i="0" lang="en-GB" sz="1702" u="none" cap="none" strike="noStrike">
                <a:solidFill>
                  <a:schemeClr val="dk1"/>
                </a:solidFill>
                <a:latin typeface="Corbel"/>
                <a:ea typeface="Corbel"/>
                <a:cs typeface="Corbel"/>
                <a:sym typeface="Corbel"/>
              </a:rPr>
              <a:t>Northwest Himalayan region</a:t>
            </a:r>
            <a:r>
              <a:rPr i="0" lang="en-GB" sz="1702" u="none" cap="none" strike="noStrike">
                <a:solidFill>
                  <a:schemeClr val="dk1"/>
                </a:solidFill>
                <a:latin typeface="Corbel"/>
                <a:ea typeface="Corbel"/>
                <a:cs typeface="Corbel"/>
                <a:sym typeface="Corbel"/>
              </a:rPr>
              <a:t> from the side of Tha</a:t>
            </a:r>
            <a:r>
              <a:rPr lang="en-GB" sz="1702">
                <a:solidFill>
                  <a:schemeClr val="dk1"/>
                </a:solidFill>
                <a:latin typeface="Corbel"/>
                <a:ea typeface="Corbel"/>
                <a:cs typeface="Corbel"/>
                <a:sym typeface="Corbel"/>
              </a:rPr>
              <a:t>r Desert</a:t>
            </a:r>
            <a:r>
              <a:rPr i="0" lang="en-GB" sz="1702" u="none" cap="none" strike="noStrike">
                <a:solidFill>
                  <a:schemeClr val="dk1"/>
                </a:solidFill>
                <a:latin typeface="Corbel"/>
                <a:ea typeface="Corbel"/>
                <a:cs typeface="Corbel"/>
                <a:sym typeface="Corbel"/>
              </a:rPr>
              <a:t> and parts of </a:t>
            </a:r>
            <a:r>
              <a:rPr b="1" i="0" lang="en-GB" sz="1702" u="none" cap="none" strike="noStrike">
                <a:solidFill>
                  <a:schemeClr val="dk1"/>
                </a:solidFill>
                <a:latin typeface="Corbel"/>
                <a:ea typeface="Corbel"/>
                <a:cs typeface="Corbel"/>
                <a:sym typeface="Corbel"/>
              </a:rPr>
              <a:t>western Himachal Pradesh</a:t>
            </a:r>
            <a:r>
              <a:rPr i="0" lang="en-GB" sz="1702" u="none" cap="none" strike="noStrike">
                <a:solidFill>
                  <a:schemeClr val="dk1"/>
                </a:solidFill>
                <a:latin typeface="Corbel"/>
                <a:ea typeface="Corbel"/>
                <a:cs typeface="Corbel"/>
                <a:sym typeface="Corbel"/>
              </a:rPr>
              <a:t>.</a:t>
            </a:r>
            <a:br>
              <a:rPr i="0" lang="en-GB" sz="1302" u="none" cap="none" strike="noStrike">
                <a:solidFill>
                  <a:schemeClr val="dk1"/>
                </a:solidFill>
                <a:latin typeface="Corbel"/>
                <a:ea typeface="Corbel"/>
                <a:cs typeface="Corbel"/>
                <a:sym typeface="Corbel"/>
              </a:rPr>
            </a:br>
            <a:endParaRPr i="0" sz="1700" u="none" cap="none" strike="noStrike">
              <a:solidFill>
                <a:schemeClr val="dk1"/>
              </a:solidFill>
              <a:latin typeface="Corbel"/>
              <a:ea typeface="Corbel"/>
              <a:cs typeface="Corbel"/>
              <a:sym typeface="Corbel"/>
            </a:endParaRPr>
          </a:p>
        </p:txBody>
      </p:sp>
      <p:sp>
        <p:nvSpPr>
          <p:cNvPr id="568" name="Google Shape;568;p30"/>
          <p:cNvSpPr txBox="1"/>
          <p:nvPr/>
        </p:nvSpPr>
        <p:spPr>
          <a:xfrm>
            <a:off x="4440213" y="2516675"/>
            <a:ext cx="2698800" cy="28602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1200"/>
              </a:spcBef>
              <a:spcAft>
                <a:spcPts val="0"/>
              </a:spcAft>
              <a:buClr>
                <a:srgbClr val="000000"/>
              </a:buClr>
              <a:buSzPts val="1310"/>
              <a:buFont typeface="Arial"/>
              <a:buNone/>
            </a:pPr>
            <a:r>
              <a:rPr b="1" i="0" lang="en-GB" sz="1610" u="none" cap="none" strike="noStrike">
                <a:solidFill>
                  <a:schemeClr val="dk1"/>
                </a:solidFill>
                <a:latin typeface="Corbel"/>
                <a:ea typeface="Corbel"/>
                <a:cs typeface="Corbel"/>
                <a:sym typeface="Corbel"/>
              </a:rPr>
              <a:t>2. Wind Speed Patterns</a:t>
            </a:r>
            <a:endParaRPr b="1" i="0" sz="1610" u="none" cap="none" strike="noStrike">
              <a:solidFill>
                <a:schemeClr val="dk1"/>
              </a:solidFill>
              <a:latin typeface="Corbel"/>
              <a:ea typeface="Corbel"/>
              <a:cs typeface="Corbel"/>
              <a:sym typeface="Corbel"/>
            </a:endParaRPr>
          </a:p>
          <a:p>
            <a:pPr indent="-330835" lvl="0" marL="457200" marR="0" rtl="0" algn="l">
              <a:lnSpc>
                <a:spcPct val="95000"/>
              </a:lnSpc>
              <a:spcBef>
                <a:spcPts val="1200"/>
              </a:spcBef>
              <a:spcAft>
                <a:spcPts val="0"/>
              </a:spcAft>
              <a:buClr>
                <a:schemeClr val="dk1"/>
              </a:buClr>
              <a:buSzPts val="1610"/>
              <a:buFont typeface="Arial"/>
              <a:buChar char="●"/>
            </a:pPr>
            <a:r>
              <a:rPr b="1" i="0" lang="en-GB" sz="1610" u="none" cap="none" strike="noStrike">
                <a:solidFill>
                  <a:schemeClr val="dk1"/>
                </a:solidFill>
                <a:latin typeface="Corbel"/>
                <a:ea typeface="Corbel"/>
                <a:cs typeface="Corbel"/>
                <a:sym typeface="Corbel"/>
              </a:rPr>
              <a:t>Most wind speeds</a:t>
            </a:r>
            <a:r>
              <a:rPr i="0" lang="en-GB" sz="1610" u="none" cap="none" strike="noStrike">
                <a:solidFill>
                  <a:schemeClr val="dk1"/>
                </a:solidFill>
                <a:latin typeface="Corbel"/>
                <a:ea typeface="Corbel"/>
                <a:cs typeface="Corbel"/>
                <a:sym typeface="Corbel"/>
              </a:rPr>
              <a:t> lie in the </a:t>
            </a:r>
            <a:r>
              <a:rPr b="1" i="0" lang="en-GB" sz="1610" u="none" cap="none" strike="noStrike">
                <a:solidFill>
                  <a:schemeClr val="dk1"/>
                </a:solidFill>
                <a:latin typeface="Corbel"/>
                <a:ea typeface="Corbel"/>
                <a:cs typeface="Corbel"/>
                <a:sym typeface="Corbel"/>
              </a:rPr>
              <a:t>2.1–5.7 m/s range</a:t>
            </a:r>
            <a:r>
              <a:rPr i="0" lang="en-GB" sz="1610" u="none" cap="none" strike="noStrike">
                <a:solidFill>
                  <a:schemeClr val="dk1"/>
                </a:solidFill>
                <a:latin typeface="Corbel"/>
                <a:ea typeface="Corbel"/>
                <a:cs typeface="Corbel"/>
                <a:sym typeface="Corbel"/>
              </a:rPr>
              <a:t>, especially during </a:t>
            </a:r>
            <a:r>
              <a:rPr b="1" i="0" lang="en-GB" sz="1610" u="none" cap="none" strike="noStrike">
                <a:solidFill>
                  <a:schemeClr val="dk1"/>
                </a:solidFill>
                <a:latin typeface="Corbel"/>
                <a:ea typeface="Corbel"/>
                <a:cs typeface="Corbel"/>
                <a:sym typeface="Corbel"/>
              </a:rPr>
              <a:t>all seasons</a:t>
            </a:r>
            <a:r>
              <a:rPr i="0" lang="en-GB" sz="1610" u="none" cap="none" strike="noStrike">
                <a:solidFill>
                  <a:schemeClr val="dk1"/>
                </a:solidFill>
                <a:latin typeface="Corbel"/>
                <a:ea typeface="Corbel"/>
                <a:cs typeface="Corbel"/>
                <a:sym typeface="Corbel"/>
              </a:rPr>
              <a:t>, shown as </a:t>
            </a:r>
            <a:r>
              <a:rPr b="1" i="0" lang="en-GB" sz="1610" u="none" cap="none" strike="noStrike">
                <a:solidFill>
                  <a:schemeClr val="dk1"/>
                </a:solidFill>
                <a:latin typeface="Corbel"/>
                <a:ea typeface="Corbel"/>
                <a:cs typeface="Corbel"/>
                <a:sym typeface="Corbel"/>
              </a:rPr>
              <a:t>orange to yellow</a:t>
            </a:r>
            <a:r>
              <a:rPr i="0" lang="en-GB" sz="1610" u="none" cap="none" strike="noStrike">
                <a:solidFill>
                  <a:schemeClr val="dk1"/>
                </a:solidFill>
                <a:latin typeface="Corbel"/>
                <a:ea typeface="Corbel"/>
                <a:cs typeface="Corbel"/>
                <a:sym typeface="Corbel"/>
              </a:rPr>
              <a:t> shades in the wind rose plots.</a:t>
            </a:r>
            <a:br>
              <a:rPr i="0" lang="en-GB" sz="1610" u="none" cap="none" strike="noStrike">
                <a:solidFill>
                  <a:schemeClr val="dk1"/>
                </a:solidFill>
                <a:latin typeface="Corbel"/>
                <a:ea typeface="Corbel"/>
                <a:cs typeface="Corbel"/>
                <a:sym typeface="Corbel"/>
              </a:rPr>
            </a:br>
            <a:endParaRPr i="0" sz="1610" u="none" cap="none" strike="noStrike">
              <a:solidFill>
                <a:schemeClr val="dk1"/>
              </a:solidFill>
              <a:latin typeface="Corbel"/>
              <a:ea typeface="Corbel"/>
              <a:cs typeface="Corbel"/>
              <a:sym typeface="Corbel"/>
            </a:endParaRPr>
          </a:p>
          <a:p>
            <a:pPr indent="0" lvl="0" marL="0" marR="0" rtl="0" algn="l">
              <a:lnSpc>
                <a:spcPct val="95000"/>
              </a:lnSpc>
              <a:spcBef>
                <a:spcPts val="1200"/>
              </a:spcBef>
              <a:spcAft>
                <a:spcPts val="1200"/>
              </a:spcAft>
              <a:buClr>
                <a:srgbClr val="000000"/>
              </a:buClr>
              <a:buSzPts val="1402"/>
              <a:buFont typeface="Arial"/>
              <a:buNone/>
            </a:pPr>
            <a:r>
              <a:t/>
            </a:r>
            <a:endParaRPr i="0" sz="1702" u="none" cap="none" strike="noStrike">
              <a:solidFill>
                <a:schemeClr val="dk1"/>
              </a:solidFill>
              <a:latin typeface="Corbel"/>
              <a:ea typeface="Corbel"/>
              <a:cs typeface="Corbel"/>
              <a:sym typeface="Corbel"/>
            </a:endParaRPr>
          </a:p>
        </p:txBody>
      </p:sp>
      <p:grpSp>
        <p:nvGrpSpPr>
          <p:cNvPr id="569" name="Google Shape;569;p30"/>
          <p:cNvGrpSpPr/>
          <p:nvPr/>
        </p:nvGrpSpPr>
        <p:grpSpPr>
          <a:xfrm>
            <a:off x="7918722" y="1568856"/>
            <a:ext cx="3677762" cy="4732938"/>
            <a:chOff x="-5222925" y="1618948"/>
            <a:chExt cx="3124500" cy="3896100"/>
          </a:xfrm>
        </p:grpSpPr>
        <p:sp>
          <p:nvSpPr>
            <p:cNvPr id="570" name="Google Shape;570;p30"/>
            <p:cNvSpPr/>
            <p:nvPr/>
          </p:nvSpPr>
          <p:spPr>
            <a:xfrm rot="-224403">
              <a:off x="-5104800" y="1709190"/>
              <a:ext cx="2888251" cy="3715615"/>
            </a:xfrm>
            <a:prstGeom prst="roundRect">
              <a:avLst>
                <a:gd fmla="val 10302" name="adj"/>
              </a:avLst>
            </a:prstGeom>
            <a:solidFill>
              <a:srgbClr val="E06666"/>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71" name="Google Shape;571;p30"/>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572" name="Google Shape;572;p30"/>
          <p:cNvSpPr txBox="1"/>
          <p:nvPr/>
        </p:nvSpPr>
        <p:spPr>
          <a:xfrm>
            <a:off x="8257500" y="2516675"/>
            <a:ext cx="3000000" cy="2118600"/>
          </a:xfrm>
          <a:prstGeom prst="rect">
            <a:avLst/>
          </a:prstGeom>
          <a:noFill/>
          <a:ln>
            <a:noFill/>
          </a:ln>
        </p:spPr>
        <p:txBody>
          <a:bodyPr anchorCtr="0" anchor="t" bIns="91425" lIns="91425" spcFirstLastPara="1" rIns="91425" wrap="square" tIns="91425">
            <a:spAutoFit/>
          </a:bodyPr>
          <a:lstStyle/>
          <a:p>
            <a:pPr indent="-324485" lvl="0" marL="457200" rtl="0" algn="l">
              <a:lnSpc>
                <a:spcPct val="95000"/>
              </a:lnSpc>
              <a:spcBef>
                <a:spcPts val="0"/>
              </a:spcBef>
              <a:spcAft>
                <a:spcPts val="0"/>
              </a:spcAft>
              <a:buClr>
                <a:schemeClr val="dk1"/>
              </a:buClr>
              <a:buSzPts val="1510"/>
              <a:buChar char="●"/>
            </a:pPr>
            <a:r>
              <a:rPr lang="en-GB" sz="1510">
                <a:solidFill>
                  <a:schemeClr val="dk1"/>
                </a:solidFill>
                <a:latin typeface="Corbel"/>
                <a:ea typeface="Corbel"/>
                <a:cs typeface="Corbel"/>
                <a:sym typeface="Corbel"/>
              </a:rPr>
              <a:t>In </a:t>
            </a:r>
            <a:r>
              <a:rPr b="1" lang="en-GB" sz="1510">
                <a:solidFill>
                  <a:schemeClr val="dk1"/>
                </a:solidFill>
                <a:latin typeface="Corbel"/>
                <a:ea typeface="Corbel"/>
                <a:cs typeface="Corbel"/>
                <a:sym typeface="Corbel"/>
              </a:rPr>
              <a:t>Summer and Winter</a:t>
            </a:r>
            <a:r>
              <a:rPr lang="en-GB" sz="1510">
                <a:solidFill>
                  <a:schemeClr val="dk1"/>
                </a:solidFill>
                <a:latin typeface="Corbel"/>
                <a:ea typeface="Corbel"/>
                <a:cs typeface="Corbel"/>
                <a:sym typeface="Corbel"/>
              </a:rPr>
              <a:t>, there are </a:t>
            </a:r>
            <a:r>
              <a:rPr b="1" lang="en-GB" sz="1510">
                <a:solidFill>
                  <a:schemeClr val="dk1"/>
                </a:solidFill>
                <a:latin typeface="Corbel"/>
                <a:ea typeface="Corbel"/>
                <a:cs typeface="Corbel"/>
                <a:sym typeface="Corbel"/>
              </a:rPr>
              <a:t>occasional stronger winds</a:t>
            </a:r>
            <a:r>
              <a:rPr lang="en-GB" sz="1510">
                <a:solidFill>
                  <a:schemeClr val="dk1"/>
                </a:solidFill>
                <a:latin typeface="Corbel"/>
                <a:ea typeface="Corbel"/>
                <a:cs typeface="Corbel"/>
                <a:sym typeface="Corbel"/>
              </a:rPr>
              <a:t> (green shades), especially from the </a:t>
            </a:r>
            <a:r>
              <a:rPr b="1" lang="en-GB" sz="1510">
                <a:solidFill>
                  <a:schemeClr val="dk1"/>
                </a:solidFill>
                <a:latin typeface="Corbel"/>
                <a:ea typeface="Corbel"/>
                <a:cs typeface="Corbel"/>
                <a:sym typeface="Corbel"/>
              </a:rPr>
              <a:t>Western directions</a:t>
            </a:r>
            <a:r>
              <a:rPr lang="en-GB" sz="1510">
                <a:solidFill>
                  <a:schemeClr val="dk1"/>
                </a:solidFill>
                <a:latin typeface="Corbel"/>
                <a:ea typeface="Corbel"/>
                <a:cs typeface="Corbel"/>
                <a:sym typeface="Corbel"/>
              </a:rPr>
              <a:t>, helping disperse pollutants.</a:t>
            </a:r>
            <a:br>
              <a:rPr lang="en-GB" sz="1510">
                <a:solidFill>
                  <a:schemeClr val="dk1"/>
                </a:solidFill>
                <a:latin typeface="Corbel"/>
                <a:ea typeface="Corbel"/>
                <a:cs typeface="Corbel"/>
                <a:sym typeface="Corbel"/>
              </a:rPr>
            </a:br>
            <a:endParaRPr sz="1510">
              <a:solidFill>
                <a:schemeClr val="dk1"/>
              </a:solidFill>
              <a:latin typeface="Corbel"/>
              <a:ea typeface="Corbel"/>
              <a:cs typeface="Corbel"/>
              <a:sym typeface="Corbel"/>
            </a:endParaRPr>
          </a:p>
          <a:p>
            <a:pPr indent="0" lvl="0" marL="0" rtl="0" algn="l">
              <a:lnSpc>
                <a:spcPct val="95000"/>
              </a:lnSpc>
              <a:spcBef>
                <a:spcPts val="1200"/>
              </a:spcBef>
              <a:spcAft>
                <a:spcPts val="0"/>
              </a:spcAft>
              <a:buNone/>
            </a:pPr>
            <a:r>
              <a:t/>
            </a:r>
            <a:endParaRPr sz="1602">
              <a:solidFill>
                <a:schemeClr val="dk1"/>
              </a:solidFill>
              <a:latin typeface="Corbel"/>
              <a:ea typeface="Corbel"/>
              <a:cs typeface="Corbel"/>
              <a:sym typeface="Corbe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1"/>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pic>
        <p:nvPicPr>
          <p:cNvPr id="579" name="Google Shape;579;p31">
            <a:hlinkClick r:id="rId3"/>
          </p:cNvPr>
          <p:cNvPicPr preferRelativeResize="0"/>
          <p:nvPr/>
        </p:nvPicPr>
        <p:blipFill rotWithShape="1">
          <a:blip r:embed="rId4">
            <a:alphaModFix/>
          </a:blip>
          <a:srcRect b="0" l="0" r="0" t="0"/>
          <a:stretch/>
        </p:blipFill>
        <p:spPr>
          <a:xfrm>
            <a:off x="6163225" y="102725"/>
            <a:ext cx="4492076" cy="6471373"/>
          </a:xfrm>
          <a:prstGeom prst="rect">
            <a:avLst/>
          </a:prstGeom>
          <a:noFill/>
          <a:ln>
            <a:noFill/>
          </a:ln>
        </p:spPr>
      </p:pic>
      <p:sp>
        <p:nvSpPr>
          <p:cNvPr id="580" name="Google Shape;580;p31"/>
          <p:cNvSpPr/>
          <p:nvPr/>
        </p:nvSpPr>
        <p:spPr>
          <a:xfrm>
            <a:off x="605450" y="2299600"/>
            <a:ext cx="4381200" cy="793800"/>
          </a:xfrm>
          <a:prstGeom prst="chevron">
            <a:avLst>
              <a:gd fmla="val 50000" name="adj"/>
            </a:avLst>
          </a:prstGeom>
          <a:solidFill>
            <a:srgbClr val="DB84FD"/>
          </a:solidFill>
          <a:ln cap="flat" cmpd="sng" w="9525">
            <a:solidFill>
              <a:srgbClr val="DB84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581" name="Google Shape;581;p31"/>
          <p:cNvSpPr/>
          <p:nvPr/>
        </p:nvSpPr>
        <p:spPr>
          <a:xfrm>
            <a:off x="605461" y="2158925"/>
            <a:ext cx="4381200" cy="793800"/>
          </a:xfrm>
          <a:prstGeom prst="chevron">
            <a:avLst>
              <a:gd fmla="val 50000" name="adj"/>
            </a:avLst>
          </a:prstGeom>
          <a:solidFill>
            <a:schemeClr val="lt1"/>
          </a:solidFill>
          <a:ln cap="flat" cmpd="sng" w="19050">
            <a:solidFill>
              <a:srgbClr val="DB84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Wind Rose Plot Across the Northwestern Himalayas (2010–2024)</a:t>
            </a:r>
            <a:endParaRPr b="1" i="0" sz="1400" u="none" cap="none" strike="noStrike">
              <a:solidFill>
                <a:schemeClr val="dk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2"/>
          <p:cNvSpPr txBox="1"/>
          <p:nvPr>
            <p:ph type="title"/>
          </p:nvPr>
        </p:nvSpPr>
        <p:spPr>
          <a:xfrm>
            <a:off x="728450" y="10020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BIVARIATE POLAR PLOTS </a:t>
            </a:r>
            <a:endParaRPr/>
          </a:p>
        </p:txBody>
      </p:sp>
      <p:sp>
        <p:nvSpPr>
          <p:cNvPr id="588" name="Google Shape;588;p32"/>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589" name="Google Shape;589;p32"/>
          <p:cNvGrpSpPr/>
          <p:nvPr/>
        </p:nvGrpSpPr>
        <p:grpSpPr>
          <a:xfrm>
            <a:off x="1298076" y="1503391"/>
            <a:ext cx="9441311" cy="4715617"/>
            <a:chOff x="700187" y="1833063"/>
            <a:chExt cx="8262283" cy="3997641"/>
          </a:xfrm>
        </p:grpSpPr>
        <p:grpSp>
          <p:nvGrpSpPr>
            <p:cNvPr id="590" name="Google Shape;590;p32"/>
            <p:cNvGrpSpPr/>
            <p:nvPr/>
          </p:nvGrpSpPr>
          <p:grpSpPr>
            <a:xfrm>
              <a:off x="700187" y="1922524"/>
              <a:ext cx="3778420" cy="3908180"/>
              <a:chOff x="-5222909" y="1618947"/>
              <a:chExt cx="3124469" cy="3896102"/>
            </a:xfrm>
          </p:grpSpPr>
          <p:sp>
            <p:nvSpPr>
              <p:cNvPr id="591" name="Google Shape;591;p32"/>
              <p:cNvSpPr/>
              <p:nvPr/>
            </p:nvSpPr>
            <p:spPr>
              <a:xfrm rot="-224403">
                <a:off x="-5104800" y="1709190"/>
                <a:ext cx="2888251" cy="3715615"/>
              </a:xfrm>
              <a:prstGeom prst="roundRect">
                <a:avLst>
                  <a:gd fmla="val 10302" name="adj"/>
                </a:avLst>
              </a:prstGeom>
              <a:solidFill>
                <a:srgbClr val="FD84D0"/>
              </a:solidFill>
              <a:ln cap="flat" cmpd="sng" w="9525">
                <a:solidFill>
                  <a:srgbClr val="FD84E4"/>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92" name="Google Shape;592;p32"/>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593" name="Google Shape;593;p32"/>
            <p:cNvGrpSpPr/>
            <p:nvPr/>
          </p:nvGrpSpPr>
          <p:grpSpPr>
            <a:xfrm>
              <a:off x="5184050" y="1833063"/>
              <a:ext cx="3778420" cy="3908180"/>
              <a:chOff x="-5222909" y="1618947"/>
              <a:chExt cx="3124469" cy="3896102"/>
            </a:xfrm>
          </p:grpSpPr>
          <p:sp>
            <p:nvSpPr>
              <p:cNvPr id="594" name="Google Shape;594;p32"/>
              <p:cNvSpPr/>
              <p:nvPr/>
            </p:nvSpPr>
            <p:spPr>
              <a:xfrm rot="-224403">
                <a:off x="-5104800" y="1709190"/>
                <a:ext cx="2888251" cy="3715615"/>
              </a:xfrm>
              <a:prstGeom prst="roundRect">
                <a:avLst>
                  <a:gd fmla="val 10302" name="adj"/>
                </a:avLst>
              </a:prstGeom>
              <a:solidFill>
                <a:srgbClr val="9DC77D"/>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595" name="Google Shape;595;p32"/>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596" name="Google Shape;596;p32"/>
          <p:cNvSpPr txBox="1"/>
          <p:nvPr/>
        </p:nvSpPr>
        <p:spPr>
          <a:xfrm>
            <a:off x="1994050" y="2743200"/>
            <a:ext cx="3160800" cy="31026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Corbel"/>
              <a:buChar char="●"/>
            </a:pPr>
            <a:r>
              <a:rPr i="0" lang="en-GB" sz="1600" u="none" cap="none" strike="noStrike">
                <a:solidFill>
                  <a:schemeClr val="dk1"/>
                </a:solidFill>
                <a:latin typeface="Corbel"/>
                <a:ea typeface="Corbel"/>
                <a:cs typeface="Corbel"/>
                <a:sym typeface="Corbel"/>
              </a:rPr>
              <a:t>Bivariate polar plots are a graphical tool used to visualize the relationship between two variables.</a:t>
            </a:r>
            <a:endParaRPr i="0" sz="1600" u="none" cap="none" strike="noStrike">
              <a:solidFill>
                <a:schemeClr val="dk1"/>
              </a:solidFill>
              <a:latin typeface="Corbel"/>
              <a:ea typeface="Corbel"/>
              <a:cs typeface="Corbel"/>
              <a:sym typeface="Corbel"/>
            </a:endParaRPr>
          </a:p>
          <a:p>
            <a:pPr indent="0" lvl="0" marL="457200" marR="0" rtl="0" algn="l">
              <a:lnSpc>
                <a:spcPct val="100000"/>
              </a:lnSpc>
              <a:spcBef>
                <a:spcPts val="0"/>
              </a:spcBef>
              <a:spcAft>
                <a:spcPts val="0"/>
              </a:spcAft>
              <a:buClr>
                <a:srgbClr val="000000"/>
              </a:buClr>
              <a:buSzPts val="1500"/>
              <a:buFont typeface="Arial"/>
              <a:buNone/>
            </a:pPr>
            <a:r>
              <a:t/>
            </a:r>
            <a:endParaRPr i="0" sz="1600" u="none" cap="none" strike="noStrike">
              <a:solidFill>
                <a:schemeClr val="dk1"/>
              </a:solidFill>
              <a:latin typeface="Corbel"/>
              <a:ea typeface="Corbel"/>
              <a:cs typeface="Corbel"/>
              <a:sym typeface="Corbel"/>
            </a:endParaRPr>
          </a:p>
          <a:p>
            <a:pPr indent="-330200" lvl="0" marL="457200" marR="0" rtl="0" algn="l">
              <a:lnSpc>
                <a:spcPct val="100000"/>
              </a:lnSpc>
              <a:spcBef>
                <a:spcPts val="0"/>
              </a:spcBef>
              <a:spcAft>
                <a:spcPts val="0"/>
              </a:spcAft>
              <a:buClr>
                <a:schemeClr val="dk1"/>
              </a:buClr>
              <a:buSzPts val="1600"/>
              <a:buFont typeface="Corbel"/>
              <a:buChar char="●"/>
            </a:pPr>
            <a:r>
              <a:rPr i="0" lang="en-GB" sz="1600" u="none" cap="none" strike="noStrike">
                <a:solidFill>
                  <a:schemeClr val="dk1"/>
                </a:solidFill>
                <a:latin typeface="Corbel"/>
                <a:ea typeface="Corbel"/>
                <a:cs typeface="Corbel"/>
                <a:sym typeface="Corbel"/>
              </a:rPr>
              <a:t>Example : Pollutant concentrations, and wind speed and direction, within a polar coordinate system. </a:t>
            </a:r>
            <a:endParaRPr i="0" sz="1600" u="none" cap="none" strike="noStrike">
              <a:solidFill>
                <a:schemeClr val="dk1"/>
              </a:solidFill>
              <a:latin typeface="Corbel"/>
              <a:ea typeface="Corbel"/>
              <a:cs typeface="Corbel"/>
              <a:sym typeface="Corbel"/>
            </a:endParaRPr>
          </a:p>
        </p:txBody>
      </p:sp>
      <p:sp>
        <p:nvSpPr>
          <p:cNvPr id="597" name="Google Shape;597;p32"/>
          <p:cNvSpPr txBox="1"/>
          <p:nvPr/>
        </p:nvSpPr>
        <p:spPr>
          <a:xfrm>
            <a:off x="7069050" y="2581275"/>
            <a:ext cx="2969400" cy="232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Times New Roman"/>
                <a:ea typeface="Times New Roman"/>
                <a:cs typeface="Times New Roman"/>
                <a:sym typeface="Times New Roman"/>
              </a:rPr>
              <a:t>They help in identifying the source of air pollution by showing how pollutant levels vary with both wind speed and direction.</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i="0" sz="1900" u="none" cap="none" strike="noStrike">
              <a:solidFill>
                <a:schemeClr val="dk1"/>
              </a:solidFill>
              <a:latin typeface="Times New Roman"/>
              <a:ea typeface="Times New Roman"/>
              <a:cs typeface="Times New Roman"/>
              <a:sym typeface="Times New Roman"/>
            </a:endParaRPr>
          </a:p>
        </p:txBody>
      </p:sp>
      <p:sp>
        <p:nvSpPr>
          <p:cNvPr id="598" name="Google Shape;598;p32"/>
          <p:cNvSpPr txBox="1"/>
          <p:nvPr/>
        </p:nvSpPr>
        <p:spPr>
          <a:xfrm>
            <a:off x="1818350" y="1914150"/>
            <a:ext cx="3485700" cy="5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orbel"/>
                <a:ea typeface="Corbel"/>
                <a:cs typeface="Corbel"/>
                <a:sym typeface="Corbel"/>
              </a:rPr>
              <a:t>What are Bivariate Polar Plots?</a:t>
            </a:r>
            <a:endParaRPr b="1" i="0" sz="1800" u="none" cap="none" strike="noStrike">
              <a:solidFill>
                <a:schemeClr val="dk1"/>
              </a:solidFill>
              <a:latin typeface="Corbel"/>
              <a:ea typeface="Corbel"/>
              <a:cs typeface="Corbel"/>
              <a:sym typeface="Corbel"/>
            </a:endParaRPr>
          </a:p>
        </p:txBody>
      </p:sp>
      <p:sp>
        <p:nvSpPr>
          <p:cNvPr id="599" name="Google Shape;599;p32"/>
          <p:cNvSpPr txBox="1"/>
          <p:nvPr/>
        </p:nvSpPr>
        <p:spPr>
          <a:xfrm>
            <a:off x="7259500" y="1799400"/>
            <a:ext cx="2639100" cy="39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Times New Roman"/>
                <a:ea typeface="Times New Roman"/>
                <a:cs typeface="Times New Roman"/>
                <a:sym typeface="Times New Roman"/>
              </a:rPr>
              <a:t>Why  to use ?</a:t>
            </a:r>
            <a:endParaRPr b="1"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3"/>
          <p:cNvSpPr txBox="1"/>
          <p:nvPr>
            <p:ph type="title"/>
          </p:nvPr>
        </p:nvSpPr>
        <p:spPr>
          <a:xfrm>
            <a:off x="783675" y="311550"/>
            <a:ext cx="10360200" cy="756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a:t>KEY FEATURES AND USES</a:t>
            </a:r>
            <a:endParaRPr/>
          </a:p>
        </p:txBody>
      </p:sp>
      <p:sp>
        <p:nvSpPr>
          <p:cNvPr id="606" name="Google Shape;606;p33"/>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607" name="Google Shape;607;p33"/>
          <p:cNvGrpSpPr/>
          <p:nvPr/>
        </p:nvGrpSpPr>
        <p:grpSpPr>
          <a:xfrm>
            <a:off x="1073924" y="1279348"/>
            <a:ext cx="9749494" cy="4666446"/>
            <a:chOff x="700187" y="1833063"/>
            <a:chExt cx="8262283" cy="3997641"/>
          </a:xfrm>
        </p:grpSpPr>
        <p:grpSp>
          <p:nvGrpSpPr>
            <p:cNvPr id="608" name="Google Shape;608;p33"/>
            <p:cNvGrpSpPr/>
            <p:nvPr/>
          </p:nvGrpSpPr>
          <p:grpSpPr>
            <a:xfrm>
              <a:off x="700187" y="1922524"/>
              <a:ext cx="3778420" cy="3908180"/>
              <a:chOff x="-5222909" y="1618947"/>
              <a:chExt cx="3124469" cy="3896102"/>
            </a:xfrm>
          </p:grpSpPr>
          <p:sp>
            <p:nvSpPr>
              <p:cNvPr id="609" name="Google Shape;609;p33"/>
              <p:cNvSpPr/>
              <p:nvPr/>
            </p:nvSpPr>
            <p:spPr>
              <a:xfrm rot="-224403">
                <a:off x="-5104800" y="1709190"/>
                <a:ext cx="2888251" cy="3715615"/>
              </a:xfrm>
              <a:prstGeom prst="roundRect">
                <a:avLst>
                  <a:gd fmla="val 10302" name="adj"/>
                </a:avLst>
              </a:prstGeom>
              <a:solidFill>
                <a:srgbClr val="B82180"/>
              </a:solidFill>
              <a:ln cap="flat" cmpd="sng" w="9525">
                <a:solidFill>
                  <a:srgbClr val="B8218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610" name="Google Shape;610;p33"/>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611" name="Google Shape;611;p33"/>
            <p:cNvGrpSpPr/>
            <p:nvPr/>
          </p:nvGrpSpPr>
          <p:grpSpPr>
            <a:xfrm>
              <a:off x="5184050" y="1833063"/>
              <a:ext cx="3778420" cy="3908180"/>
              <a:chOff x="-5222909" y="1618947"/>
              <a:chExt cx="3124469" cy="3896102"/>
            </a:xfrm>
          </p:grpSpPr>
          <p:sp>
            <p:nvSpPr>
              <p:cNvPr id="612" name="Google Shape;612;p33"/>
              <p:cNvSpPr/>
              <p:nvPr/>
            </p:nvSpPr>
            <p:spPr>
              <a:xfrm rot="-224403">
                <a:off x="-5104800" y="1709190"/>
                <a:ext cx="2888251" cy="3715615"/>
              </a:xfrm>
              <a:prstGeom prst="roundRect">
                <a:avLst>
                  <a:gd fmla="val 10302" name="adj"/>
                </a:avLst>
              </a:prstGeom>
              <a:solidFill>
                <a:srgbClr val="84DCFD"/>
              </a:solidFill>
              <a:ln cap="flat" cmpd="sng" w="9525">
                <a:solidFill>
                  <a:srgbClr val="84DC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613" name="Google Shape;613;p33"/>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614" name="Google Shape;614;p33"/>
          <p:cNvSpPr txBox="1"/>
          <p:nvPr/>
        </p:nvSpPr>
        <p:spPr>
          <a:xfrm>
            <a:off x="1587500" y="1690225"/>
            <a:ext cx="3539100" cy="395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z="1700" u="none" cap="none" strike="noStrike">
                <a:solidFill>
                  <a:schemeClr val="dk1"/>
                </a:solidFill>
                <a:latin typeface="Corbel"/>
                <a:ea typeface="Corbel"/>
                <a:cs typeface="Corbel"/>
                <a:sym typeface="Corbel"/>
              </a:rPr>
              <a:t>Polar Coordinate System</a:t>
            </a:r>
            <a:endParaRPr b="1" i="0" sz="17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300"/>
              <a:buFont typeface="Arial"/>
              <a:buNone/>
            </a:pPr>
            <a:r>
              <a:rPr i="0" lang="en-GB" sz="1700" u="none" cap="none" strike="noStrike">
                <a:solidFill>
                  <a:schemeClr val="dk1"/>
                </a:solidFill>
                <a:latin typeface="Corbel"/>
                <a:ea typeface="Corbel"/>
                <a:cs typeface="Corbel"/>
                <a:sym typeface="Corbel"/>
              </a:rPr>
              <a:t>The plots use polar coordinates (radius for wind speed and angle for wind direction) to represent the data.</a:t>
            </a:r>
            <a:endParaRPr i="0" sz="17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300"/>
              <a:buFont typeface="Arial"/>
              <a:buNone/>
            </a:pPr>
            <a:r>
              <a:t/>
            </a:r>
            <a:endParaRPr i="0" sz="17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300"/>
              <a:buFont typeface="Arial"/>
              <a:buNone/>
            </a:pPr>
            <a:r>
              <a:rPr b="1" i="0" lang="en-GB" sz="1700" u="none" cap="none" strike="noStrike">
                <a:solidFill>
                  <a:schemeClr val="dk1"/>
                </a:solidFill>
                <a:latin typeface="Corbel"/>
                <a:ea typeface="Corbel"/>
                <a:cs typeface="Corbel"/>
                <a:sym typeface="Corbel"/>
              </a:rPr>
              <a:t>Identifying Source Direction:</a:t>
            </a:r>
            <a:endParaRPr b="1" i="0" sz="17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300"/>
              <a:buFont typeface="Arial"/>
              <a:buNone/>
            </a:pPr>
            <a:r>
              <a:rPr i="0" lang="en-GB" sz="1700" u="none" cap="none" strike="noStrike">
                <a:solidFill>
                  <a:schemeClr val="dk1"/>
                </a:solidFill>
                <a:latin typeface="Corbel"/>
                <a:ea typeface="Corbel"/>
                <a:cs typeface="Corbel"/>
                <a:sym typeface="Corbel"/>
              </a:rPr>
              <a:t>By observing the patterns of pollutant concentrations at different wind directions, it becomes easier to pinpoint the general direction of potential sources.</a:t>
            </a:r>
            <a:r>
              <a:rPr i="0" lang="en-GB" sz="1500" u="none" cap="none" strike="noStrike">
                <a:solidFill>
                  <a:schemeClr val="dk1"/>
                </a:solidFill>
                <a:latin typeface="Corbel"/>
                <a:ea typeface="Corbel"/>
                <a:cs typeface="Corbel"/>
                <a:sym typeface="Corbel"/>
              </a:rPr>
              <a:t> </a:t>
            </a:r>
            <a:endParaRPr i="0" sz="1500" u="none" cap="none" strike="noStrike">
              <a:solidFill>
                <a:schemeClr val="dk1"/>
              </a:solidFill>
              <a:latin typeface="Corbel"/>
              <a:ea typeface="Corbel"/>
              <a:cs typeface="Corbel"/>
              <a:sym typeface="Corbel"/>
            </a:endParaRPr>
          </a:p>
          <a:p>
            <a:pPr indent="0" lvl="0" marL="0" marR="0" rtl="0" algn="l">
              <a:lnSpc>
                <a:spcPct val="122727"/>
              </a:lnSpc>
              <a:spcBef>
                <a:spcPts val="0"/>
              </a:spcBef>
              <a:spcAft>
                <a:spcPts val="0"/>
              </a:spcAft>
              <a:buClr>
                <a:srgbClr val="000000"/>
              </a:buClr>
              <a:buSzPts val="1100"/>
              <a:buFont typeface="Arial"/>
              <a:buNone/>
            </a:pPr>
            <a:r>
              <a:t/>
            </a:r>
            <a:endParaRPr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100"/>
              <a:buFont typeface="Arial"/>
              <a:buNone/>
            </a:pPr>
            <a:r>
              <a:t/>
            </a:r>
            <a:endParaRPr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i="0" sz="2200" u="none" cap="none" strike="noStrike">
              <a:solidFill>
                <a:schemeClr val="dk1"/>
              </a:solidFill>
              <a:latin typeface="Corbel"/>
              <a:ea typeface="Corbel"/>
              <a:cs typeface="Corbel"/>
              <a:sym typeface="Corbel"/>
            </a:endParaRPr>
          </a:p>
        </p:txBody>
      </p:sp>
      <p:sp>
        <p:nvSpPr>
          <p:cNvPr id="615" name="Google Shape;615;p33"/>
          <p:cNvSpPr txBox="1"/>
          <p:nvPr/>
        </p:nvSpPr>
        <p:spPr>
          <a:xfrm>
            <a:off x="6681450" y="1532525"/>
            <a:ext cx="3721500" cy="395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500" u="none" cap="none" strike="noStrike">
                <a:solidFill>
                  <a:schemeClr val="dk1"/>
                </a:solidFill>
                <a:latin typeface="Corbel"/>
                <a:ea typeface="Corbel"/>
                <a:cs typeface="Corbel"/>
                <a:sym typeface="Corbel"/>
              </a:rPr>
              <a:t>Understanding Source Proximity:</a:t>
            </a:r>
            <a:endParaRPr b="1"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100"/>
              <a:buFont typeface="Arial"/>
              <a:buNone/>
            </a:pPr>
            <a:r>
              <a:rPr i="0" lang="en-GB" sz="1500" u="none" cap="none" strike="noStrike">
                <a:solidFill>
                  <a:schemeClr val="dk1"/>
                </a:solidFill>
                <a:latin typeface="Corbel"/>
                <a:ea typeface="Corbel"/>
                <a:cs typeface="Corbel"/>
                <a:sym typeface="Corbel"/>
              </a:rPr>
              <a:t>The radial distance from the center of the plot can provide an indication of how close the source is to the monitoring location</a:t>
            </a:r>
            <a:endParaRPr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i="0" sz="22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100"/>
              <a:buFont typeface="Arial"/>
              <a:buNone/>
            </a:pPr>
            <a:r>
              <a:rPr b="1" i="0" lang="en-GB" sz="1500" u="none" cap="none" strike="noStrike">
                <a:solidFill>
                  <a:schemeClr val="dk1"/>
                </a:solidFill>
                <a:latin typeface="Corbel"/>
                <a:ea typeface="Corbel"/>
                <a:cs typeface="Corbel"/>
                <a:sym typeface="Corbel"/>
              </a:rPr>
              <a:t>Visualizing Concentration Patterns:</a:t>
            </a:r>
            <a:endParaRPr b="1"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chemeClr val="dk1"/>
              </a:buClr>
              <a:buSzPts val="1100"/>
              <a:buFont typeface="Arial"/>
              <a:buNone/>
            </a:pPr>
            <a:r>
              <a:rPr i="0" lang="en-GB" sz="1500" u="none" cap="none" strike="noStrike">
                <a:solidFill>
                  <a:schemeClr val="dk1"/>
                </a:solidFill>
                <a:latin typeface="Corbel"/>
                <a:ea typeface="Corbel"/>
                <a:cs typeface="Corbel"/>
                <a:sym typeface="Corbel"/>
              </a:rPr>
              <a:t>The plots use color scales to represent pollutant concentrations, making it easy to see where concentrations are high or low across different wind speeds and directions. </a:t>
            </a:r>
            <a:endParaRPr i="0" sz="1500" u="none" cap="none" strike="noStrike">
              <a:solidFill>
                <a:schemeClr val="dk1"/>
              </a:solidFill>
              <a:latin typeface="Corbel"/>
              <a:ea typeface="Corbel"/>
              <a:cs typeface="Corbel"/>
              <a:sym typeface="Corbel"/>
            </a:endParaRPr>
          </a:p>
          <a:p>
            <a:pPr indent="0" lvl="0" marL="0" marR="0" rtl="0" algn="l">
              <a:lnSpc>
                <a:spcPct val="122727"/>
              </a:lnSpc>
              <a:spcBef>
                <a:spcPts val="0"/>
              </a:spcBef>
              <a:spcAft>
                <a:spcPts val="0"/>
              </a:spcAft>
              <a:buClr>
                <a:schemeClr val="dk1"/>
              </a:buClr>
              <a:buSzPts val="1100"/>
              <a:buFont typeface="Arial"/>
              <a:buNone/>
            </a:pPr>
            <a:r>
              <a:t/>
            </a:r>
            <a:endParaRPr i="0" sz="15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i="0" sz="2200" u="none" cap="none" strike="noStrike">
              <a:solidFill>
                <a:schemeClr val="dk1"/>
              </a:solidFill>
              <a:latin typeface="Corbel"/>
              <a:ea typeface="Corbel"/>
              <a:cs typeface="Corbel"/>
              <a:sym typeface="Corbe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4"/>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622" name="Google Shape;622;p34"/>
          <p:cNvGrpSpPr/>
          <p:nvPr/>
        </p:nvGrpSpPr>
        <p:grpSpPr>
          <a:xfrm>
            <a:off x="1356958" y="298116"/>
            <a:ext cx="9190053" cy="3120155"/>
            <a:chOff x="-5110104" y="1709245"/>
            <a:chExt cx="3011848" cy="3799045"/>
          </a:xfrm>
        </p:grpSpPr>
        <p:sp>
          <p:nvSpPr>
            <p:cNvPr id="623" name="Google Shape;623;p34"/>
            <p:cNvSpPr/>
            <p:nvPr/>
          </p:nvSpPr>
          <p:spPr>
            <a:xfrm rot="-224462">
              <a:off x="-4997348" y="1873900"/>
              <a:ext cx="2786337" cy="3547269"/>
            </a:xfrm>
            <a:prstGeom prst="roundRect">
              <a:avLst>
                <a:gd fmla="val 10302" name="adj"/>
              </a:avLst>
            </a:prstGeom>
            <a:solidFill>
              <a:srgbClr val="E06666"/>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624" name="Google Shape;624;p34"/>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625" name="Google Shape;625;p34"/>
          <p:cNvSpPr txBox="1"/>
          <p:nvPr/>
        </p:nvSpPr>
        <p:spPr>
          <a:xfrm>
            <a:off x="771300" y="4108825"/>
            <a:ext cx="10454100" cy="2042700"/>
          </a:xfrm>
          <a:prstGeom prst="rect">
            <a:avLst/>
          </a:prstGeom>
          <a:noFill/>
          <a:ln>
            <a:noFill/>
          </a:ln>
        </p:spPr>
        <p:txBody>
          <a:bodyPr anchorCtr="0" anchor="t" bIns="91425" lIns="91425" spcFirstLastPara="1" rIns="91425" wrap="square" tIns="91425">
            <a:noAutofit/>
          </a:bodyPr>
          <a:lstStyle/>
          <a:p>
            <a:pPr indent="0" lvl="0" marL="457200" marR="0" rtl="0" algn="just">
              <a:lnSpc>
                <a:spcPct val="115000"/>
              </a:lnSpc>
              <a:spcBef>
                <a:spcPts val="0"/>
              </a:spcBef>
              <a:spcAft>
                <a:spcPts val="1200"/>
              </a:spcAft>
              <a:buClr>
                <a:srgbClr val="000000"/>
              </a:buClr>
              <a:buSzPts val="1700"/>
              <a:buFont typeface="Arial"/>
              <a:buNone/>
            </a:pPr>
            <a:r>
              <a:rPr i="0" lang="en-GB" sz="1800" u="none" cap="none" strike="noStrike">
                <a:solidFill>
                  <a:schemeClr val="dk1"/>
                </a:solidFill>
                <a:latin typeface="Corbel"/>
                <a:ea typeface="Corbel"/>
                <a:cs typeface="Corbel"/>
                <a:sym typeface="Corbel"/>
              </a:rPr>
              <a:t>The Figure shows </a:t>
            </a:r>
            <a:r>
              <a:rPr b="1" i="0" lang="en-GB" sz="1800" u="none" cap="none" strike="noStrike">
                <a:solidFill>
                  <a:schemeClr val="dk1"/>
                </a:solidFill>
                <a:latin typeface="Corbel"/>
                <a:ea typeface="Corbel"/>
                <a:cs typeface="Corbel"/>
                <a:sym typeface="Corbel"/>
              </a:rPr>
              <a:t>PM2.5 pollution distribution plots</a:t>
            </a:r>
            <a:r>
              <a:rPr i="0" lang="en-GB" sz="1800" u="none" cap="none" strike="noStrike">
                <a:solidFill>
                  <a:schemeClr val="dk1"/>
                </a:solidFill>
                <a:latin typeface="Corbel"/>
                <a:ea typeface="Corbel"/>
                <a:cs typeface="Corbel"/>
                <a:sym typeface="Corbel"/>
              </a:rPr>
              <a:t> for three seasons — </a:t>
            </a:r>
            <a:r>
              <a:rPr b="1" i="0" lang="en-GB" sz="1800" u="none" cap="none" strike="noStrike">
                <a:solidFill>
                  <a:schemeClr val="dk1"/>
                </a:solidFill>
                <a:latin typeface="Corbel"/>
                <a:ea typeface="Corbel"/>
                <a:cs typeface="Corbel"/>
                <a:sym typeface="Corbel"/>
              </a:rPr>
              <a:t>Winter, Summer, and Monsoon</a:t>
            </a:r>
            <a:r>
              <a:rPr i="0" lang="en-GB" sz="1800" u="none" cap="none" strike="noStrike">
                <a:solidFill>
                  <a:schemeClr val="dk1"/>
                </a:solidFill>
                <a:latin typeface="Corbel"/>
                <a:ea typeface="Corbel"/>
                <a:cs typeface="Corbel"/>
                <a:sym typeface="Corbel"/>
              </a:rPr>
              <a:t> — using </a:t>
            </a:r>
            <a:r>
              <a:rPr b="1" i="0" lang="en-GB" sz="1800" u="none" cap="none" strike="noStrike">
                <a:solidFill>
                  <a:schemeClr val="dk1"/>
                </a:solidFill>
                <a:latin typeface="Corbel"/>
                <a:ea typeface="Corbel"/>
                <a:cs typeface="Corbel"/>
                <a:sym typeface="Corbel"/>
              </a:rPr>
              <a:t>polar bivariate plots</a:t>
            </a:r>
            <a:r>
              <a:rPr i="0" lang="en-GB" sz="1800" u="none" cap="none" strike="noStrike">
                <a:solidFill>
                  <a:schemeClr val="dk1"/>
                </a:solidFill>
                <a:latin typeface="Corbel"/>
                <a:ea typeface="Corbel"/>
                <a:cs typeface="Corbel"/>
                <a:sym typeface="Corbel"/>
              </a:rPr>
              <a:t>. These visualizations combine </a:t>
            </a:r>
            <a:r>
              <a:rPr b="1" i="0" lang="en-GB" sz="1800" u="none" cap="none" strike="noStrike">
                <a:solidFill>
                  <a:schemeClr val="dk1"/>
                </a:solidFill>
                <a:latin typeface="Corbel"/>
                <a:ea typeface="Corbel"/>
                <a:cs typeface="Corbel"/>
                <a:sym typeface="Corbel"/>
              </a:rPr>
              <a:t>wind direction, wind speed</a:t>
            </a:r>
            <a:r>
              <a:rPr i="0" lang="en-GB" sz="1800" u="none" cap="none" strike="noStrike">
                <a:solidFill>
                  <a:schemeClr val="dk1"/>
                </a:solidFill>
                <a:latin typeface="Corbel"/>
                <a:ea typeface="Corbel"/>
                <a:cs typeface="Corbel"/>
                <a:sym typeface="Corbel"/>
              </a:rPr>
              <a:t>, and </a:t>
            </a:r>
            <a:r>
              <a:rPr b="1" i="0" lang="en-GB" sz="1800" u="none" cap="none" strike="noStrike">
                <a:solidFill>
                  <a:schemeClr val="dk1"/>
                </a:solidFill>
                <a:latin typeface="Corbel"/>
                <a:ea typeface="Corbel"/>
                <a:cs typeface="Corbel"/>
                <a:sym typeface="Corbel"/>
              </a:rPr>
              <a:t>PM2.5 concentration</a:t>
            </a:r>
            <a:r>
              <a:rPr i="0" lang="en-GB" sz="1800" u="none" cap="none" strike="noStrike">
                <a:solidFill>
                  <a:schemeClr val="dk1"/>
                </a:solidFill>
                <a:latin typeface="Corbel"/>
                <a:ea typeface="Corbel"/>
                <a:cs typeface="Corbel"/>
                <a:sym typeface="Corbel"/>
              </a:rPr>
              <a:t> to reveal how pollution levels vary based on wind patterns.</a:t>
            </a:r>
            <a:endParaRPr i="0" sz="2400" u="none" cap="none" strike="noStrike">
              <a:solidFill>
                <a:schemeClr val="dk1"/>
              </a:solidFill>
              <a:latin typeface="Corbel"/>
              <a:ea typeface="Corbel"/>
              <a:cs typeface="Corbel"/>
              <a:sym typeface="Corbel"/>
            </a:endParaRPr>
          </a:p>
        </p:txBody>
      </p:sp>
      <p:pic>
        <p:nvPicPr>
          <p:cNvPr id="626" name="Google Shape;626;p34"/>
          <p:cNvPicPr preferRelativeResize="0"/>
          <p:nvPr/>
        </p:nvPicPr>
        <p:blipFill>
          <a:blip r:embed="rId3">
            <a:alphaModFix/>
          </a:blip>
          <a:stretch>
            <a:fillRect/>
          </a:stretch>
        </p:blipFill>
        <p:spPr>
          <a:xfrm>
            <a:off x="1716601" y="335300"/>
            <a:ext cx="8183698" cy="28989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5"/>
          <p:cNvSpPr txBox="1"/>
          <p:nvPr>
            <p:ph type="title"/>
          </p:nvPr>
        </p:nvSpPr>
        <p:spPr>
          <a:xfrm>
            <a:off x="867175" y="538200"/>
            <a:ext cx="10360200" cy="752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5000"/>
              </a:lnSpc>
              <a:spcBef>
                <a:spcPts val="1400"/>
              </a:spcBef>
              <a:spcAft>
                <a:spcPts val="0"/>
              </a:spcAft>
              <a:buClr>
                <a:schemeClr val="dk1"/>
              </a:buClr>
              <a:buSzPct val="43611"/>
              <a:buFont typeface="Arial"/>
              <a:buNone/>
            </a:pPr>
            <a:r>
              <a:t/>
            </a:r>
            <a:endParaRPr b="1" sz="2522" u="none">
              <a:latin typeface="Arial"/>
              <a:ea typeface="Arial"/>
              <a:cs typeface="Arial"/>
              <a:sym typeface="Arial"/>
            </a:endParaRPr>
          </a:p>
          <a:p>
            <a:pPr indent="0" lvl="0" marL="0" rtl="0" algn="l">
              <a:lnSpc>
                <a:spcPct val="115000"/>
              </a:lnSpc>
              <a:spcBef>
                <a:spcPts val="1400"/>
              </a:spcBef>
              <a:spcAft>
                <a:spcPts val="0"/>
              </a:spcAft>
              <a:buClr>
                <a:schemeClr val="dk1"/>
              </a:buClr>
              <a:buSzPct val="43611"/>
              <a:buFont typeface="Arial"/>
              <a:buNone/>
            </a:pPr>
            <a:r>
              <a:t/>
            </a:r>
            <a:endParaRPr b="1" sz="2522" u="none">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sz="1100" u="none">
              <a:latin typeface="Arial"/>
              <a:ea typeface="Arial"/>
              <a:cs typeface="Arial"/>
              <a:sym typeface="Arial"/>
            </a:endParaRPr>
          </a:p>
          <a:p>
            <a:pPr indent="0" lvl="0" marL="0" rtl="0" algn="l">
              <a:lnSpc>
                <a:spcPct val="115000"/>
              </a:lnSpc>
              <a:spcBef>
                <a:spcPts val="1400"/>
              </a:spcBef>
              <a:spcAft>
                <a:spcPts val="0"/>
              </a:spcAft>
              <a:buClr>
                <a:schemeClr val="dk1"/>
              </a:buClr>
              <a:buSzPct val="43611"/>
              <a:buFont typeface="Arial"/>
              <a:buNone/>
            </a:pPr>
            <a:r>
              <a:rPr b="1" lang="en-GB" sz="2522" u="none">
                <a:latin typeface="Arial"/>
                <a:ea typeface="Arial"/>
                <a:cs typeface="Arial"/>
                <a:sym typeface="Arial"/>
              </a:rPr>
              <a:t>✅ EXPLANATION OF THE PLOT :</a:t>
            </a:r>
            <a:endParaRPr/>
          </a:p>
        </p:txBody>
      </p:sp>
      <p:sp>
        <p:nvSpPr>
          <p:cNvPr id="633" name="Google Shape;633;p35"/>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grpSp>
        <p:nvGrpSpPr>
          <p:cNvPr id="634" name="Google Shape;634;p35"/>
          <p:cNvGrpSpPr/>
          <p:nvPr/>
        </p:nvGrpSpPr>
        <p:grpSpPr>
          <a:xfrm>
            <a:off x="1858275" y="1382127"/>
            <a:ext cx="8796853" cy="4799967"/>
            <a:chOff x="700187" y="1833063"/>
            <a:chExt cx="8262283" cy="3997641"/>
          </a:xfrm>
        </p:grpSpPr>
        <p:grpSp>
          <p:nvGrpSpPr>
            <p:cNvPr id="635" name="Google Shape;635;p35"/>
            <p:cNvGrpSpPr/>
            <p:nvPr/>
          </p:nvGrpSpPr>
          <p:grpSpPr>
            <a:xfrm>
              <a:off x="700187" y="1922524"/>
              <a:ext cx="3778420" cy="3908180"/>
              <a:chOff x="-5222909" y="1618947"/>
              <a:chExt cx="3124469" cy="3896102"/>
            </a:xfrm>
          </p:grpSpPr>
          <p:sp>
            <p:nvSpPr>
              <p:cNvPr id="636" name="Google Shape;636;p35"/>
              <p:cNvSpPr/>
              <p:nvPr/>
            </p:nvSpPr>
            <p:spPr>
              <a:xfrm rot="-224403">
                <a:off x="-5104800" y="1709190"/>
                <a:ext cx="2888251" cy="3715615"/>
              </a:xfrm>
              <a:prstGeom prst="roundRect">
                <a:avLst>
                  <a:gd fmla="val 10302" name="adj"/>
                </a:avLst>
              </a:prstGeom>
              <a:solidFill>
                <a:srgbClr val="B82180"/>
              </a:solidFill>
              <a:ln cap="flat" cmpd="sng" w="9525">
                <a:solidFill>
                  <a:srgbClr val="B82180"/>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637" name="Google Shape;637;p35"/>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638" name="Google Shape;638;p35"/>
            <p:cNvGrpSpPr/>
            <p:nvPr/>
          </p:nvGrpSpPr>
          <p:grpSpPr>
            <a:xfrm>
              <a:off x="5184050" y="1833063"/>
              <a:ext cx="3778420" cy="3908180"/>
              <a:chOff x="-5222909" y="1618947"/>
              <a:chExt cx="3124469" cy="3896102"/>
            </a:xfrm>
          </p:grpSpPr>
          <p:sp>
            <p:nvSpPr>
              <p:cNvPr id="639" name="Google Shape;639;p35"/>
              <p:cNvSpPr/>
              <p:nvPr/>
            </p:nvSpPr>
            <p:spPr>
              <a:xfrm rot="-224403">
                <a:off x="-5104800" y="1709190"/>
                <a:ext cx="2888251" cy="3715615"/>
              </a:xfrm>
              <a:prstGeom prst="roundRect">
                <a:avLst>
                  <a:gd fmla="val 10302" name="adj"/>
                </a:avLst>
              </a:prstGeom>
              <a:solidFill>
                <a:srgbClr val="84DCFD"/>
              </a:solidFill>
              <a:ln cap="flat" cmpd="sng" w="9525">
                <a:solidFill>
                  <a:srgbClr val="84DCFD"/>
                </a:solidFill>
                <a:prstDash val="solid"/>
                <a:round/>
                <a:headEnd len="sm" w="sm" type="none"/>
                <a:tailEnd len="sm" w="sm" type="none"/>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chemeClr val="lt1"/>
                    </a:solidFill>
                    <a:latin typeface="Arial"/>
                    <a:ea typeface="Arial"/>
                    <a:cs typeface="Arial"/>
                    <a:sym typeface="Arial"/>
                  </a:rPr>
                  <a:t>ss</a:t>
                </a:r>
                <a:endParaRPr b="0" i="0" sz="1400" u="none" cap="none" strike="noStrike">
                  <a:solidFill>
                    <a:srgbClr val="000000"/>
                  </a:solidFill>
                  <a:latin typeface="Arial"/>
                  <a:ea typeface="Arial"/>
                  <a:cs typeface="Arial"/>
                  <a:sym typeface="Arial"/>
                </a:endParaRPr>
              </a:p>
            </p:txBody>
          </p:sp>
          <p:sp>
            <p:nvSpPr>
              <p:cNvPr id="640" name="Google Shape;640;p35"/>
              <p:cNvSpPr/>
              <p:nvPr/>
            </p:nvSpPr>
            <p:spPr>
              <a:xfrm>
                <a:off x="-5056659" y="1709245"/>
                <a:ext cx="2888400" cy="3715500"/>
              </a:xfrm>
              <a:prstGeom prst="roundRect">
                <a:avLst>
                  <a:gd fmla="val 10302" name="adj"/>
                </a:avLst>
              </a:prstGeom>
              <a:solidFill>
                <a:schemeClr val="lt1"/>
              </a:solidFill>
              <a:ln>
                <a:noFill/>
              </a:ln>
              <a:effectLst>
                <a:outerShdw blurRad="1524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641" name="Google Shape;641;p35"/>
          <p:cNvSpPr txBox="1"/>
          <p:nvPr/>
        </p:nvSpPr>
        <p:spPr>
          <a:xfrm>
            <a:off x="2239525" y="1765600"/>
            <a:ext cx="3484800" cy="381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GB" sz="1600" u="none" cap="none" strike="noStrike">
                <a:solidFill>
                  <a:schemeClr val="dk1"/>
                </a:solidFill>
                <a:latin typeface="Arial"/>
                <a:ea typeface="Arial"/>
                <a:cs typeface="Arial"/>
                <a:sym typeface="Arial"/>
              </a:rPr>
              <a:t>Each plot uses:</a:t>
            </a:r>
            <a:endParaRPr b="1"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chemeClr val="dk1"/>
              </a:buClr>
              <a:buSzPts val="1600"/>
              <a:buFont typeface="Arial"/>
              <a:buChar char="●"/>
            </a:pPr>
            <a:r>
              <a:rPr b="0" i="0" lang="en-GB" sz="1600" u="none" cap="none" strike="noStrike">
                <a:solidFill>
                  <a:schemeClr val="dk1"/>
                </a:solidFill>
                <a:latin typeface="Arial"/>
                <a:ea typeface="Arial"/>
                <a:cs typeface="Arial"/>
                <a:sym typeface="Arial"/>
              </a:rPr>
              <a:t>Radial distance from the center: Represents wind speed (m/s). Outer circles = higher wind speeds.</a:t>
            </a:r>
            <a:br>
              <a:rPr b="0" i="0" lang="en-GB"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Arial"/>
                <a:ea typeface="Arial"/>
                <a:cs typeface="Arial"/>
                <a:sym typeface="Arial"/>
              </a:rPr>
              <a:t>Direction (N, NE, E, etc.) : Indicates wind direction, i.e., where the wind is coming from.</a:t>
            </a:r>
            <a:br>
              <a:rPr b="0" i="0" lang="en-GB"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500"/>
              <a:buFont typeface="Arial"/>
              <a:buNone/>
            </a:pPr>
            <a:r>
              <a:t/>
            </a:r>
            <a:endParaRPr b="0" i="0" sz="1500" u="none" cap="none" strike="noStrike">
              <a:solidFill>
                <a:schemeClr val="dk1"/>
              </a:solidFill>
              <a:latin typeface="Corbel"/>
              <a:ea typeface="Corbel"/>
              <a:cs typeface="Corbel"/>
              <a:sym typeface="Corbel"/>
            </a:endParaRPr>
          </a:p>
        </p:txBody>
      </p:sp>
      <p:sp>
        <p:nvSpPr>
          <p:cNvPr id="642" name="Google Shape;642;p35"/>
          <p:cNvSpPr txBox="1"/>
          <p:nvPr/>
        </p:nvSpPr>
        <p:spPr>
          <a:xfrm>
            <a:off x="7143750" y="2045075"/>
            <a:ext cx="3295200" cy="3176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20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Color scale :  Shows the mean PM2.5 concentration (µg/m³).</a:t>
            </a:r>
            <a:br>
              <a:rPr b="0" i="0" lang="en-GB"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Dark blue = Low PM2.5</a:t>
            </a:r>
            <a:br>
              <a:rPr b="0" i="0" lang="en-GB"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Red = High PM2.5</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ts val="1100"/>
              <a:buFont typeface="Arial"/>
              <a:buNone/>
            </a:pPr>
            <a:r>
              <a:t/>
            </a:r>
            <a:endParaRPr b="0" i="0" sz="17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t/>
            </a:r>
            <a:endParaRPr b="0" i="0" sz="1700" u="none" cap="none" strike="noStrike">
              <a:solidFill>
                <a:schemeClr val="dk1"/>
              </a:solidFill>
              <a:latin typeface="Corbel"/>
              <a:ea typeface="Corbel"/>
              <a:cs typeface="Corbel"/>
              <a:sym typeface="Corbe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6"/>
          <p:cNvSpPr txBox="1"/>
          <p:nvPr>
            <p:ph type="title"/>
          </p:nvPr>
        </p:nvSpPr>
        <p:spPr>
          <a:xfrm>
            <a:off x="734150" y="0"/>
            <a:ext cx="10360200" cy="117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GB" sz="2700" u="none">
                <a:latin typeface="Arial"/>
                <a:ea typeface="Arial"/>
                <a:cs typeface="Arial"/>
                <a:sym typeface="Arial"/>
              </a:rPr>
              <a:t>📌 </a:t>
            </a:r>
            <a:r>
              <a:rPr b="1" lang="en-GB" sz="2700" u="none">
                <a:latin typeface="Arial"/>
                <a:ea typeface="Arial"/>
                <a:cs typeface="Arial"/>
                <a:sym typeface="Arial"/>
              </a:rPr>
              <a:t>KEY OBSERVATIONS BY SEASON</a:t>
            </a:r>
            <a:endParaRPr sz="5200"/>
          </a:p>
        </p:txBody>
      </p:sp>
      <p:sp>
        <p:nvSpPr>
          <p:cNvPr id="649" name="Google Shape;649;p36"/>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650" name="Google Shape;650;p36"/>
          <p:cNvSpPr txBox="1"/>
          <p:nvPr/>
        </p:nvSpPr>
        <p:spPr>
          <a:xfrm>
            <a:off x="541625" y="1550150"/>
            <a:ext cx="10841700" cy="4678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orbel"/>
              <a:buChar char="●"/>
            </a:pPr>
            <a:r>
              <a:rPr lang="en-GB" sz="1700">
                <a:solidFill>
                  <a:schemeClr val="dk1"/>
                </a:solidFill>
                <a:latin typeface="Corbel"/>
                <a:ea typeface="Corbel"/>
                <a:cs typeface="Corbel"/>
                <a:sym typeface="Corbel"/>
              </a:rPr>
              <a:t>During </a:t>
            </a:r>
            <a:r>
              <a:rPr b="1" lang="en-GB" sz="1700">
                <a:solidFill>
                  <a:schemeClr val="dk1"/>
                </a:solidFill>
                <a:latin typeface="Corbel"/>
                <a:ea typeface="Corbel"/>
                <a:cs typeface="Corbel"/>
                <a:sym typeface="Corbel"/>
              </a:rPr>
              <a:t>Winter and Summer</a:t>
            </a:r>
            <a:r>
              <a:rPr lang="en-GB" sz="1700">
                <a:solidFill>
                  <a:schemeClr val="dk1"/>
                </a:solidFill>
                <a:latin typeface="Corbel"/>
                <a:ea typeface="Corbel"/>
                <a:cs typeface="Corbel"/>
                <a:sym typeface="Corbel"/>
              </a:rPr>
              <a:t>, the plots show that many points are grouped in the </a:t>
            </a:r>
            <a:r>
              <a:rPr b="1" lang="en-GB" sz="1700">
                <a:solidFill>
                  <a:schemeClr val="dk1"/>
                </a:solidFill>
                <a:latin typeface="Corbel"/>
                <a:ea typeface="Corbel"/>
                <a:cs typeface="Corbel"/>
                <a:sym typeface="Corbel"/>
              </a:rPr>
              <a:t>west and southwest directions</a:t>
            </a:r>
            <a:r>
              <a:rPr lang="en-GB" sz="1700">
                <a:solidFill>
                  <a:schemeClr val="dk1"/>
                </a:solidFill>
                <a:latin typeface="Corbel"/>
                <a:ea typeface="Corbel"/>
                <a:cs typeface="Corbel"/>
                <a:sym typeface="Corbel"/>
              </a:rPr>
              <a:t>, with </a:t>
            </a:r>
            <a:r>
              <a:rPr b="1" lang="en-GB" sz="1700">
                <a:solidFill>
                  <a:schemeClr val="dk1"/>
                </a:solidFill>
                <a:latin typeface="Corbel"/>
                <a:ea typeface="Corbel"/>
                <a:cs typeface="Corbel"/>
                <a:sym typeface="Corbel"/>
              </a:rPr>
              <a:t>moderate wind speeds</a:t>
            </a:r>
            <a:r>
              <a:rPr lang="en-GB" sz="1700">
                <a:solidFill>
                  <a:schemeClr val="dk1"/>
                </a:solidFill>
                <a:latin typeface="Corbel"/>
                <a:ea typeface="Corbel"/>
                <a:cs typeface="Corbel"/>
                <a:sym typeface="Corbel"/>
              </a:rPr>
              <a:t>.</a:t>
            </a:r>
            <a:endParaRPr sz="1700">
              <a:solidFill>
                <a:schemeClr val="dk1"/>
              </a:solidFill>
              <a:latin typeface="Corbel"/>
              <a:ea typeface="Corbel"/>
              <a:cs typeface="Corbel"/>
              <a:sym typeface="Corbel"/>
            </a:endParaRPr>
          </a:p>
          <a:p>
            <a:pPr indent="0" lvl="0" marL="457200" rtl="0" algn="l">
              <a:spcBef>
                <a:spcPts val="0"/>
              </a:spcBef>
              <a:spcAft>
                <a:spcPts val="0"/>
              </a:spcAft>
              <a:buNone/>
            </a:pPr>
            <a:r>
              <a:t/>
            </a:r>
            <a:endParaRPr sz="1700">
              <a:solidFill>
                <a:schemeClr val="dk1"/>
              </a:solidFill>
              <a:latin typeface="Corbel"/>
              <a:ea typeface="Corbel"/>
              <a:cs typeface="Corbel"/>
              <a:sym typeface="Corbel"/>
            </a:endParaRPr>
          </a:p>
          <a:p>
            <a:pPr indent="-317500" lvl="0" marL="457200" rtl="0" algn="l">
              <a:lnSpc>
                <a:spcPct val="115000"/>
              </a:lnSpc>
              <a:spcBef>
                <a:spcPts val="1200"/>
              </a:spcBef>
              <a:spcAft>
                <a:spcPts val="0"/>
              </a:spcAft>
              <a:buClr>
                <a:schemeClr val="dk1"/>
              </a:buClr>
              <a:buSzPts val="1400"/>
              <a:buFont typeface="Corbel"/>
              <a:buChar char="●"/>
            </a:pPr>
            <a:r>
              <a:rPr lang="en-GB">
                <a:solidFill>
                  <a:schemeClr val="dk1"/>
                </a:solidFill>
                <a:latin typeface="Corbel"/>
                <a:ea typeface="Corbel"/>
                <a:cs typeface="Corbel"/>
                <a:sym typeface="Corbel"/>
              </a:rPr>
              <a:t>I</a:t>
            </a:r>
            <a:r>
              <a:rPr lang="en-GB" sz="1600">
                <a:solidFill>
                  <a:schemeClr val="dk1"/>
                </a:solidFill>
                <a:latin typeface="Corbel"/>
                <a:ea typeface="Corbel"/>
                <a:cs typeface="Corbel"/>
                <a:sym typeface="Corbel"/>
              </a:rPr>
              <a:t>n the </a:t>
            </a:r>
            <a:r>
              <a:rPr b="1" lang="en-GB" sz="1600">
                <a:solidFill>
                  <a:schemeClr val="dk1"/>
                </a:solidFill>
                <a:latin typeface="Corbel"/>
                <a:ea typeface="Corbel"/>
                <a:cs typeface="Corbel"/>
                <a:sym typeface="Corbel"/>
              </a:rPr>
              <a:t>bivariate polar plots for Winter and Summer</a:t>
            </a:r>
            <a:r>
              <a:rPr lang="en-GB" sz="1600">
                <a:solidFill>
                  <a:schemeClr val="dk1"/>
                </a:solidFill>
                <a:latin typeface="Corbel"/>
                <a:ea typeface="Corbel"/>
                <a:cs typeface="Corbel"/>
                <a:sym typeface="Corbel"/>
              </a:rPr>
              <a:t>, most data points are clustered in the </a:t>
            </a:r>
            <a:r>
              <a:rPr b="1" lang="en-GB" sz="1600">
                <a:solidFill>
                  <a:schemeClr val="dk1"/>
                </a:solidFill>
                <a:latin typeface="Corbel"/>
                <a:ea typeface="Corbel"/>
                <a:cs typeface="Corbel"/>
                <a:sym typeface="Corbel"/>
              </a:rPr>
              <a:t>west and southwest directions</a:t>
            </a:r>
            <a:r>
              <a:rPr lang="en-GB" sz="1600">
                <a:solidFill>
                  <a:schemeClr val="dk1"/>
                </a:solidFill>
                <a:latin typeface="Corbel"/>
                <a:ea typeface="Corbel"/>
                <a:cs typeface="Corbel"/>
                <a:sym typeface="Corbel"/>
              </a:rPr>
              <a:t>, with </a:t>
            </a:r>
            <a:r>
              <a:rPr b="1" lang="en-GB" sz="1600">
                <a:solidFill>
                  <a:schemeClr val="dk1"/>
                </a:solidFill>
                <a:latin typeface="Corbel"/>
                <a:ea typeface="Corbel"/>
                <a:cs typeface="Corbel"/>
                <a:sym typeface="Corbel"/>
              </a:rPr>
              <a:t>moderate wind speeds</a:t>
            </a:r>
            <a:r>
              <a:rPr lang="en-GB" sz="1600">
                <a:solidFill>
                  <a:schemeClr val="dk1"/>
                </a:solidFill>
                <a:latin typeface="Corbel"/>
                <a:ea typeface="Corbel"/>
                <a:cs typeface="Corbel"/>
                <a:sym typeface="Corbel"/>
              </a:rPr>
              <a:t>. This shows that </a:t>
            </a:r>
            <a:r>
              <a:rPr b="1" lang="en-GB" sz="1600">
                <a:solidFill>
                  <a:schemeClr val="dk1"/>
                </a:solidFill>
                <a:latin typeface="Corbel"/>
                <a:ea typeface="Corbel"/>
                <a:cs typeface="Corbel"/>
                <a:sym typeface="Corbel"/>
              </a:rPr>
              <a:t>westerly winds</a:t>
            </a:r>
            <a:r>
              <a:rPr lang="en-GB" sz="1600">
                <a:solidFill>
                  <a:schemeClr val="dk1"/>
                </a:solidFill>
                <a:latin typeface="Corbel"/>
                <a:ea typeface="Corbel"/>
                <a:cs typeface="Corbel"/>
                <a:sym typeface="Corbel"/>
              </a:rPr>
              <a:t> are dominant during these seasons. As these winds move across arid or polluted zones, they can carry </a:t>
            </a:r>
            <a:r>
              <a:rPr b="1" lang="en-GB" sz="1600">
                <a:solidFill>
                  <a:schemeClr val="dk1"/>
                </a:solidFill>
                <a:latin typeface="Corbel"/>
                <a:ea typeface="Corbel"/>
                <a:cs typeface="Corbel"/>
                <a:sym typeface="Corbel"/>
              </a:rPr>
              <a:t>dust, smoke, and industrial pollutants</a:t>
            </a:r>
            <a:r>
              <a:rPr lang="en-GB" sz="1600">
                <a:solidFill>
                  <a:schemeClr val="dk1"/>
                </a:solidFill>
                <a:latin typeface="Corbel"/>
                <a:ea typeface="Corbel"/>
                <a:cs typeface="Corbel"/>
                <a:sym typeface="Corbel"/>
              </a:rPr>
              <a:t>, contributing to elevated </a:t>
            </a:r>
            <a:r>
              <a:rPr b="1" lang="en-GB" sz="1600">
                <a:solidFill>
                  <a:schemeClr val="dk1"/>
                </a:solidFill>
                <a:latin typeface="Corbel"/>
                <a:ea typeface="Corbel"/>
                <a:cs typeface="Corbel"/>
                <a:sym typeface="Corbel"/>
              </a:rPr>
              <a:t>PM₂.₅ levels</a:t>
            </a:r>
            <a:r>
              <a:rPr lang="en-GB" sz="1600">
                <a:solidFill>
                  <a:schemeClr val="dk1"/>
                </a:solidFill>
                <a:latin typeface="Corbel"/>
                <a:ea typeface="Corbel"/>
                <a:cs typeface="Corbel"/>
                <a:sym typeface="Corbel"/>
              </a:rPr>
              <a:t>.</a:t>
            </a:r>
            <a:endParaRPr sz="1600">
              <a:solidFill>
                <a:schemeClr val="dk1"/>
              </a:solidFill>
              <a:latin typeface="Corbel"/>
              <a:ea typeface="Corbel"/>
              <a:cs typeface="Corbel"/>
              <a:sym typeface="Corbel"/>
            </a:endParaRPr>
          </a:p>
          <a:p>
            <a:pPr indent="0" lvl="0" marL="457200" rtl="0" algn="l">
              <a:lnSpc>
                <a:spcPct val="115000"/>
              </a:lnSpc>
              <a:spcBef>
                <a:spcPts val="1200"/>
              </a:spcBef>
              <a:spcAft>
                <a:spcPts val="0"/>
              </a:spcAft>
              <a:buNone/>
            </a:pPr>
            <a:r>
              <a:t/>
            </a:r>
            <a:endParaRPr sz="1600">
              <a:solidFill>
                <a:schemeClr val="dk1"/>
              </a:solidFill>
              <a:latin typeface="Corbel"/>
              <a:ea typeface="Corbel"/>
              <a:cs typeface="Corbel"/>
              <a:sym typeface="Corbel"/>
            </a:endParaRPr>
          </a:p>
          <a:p>
            <a:pPr indent="-330200" lvl="0" marL="457200" rtl="0" algn="l">
              <a:lnSpc>
                <a:spcPct val="115000"/>
              </a:lnSpc>
              <a:spcBef>
                <a:spcPts val="1200"/>
              </a:spcBef>
              <a:spcAft>
                <a:spcPts val="0"/>
              </a:spcAft>
              <a:buClr>
                <a:schemeClr val="dk1"/>
              </a:buClr>
              <a:buSzPts val="1600"/>
              <a:buFont typeface="Corbel"/>
              <a:buChar char="●"/>
            </a:pPr>
            <a:r>
              <a:rPr lang="en-GB" sz="1600">
                <a:solidFill>
                  <a:schemeClr val="dk1"/>
                </a:solidFill>
                <a:latin typeface="Corbel"/>
                <a:ea typeface="Corbel"/>
                <a:cs typeface="Corbel"/>
                <a:sym typeface="Corbel"/>
              </a:rPr>
              <a:t>The </a:t>
            </a:r>
            <a:r>
              <a:rPr b="1" lang="en-GB" sz="1600">
                <a:solidFill>
                  <a:schemeClr val="dk1"/>
                </a:solidFill>
                <a:latin typeface="Corbel"/>
                <a:ea typeface="Corbel"/>
                <a:cs typeface="Corbel"/>
                <a:sym typeface="Corbel"/>
              </a:rPr>
              <a:t>highest PM₂.₅ concentrations</a:t>
            </a:r>
            <a:r>
              <a:rPr lang="en-GB" sz="1600">
                <a:solidFill>
                  <a:schemeClr val="dk1"/>
                </a:solidFill>
                <a:latin typeface="Corbel"/>
                <a:ea typeface="Corbel"/>
                <a:cs typeface="Corbel"/>
                <a:sym typeface="Corbel"/>
              </a:rPr>
              <a:t> are found when these westerly winds reach the </a:t>
            </a:r>
            <a:r>
              <a:rPr b="1" lang="en-GB" sz="1600">
                <a:solidFill>
                  <a:schemeClr val="dk1"/>
                </a:solidFill>
                <a:latin typeface="Corbel"/>
                <a:ea typeface="Corbel"/>
                <a:cs typeface="Corbel"/>
                <a:sym typeface="Corbel"/>
              </a:rPr>
              <a:t>northern parts of the study region</a:t>
            </a:r>
            <a:r>
              <a:rPr lang="en-GB" sz="1600">
                <a:solidFill>
                  <a:schemeClr val="dk1"/>
                </a:solidFill>
                <a:latin typeface="Corbel"/>
                <a:ea typeface="Corbel"/>
                <a:cs typeface="Corbel"/>
                <a:sym typeface="Corbel"/>
              </a:rPr>
              <a:t>, coming from  the  </a:t>
            </a:r>
            <a:r>
              <a:rPr b="1" lang="en-GB" sz="1600">
                <a:solidFill>
                  <a:schemeClr val="dk1"/>
                </a:solidFill>
                <a:latin typeface="Corbel"/>
                <a:ea typeface="Corbel"/>
                <a:cs typeface="Corbel"/>
                <a:sym typeface="Corbel"/>
              </a:rPr>
              <a:t>thar desert</a:t>
            </a:r>
            <a:r>
              <a:rPr lang="en-GB" sz="1600">
                <a:solidFill>
                  <a:schemeClr val="dk1"/>
                </a:solidFill>
                <a:latin typeface="Corbel"/>
                <a:ea typeface="Corbel"/>
                <a:cs typeface="Corbel"/>
                <a:sym typeface="Corbel"/>
              </a:rPr>
              <a:t> and the </a:t>
            </a:r>
            <a:r>
              <a:rPr b="1" lang="en-GB" sz="1600">
                <a:solidFill>
                  <a:schemeClr val="dk1"/>
                </a:solidFill>
                <a:latin typeface="Corbel"/>
                <a:ea typeface="Corbel"/>
                <a:cs typeface="Corbel"/>
                <a:sym typeface="Corbel"/>
              </a:rPr>
              <a:t>Indo-Gangetic Plain (IGP) </a:t>
            </a:r>
            <a:r>
              <a:rPr lang="en-GB" sz="1600">
                <a:solidFill>
                  <a:schemeClr val="dk1"/>
                </a:solidFill>
                <a:latin typeface="Corbel"/>
                <a:ea typeface="Corbel"/>
                <a:cs typeface="Corbel"/>
                <a:sym typeface="Corbel"/>
              </a:rPr>
              <a:t>. These high concentrations are often associated with </a:t>
            </a:r>
            <a:r>
              <a:rPr b="1" lang="en-GB" sz="1600">
                <a:solidFill>
                  <a:schemeClr val="dk1"/>
                </a:solidFill>
                <a:latin typeface="Corbel"/>
                <a:ea typeface="Corbel"/>
                <a:cs typeface="Corbel"/>
                <a:sym typeface="Corbel"/>
              </a:rPr>
              <a:t>lower wind speeds</a:t>
            </a:r>
            <a:r>
              <a:rPr lang="en-GB" sz="1600">
                <a:solidFill>
                  <a:schemeClr val="dk1"/>
                </a:solidFill>
                <a:latin typeface="Corbel"/>
                <a:ea typeface="Corbel"/>
                <a:cs typeface="Corbel"/>
                <a:sym typeface="Corbel"/>
              </a:rPr>
              <a:t>, which reduce pollutant dispersion and cause </a:t>
            </a:r>
            <a:r>
              <a:rPr b="1" lang="en-GB" sz="1600">
                <a:solidFill>
                  <a:schemeClr val="dk1"/>
                </a:solidFill>
                <a:latin typeface="Corbel"/>
                <a:ea typeface="Corbel"/>
                <a:cs typeface="Corbel"/>
                <a:sym typeface="Corbel"/>
              </a:rPr>
              <a:t>accumulation of particles</a:t>
            </a:r>
            <a:r>
              <a:rPr lang="en-GB" sz="1600">
                <a:solidFill>
                  <a:schemeClr val="dk1"/>
                </a:solidFill>
                <a:latin typeface="Corbel"/>
                <a:ea typeface="Corbel"/>
                <a:cs typeface="Corbel"/>
                <a:sym typeface="Corbel"/>
              </a:rPr>
              <a:t> in this densely populated and pollution-prone area.</a:t>
            </a:r>
            <a:endParaRPr sz="1600">
              <a:solidFill>
                <a:schemeClr val="dk1"/>
              </a:solidFill>
              <a:latin typeface="Corbel"/>
              <a:ea typeface="Corbel"/>
              <a:cs typeface="Corbel"/>
              <a:sym typeface="Corbel"/>
            </a:endParaRPr>
          </a:p>
          <a:p>
            <a:pPr indent="0" lvl="0" marL="457200" rtl="0" algn="l">
              <a:lnSpc>
                <a:spcPct val="115000"/>
              </a:lnSpc>
              <a:spcBef>
                <a:spcPts val="1200"/>
              </a:spcBef>
              <a:spcAft>
                <a:spcPts val="1200"/>
              </a:spcAft>
              <a:buNone/>
            </a:pPr>
            <a:r>
              <a:t/>
            </a:r>
            <a:endParaRPr sz="1800">
              <a:solidFill>
                <a:schemeClr val="dk1"/>
              </a:solidFill>
              <a:latin typeface="Corbel"/>
              <a:ea typeface="Corbel"/>
              <a:cs typeface="Corbel"/>
              <a:sym typeface="Corbe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67550e999e_0_41"/>
          <p:cNvSpPr txBox="1"/>
          <p:nvPr>
            <p:ph idx="12" type="sldNum"/>
          </p:nvPr>
        </p:nvSpPr>
        <p:spPr>
          <a:xfrm>
            <a:off x="10655300" y="465439"/>
            <a:ext cx="1079400" cy="449100"/>
          </a:xfrm>
          <a:prstGeom prst="rect">
            <a:avLst/>
          </a:prstGeom>
        </p:spPr>
        <p:txBody>
          <a:bodyPr anchorCtr="0" anchor="t" bIns="45700" lIns="91425" spcFirstLastPara="1" rIns="91425" wrap="square" tIns="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
        <p:nvSpPr>
          <p:cNvPr id="657" name="Google Shape;657;g367550e999e_0_41"/>
          <p:cNvSpPr txBox="1"/>
          <p:nvPr>
            <p:ph idx="1" type="body"/>
          </p:nvPr>
        </p:nvSpPr>
        <p:spPr>
          <a:xfrm>
            <a:off x="876900" y="681900"/>
            <a:ext cx="9899400" cy="4992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GB" sz="1700"/>
              <a:t>Unlike Winter and Summer, the Monsoon plot lacks a clear directional transport pattern.</a:t>
            </a:r>
            <a:r>
              <a:rPr lang="en-GB" sz="1700"/>
              <a:t> This indicates that PM₂.₅ is </a:t>
            </a:r>
            <a:r>
              <a:rPr b="1" lang="en-GB" sz="1700"/>
              <a:t>not being carried from distant regions</a:t>
            </a:r>
            <a:r>
              <a:rPr lang="en-GB" sz="1700"/>
              <a:t>, but rather tends to </a:t>
            </a:r>
            <a:r>
              <a:rPr b="1" lang="en-GB" sz="1700"/>
              <a:t>accumulate locally</a:t>
            </a:r>
            <a:r>
              <a:rPr lang="en-GB" sz="1700"/>
              <a:t>.</a:t>
            </a:r>
            <a:endParaRPr sz="1700"/>
          </a:p>
          <a:p>
            <a:pPr indent="0" lvl="0" marL="0" rtl="0" algn="l">
              <a:spcBef>
                <a:spcPts val="1000"/>
              </a:spcBef>
              <a:spcAft>
                <a:spcPts val="0"/>
              </a:spcAft>
              <a:buNone/>
            </a:pPr>
            <a:r>
              <a:t/>
            </a:r>
            <a:endParaRPr sz="1700"/>
          </a:p>
          <a:p>
            <a:pPr indent="0" lvl="0" marL="0" rtl="0" algn="l">
              <a:lnSpc>
                <a:spcPct val="115000"/>
              </a:lnSpc>
              <a:spcBef>
                <a:spcPts val="1200"/>
              </a:spcBef>
              <a:spcAft>
                <a:spcPts val="0"/>
              </a:spcAft>
              <a:buClr>
                <a:schemeClr val="dk1"/>
              </a:buClr>
              <a:buSzPts val="1100"/>
              <a:buFont typeface="Arial"/>
              <a:buNone/>
            </a:pPr>
            <a:r>
              <a:rPr lang="en-GB" sz="1700"/>
              <a:t>The </a:t>
            </a:r>
            <a:r>
              <a:rPr b="1" lang="en-GB" sz="1700"/>
              <a:t>low wind speeds</a:t>
            </a:r>
            <a:r>
              <a:rPr lang="en-GB" sz="1700"/>
              <a:t> reduce the atmosphere’s ability to </a:t>
            </a:r>
            <a:r>
              <a:rPr b="1" lang="en-GB" sz="1700"/>
              <a:t>disperse pollutants</a:t>
            </a:r>
            <a:r>
              <a:rPr lang="en-GB" sz="1700"/>
              <a:t>, while </a:t>
            </a:r>
            <a:r>
              <a:rPr b="1" lang="en-GB" sz="1700"/>
              <a:t>high humidity and frequent rainfall</a:t>
            </a:r>
            <a:r>
              <a:rPr lang="en-GB" sz="1700"/>
              <a:t> lead to </a:t>
            </a:r>
            <a:r>
              <a:rPr b="1" lang="en-GB" sz="1700"/>
              <a:t>complex effects</a:t>
            </a:r>
            <a:r>
              <a:rPr lang="en-GB" sz="1700"/>
              <a:t>:</a:t>
            </a:r>
            <a:endParaRPr sz="1700"/>
          </a:p>
          <a:p>
            <a:pPr indent="-336550" lvl="0" marL="457200" rtl="0" algn="l">
              <a:lnSpc>
                <a:spcPct val="115000"/>
              </a:lnSpc>
              <a:spcBef>
                <a:spcPts val="1200"/>
              </a:spcBef>
              <a:spcAft>
                <a:spcPts val="0"/>
              </a:spcAft>
              <a:buSzPts val="1700"/>
              <a:buChar char="●"/>
            </a:pPr>
            <a:r>
              <a:rPr lang="en-GB" sz="1700"/>
              <a:t>On one hand, rain cannot  help </a:t>
            </a:r>
            <a:r>
              <a:rPr b="1" lang="en-GB" sz="1700"/>
              <a:t>remove particles from the air</a:t>
            </a:r>
            <a:r>
              <a:rPr lang="en-GB" sz="1700"/>
              <a:t>.</a:t>
            </a:r>
            <a:br>
              <a:rPr lang="en-GB" sz="1700"/>
            </a:br>
            <a:endParaRPr sz="1700"/>
          </a:p>
          <a:p>
            <a:pPr indent="-336550" lvl="0" marL="457200" rtl="0" algn="l">
              <a:lnSpc>
                <a:spcPct val="115000"/>
              </a:lnSpc>
              <a:spcBef>
                <a:spcPts val="0"/>
              </a:spcBef>
              <a:spcAft>
                <a:spcPts val="0"/>
              </a:spcAft>
              <a:buSzPts val="1700"/>
              <a:buChar char="●"/>
            </a:pPr>
            <a:r>
              <a:rPr lang="en-GB" sz="1700"/>
              <a:t>On the other hand, </a:t>
            </a:r>
            <a:r>
              <a:rPr b="1" lang="en-GB" sz="1700"/>
              <a:t>stagnant and humid conditions</a:t>
            </a:r>
            <a:r>
              <a:rPr lang="en-GB" sz="1700"/>
              <a:t>—especially </a:t>
            </a:r>
            <a:r>
              <a:rPr b="1" lang="en-GB" sz="1700"/>
              <a:t>between rainfall events</a:t>
            </a:r>
            <a:r>
              <a:rPr lang="en-GB" sz="1700"/>
              <a:t>—can trap pollutants </a:t>
            </a:r>
            <a:r>
              <a:rPr b="1" lang="en-GB" sz="1700"/>
              <a:t>near the surface</a:t>
            </a:r>
            <a:r>
              <a:rPr lang="en-GB" sz="1700"/>
              <a:t>, especially in </a:t>
            </a:r>
            <a:r>
              <a:rPr b="1" lang="en-GB" sz="1700"/>
              <a:t>urban and valley regions</a:t>
            </a:r>
            <a:r>
              <a:rPr lang="en-GB" sz="1700"/>
              <a:t>.</a:t>
            </a:r>
            <a:endParaRPr sz="1700"/>
          </a:p>
          <a:p>
            <a:pPr indent="0" lvl="0" marL="457200" rtl="0" algn="l">
              <a:lnSpc>
                <a:spcPct val="115000"/>
              </a:lnSpc>
              <a:spcBef>
                <a:spcPts val="1200"/>
              </a:spcBef>
              <a:spcAft>
                <a:spcPts val="0"/>
              </a:spcAft>
              <a:buNone/>
            </a:pPr>
            <a:r>
              <a:t/>
            </a:r>
            <a:endParaRPr sz="1700"/>
          </a:p>
          <a:p>
            <a:pPr indent="-336550" lvl="0" marL="457200" rtl="0" algn="l">
              <a:lnSpc>
                <a:spcPct val="115000"/>
              </a:lnSpc>
              <a:spcBef>
                <a:spcPts val="1200"/>
              </a:spcBef>
              <a:spcAft>
                <a:spcPts val="0"/>
              </a:spcAft>
              <a:buSzPts val="1700"/>
              <a:buFont typeface="Corbel"/>
              <a:buChar char="●"/>
            </a:pPr>
            <a:r>
              <a:rPr lang="en-GB" sz="1700"/>
              <a:t>Along with this , there is a transport of dust from thar desert that increases the accumulation.</a:t>
            </a:r>
            <a:endParaRPr sz="1700"/>
          </a:p>
          <a:p>
            <a:pPr indent="0" lvl="0" marL="0" rtl="0" algn="l">
              <a:spcBef>
                <a:spcPts val="1200"/>
              </a:spcBef>
              <a:spcAft>
                <a:spcPts val="0"/>
              </a:spcAft>
              <a:buNone/>
            </a:pPr>
            <a:r>
              <a:t/>
            </a: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8"/>
          <p:cNvSpPr txBox="1"/>
          <p:nvPr>
            <p:ph idx="12" type="sldNum"/>
          </p:nvPr>
        </p:nvSpPr>
        <p:spPr>
          <a:xfrm>
            <a:off x="10655300" y="465439"/>
            <a:ext cx="1079400" cy="449100"/>
          </a:xfrm>
          <a:prstGeom prst="rect">
            <a:avLst/>
          </a:prstGeom>
          <a:noFill/>
          <a:ln>
            <a:noFill/>
          </a:ln>
        </p:spPr>
        <p:txBody>
          <a:bodyPr anchorCtr="0" anchor="t" bIns="45700" lIns="91425" spcFirstLastPara="1" rIns="91425" wrap="square" tIns="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pic>
        <p:nvPicPr>
          <p:cNvPr id="664" name="Google Shape;664;p38">
            <a:hlinkClick r:id="rId3"/>
          </p:cNvPr>
          <p:cNvPicPr preferRelativeResize="0"/>
          <p:nvPr/>
        </p:nvPicPr>
        <p:blipFill rotWithShape="1">
          <a:blip r:embed="rId4">
            <a:alphaModFix/>
          </a:blip>
          <a:srcRect b="0" l="0" r="0" t="0"/>
          <a:stretch/>
        </p:blipFill>
        <p:spPr>
          <a:xfrm>
            <a:off x="6274025" y="159425"/>
            <a:ext cx="4421851" cy="6313175"/>
          </a:xfrm>
          <a:prstGeom prst="rect">
            <a:avLst/>
          </a:prstGeom>
          <a:noFill/>
          <a:ln>
            <a:noFill/>
          </a:ln>
        </p:spPr>
      </p:pic>
      <p:sp>
        <p:nvSpPr>
          <p:cNvPr id="665" name="Google Shape;665;p38"/>
          <p:cNvSpPr/>
          <p:nvPr/>
        </p:nvSpPr>
        <p:spPr>
          <a:xfrm>
            <a:off x="1272950" y="2329600"/>
            <a:ext cx="4381200" cy="793800"/>
          </a:xfrm>
          <a:prstGeom prst="chevron">
            <a:avLst>
              <a:gd fmla="val 50000" name="adj"/>
            </a:avLst>
          </a:prstGeom>
          <a:solidFill>
            <a:srgbClr val="DB84FD"/>
          </a:solidFill>
          <a:ln cap="flat" cmpd="sng" w="9525">
            <a:solidFill>
              <a:srgbClr val="DB84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666" name="Google Shape;666;p38"/>
          <p:cNvSpPr/>
          <p:nvPr/>
        </p:nvSpPr>
        <p:spPr>
          <a:xfrm>
            <a:off x="1272961" y="2188925"/>
            <a:ext cx="4381200" cy="793800"/>
          </a:xfrm>
          <a:prstGeom prst="chevron">
            <a:avLst>
              <a:gd fmla="val 50000" name="adj"/>
            </a:avLst>
          </a:prstGeom>
          <a:solidFill>
            <a:schemeClr val="lt1"/>
          </a:solidFill>
          <a:ln cap="flat" cmpd="sng" w="19050">
            <a:solidFill>
              <a:srgbClr val="DB84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chemeClr val="dk1"/>
                </a:solidFill>
                <a:latin typeface="Corbel"/>
                <a:ea typeface="Corbel"/>
                <a:cs typeface="Corbel"/>
                <a:sym typeface="Corbel"/>
              </a:rPr>
              <a:t>🧪 Code Snippet: Bivariate Polar Plots Across the Northwestern Himalayas (2010–2024)</a:t>
            </a:r>
            <a:endParaRPr b="1" i="0" sz="1400" u="none" cap="none" strike="noStrike">
              <a:solidFill>
                <a:schemeClr val="dk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name="Depth">
  <a:themeElements>
    <a:clrScheme name="TM77929380">
      <a:dk1>
        <a:srgbClr val="000000"/>
      </a:dk1>
      <a:lt1>
        <a:srgbClr val="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