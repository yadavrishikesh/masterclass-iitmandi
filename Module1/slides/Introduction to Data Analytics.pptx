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85"/>
  </p:notesMasterIdLst>
  <p:sldIdLst>
    <p:sldId id="280" r:id="rId5"/>
    <p:sldId id="281" r:id="rId6"/>
    <p:sldId id="277" r:id="rId7"/>
    <p:sldId id="293" r:id="rId8"/>
    <p:sldId id="301" r:id="rId9"/>
    <p:sldId id="303" r:id="rId10"/>
    <p:sldId id="302" r:id="rId11"/>
    <p:sldId id="305" r:id="rId12"/>
    <p:sldId id="304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78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6" r:id="rId31"/>
    <p:sldId id="327" r:id="rId32"/>
    <p:sldId id="314" r:id="rId33"/>
    <p:sldId id="328" r:id="rId34"/>
    <p:sldId id="379" r:id="rId35"/>
    <p:sldId id="380" r:id="rId36"/>
    <p:sldId id="274" r:id="rId37"/>
    <p:sldId id="381" r:id="rId38"/>
    <p:sldId id="411" r:id="rId39"/>
    <p:sldId id="315" r:id="rId40"/>
    <p:sldId id="265" r:id="rId41"/>
    <p:sldId id="361" r:id="rId42"/>
    <p:sldId id="367" r:id="rId43"/>
    <p:sldId id="368" r:id="rId44"/>
    <p:sldId id="412" r:id="rId45"/>
    <p:sldId id="413" r:id="rId46"/>
    <p:sldId id="414" r:id="rId47"/>
    <p:sldId id="415" r:id="rId48"/>
    <p:sldId id="417" r:id="rId49"/>
    <p:sldId id="421" r:id="rId50"/>
    <p:sldId id="422" r:id="rId51"/>
    <p:sldId id="423" r:id="rId52"/>
    <p:sldId id="420" r:id="rId53"/>
    <p:sldId id="418" r:id="rId54"/>
    <p:sldId id="425" r:id="rId55"/>
    <p:sldId id="382" r:id="rId56"/>
    <p:sldId id="383" r:id="rId57"/>
    <p:sldId id="384" r:id="rId58"/>
    <p:sldId id="385" r:id="rId59"/>
    <p:sldId id="387" r:id="rId60"/>
    <p:sldId id="388" r:id="rId61"/>
    <p:sldId id="389" r:id="rId62"/>
    <p:sldId id="390" r:id="rId63"/>
    <p:sldId id="398" r:id="rId64"/>
    <p:sldId id="391" r:id="rId65"/>
    <p:sldId id="392" r:id="rId66"/>
    <p:sldId id="393" r:id="rId67"/>
    <p:sldId id="394" r:id="rId68"/>
    <p:sldId id="395" r:id="rId69"/>
    <p:sldId id="396" r:id="rId70"/>
    <p:sldId id="399" r:id="rId71"/>
    <p:sldId id="400" r:id="rId72"/>
    <p:sldId id="401" r:id="rId73"/>
    <p:sldId id="402" r:id="rId74"/>
    <p:sldId id="403" r:id="rId75"/>
    <p:sldId id="404" r:id="rId76"/>
    <p:sldId id="405" r:id="rId77"/>
    <p:sldId id="406" r:id="rId78"/>
    <p:sldId id="407" r:id="rId79"/>
    <p:sldId id="408" r:id="rId80"/>
    <p:sldId id="410" r:id="rId81"/>
    <p:sldId id="409" r:id="rId82"/>
    <p:sldId id="397" r:id="rId83"/>
    <p:sldId id="300" r:id="rId8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09" autoAdjust="0"/>
  </p:normalViewPr>
  <p:slideViewPr>
    <p:cSldViewPr snapToGrid="0">
      <p:cViewPr varScale="1">
        <p:scale>
          <a:sx n="63" d="100"/>
          <a:sy n="63" d="100"/>
        </p:scale>
        <p:origin x="7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6E302-901B-4EC5-8063-F4475DEAA8C8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B3765-1535-41FB-A927-AAD2D1E853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5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B3765-1535-41FB-A927-AAD2D1E8538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52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2E16-F55E-1351-1F40-56E528D4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169FF-2370-B609-2696-2EE132E72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04ED8-1BBA-53E2-1F83-BEA7A2F63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56475-B798-6FF1-8DAD-DB98C8749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02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FFBC1E69-FC6D-B012-08DE-201019D5B5F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B459F52-19E6-4D0F-BD80-7A58C61A92CA}" type="slidenum">
              <a:rPr lang="en-US" altLang="en-US" sz="1200">
                <a:latin typeface="Arial" panose="020B0604020202020204" pitchFamily="34" charset="0"/>
              </a:rPr>
              <a:pPr/>
              <a:t>33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4699511F-0A44-6BAC-05C2-BD7545399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2C118534-4144-AE9A-556A-74866F6FD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99C8026F-EF76-03A7-65E6-A50E55117CE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C939EBF-FA8E-4094-ADE7-23F365C3C3E2}" type="slidenum">
              <a:rPr lang="en-US" altLang="en-US" sz="1200">
                <a:latin typeface="Arial" panose="020B0604020202020204" pitchFamily="34" charset="0"/>
              </a:rPr>
              <a:pPr/>
              <a:t>36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1F2714D-7B29-60DB-6377-A56354B1C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2EAFBFF-9073-36CE-DE73-629C091D2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9F53378-8B90-19A2-666F-096E91A87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8238" y="696913"/>
            <a:ext cx="4581525" cy="3435350"/>
          </a:xfrm>
          <a:ln cap="flat"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593848C-C76D-6B15-6826-667CAFE16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613C5C60-7A57-EB70-D0F3-AD7EC77838B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0E2A091-85FD-4018-8ED5-9BEDE33C265F}" type="slidenum">
              <a:rPr lang="en-GB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39</a:t>
            </a:fld>
            <a:endParaRPr lang="en-GB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D4FDE909-C87A-A557-4F50-CA2B66B8D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6238" y="696913"/>
            <a:ext cx="6105525" cy="3435350"/>
          </a:xfrm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EA9277B1-C880-9317-B1A1-09F21B1BD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E5656E64-FDDD-5B19-1DBC-97CB6B0418D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39F7E9-BF09-4E39-98BB-1D566D7F691C}" type="slidenum">
              <a:rPr lang="en-GB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40</a:t>
            </a:fld>
            <a:endParaRPr lang="en-GB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63004256-A499-52BC-8C07-296EABDDFB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6238" y="696913"/>
            <a:ext cx="6105525" cy="3435350"/>
          </a:xfrm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1A0951D7-DA36-2D5D-5232-6D3CEA4D1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B1330632-013F-9F4A-2429-983A0E08380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0F2F7F4-07FF-4C2A-B7C0-6DA296230182}" type="slidenum">
              <a:rPr lang="en-US" altLang="en-US" sz="1200">
                <a:latin typeface="Arial" panose="020B0604020202020204" pitchFamily="34" charset="0"/>
              </a:rPr>
              <a:pPr/>
              <a:t>43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CAFD496D-B30E-0B86-DBB7-4C754D4364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44204A92-9E80-1218-3750-4963CD51F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32322-E236-FB6A-D4B8-F6D08F4039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428232" cy="4992624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1272" y="914400"/>
            <a:ext cx="3392424" cy="25146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258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5669C7-03B9-341C-8E54-929B3B89CB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26965" r="31989" b="50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7256" y="914400"/>
            <a:ext cx="5806440" cy="5129784"/>
          </a:xfrm>
        </p:spPr>
        <p:txBody>
          <a:bodyPr wrap="square" anchor="b">
            <a:normAutofit/>
          </a:bodyPr>
          <a:lstStyle>
            <a:lvl1pPr algn="r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A97C257-0C1F-79D6-2080-F863FF7F2D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4927249" cy="4991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8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1392AC-2F17-140B-1676-75B74CAC6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15701" r="40485" b="2478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22192"/>
            <a:ext cx="10360152" cy="2221992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03336" y="914400"/>
            <a:ext cx="2880360" cy="2130552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B65A55A-B3A8-36E5-D327-23E999B96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0"/>
            <a:ext cx="6940296" cy="32735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0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000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B9F3A-C4B7-7DED-7AB7-0E1DC0872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0741" t="4074" r="13612" b="20124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0152" cy="3008376"/>
          </a:xfrm>
        </p:spPr>
        <p:txBody>
          <a:bodyPr wrap="square" anchor="b">
            <a:normAutofit/>
          </a:bodyPr>
          <a:lstStyle>
            <a:lvl1pPr algn="ctr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78224"/>
            <a:ext cx="1036015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4288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6637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512064" indent="-512064">
              <a:spcBef>
                <a:spcPts val="1000"/>
              </a:spcBef>
              <a:buFont typeface="+mj-lt"/>
              <a:buAutoNum type="arabicPeriod"/>
              <a:defRPr/>
            </a:lvl2pPr>
            <a:lvl3pPr marL="1097280" indent="-512064">
              <a:spcBef>
                <a:spcPts val="1000"/>
              </a:spcBef>
              <a:buFont typeface="+mj-lt"/>
              <a:buAutoNum type="alphaLcPeriod"/>
              <a:defRPr/>
            </a:lvl3pPr>
            <a:lvl4pPr marL="1645920" indent="-512064">
              <a:spcBef>
                <a:spcPts val="1000"/>
              </a:spcBef>
              <a:buFont typeface="+mj-lt"/>
              <a:buAutoNum type="arabicParenR"/>
              <a:defRPr/>
            </a:lvl4pPr>
            <a:lvl5pPr marL="2194560" indent="-512064">
              <a:spcBef>
                <a:spcPts val="1000"/>
              </a:spcBef>
              <a:buFont typeface="+mj-lt"/>
              <a:buAutoNum type="alphaLcParenR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5522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7723F4FA-7ADE-EA52-E869-4842D0C7FC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743200"/>
            <a:ext cx="4764024" cy="3163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2664" y="2743200"/>
            <a:ext cx="59710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992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01752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272" y="2871216"/>
            <a:ext cx="6812280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0965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81228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500"/>
              </a:spcBef>
              <a:defRPr/>
            </a:lvl3pPr>
            <a:lvl4pPr marL="1143000">
              <a:spcBef>
                <a:spcPts val="500"/>
              </a:spcBef>
              <a:defRPr/>
            </a:lvl4pPr>
            <a:lvl5pPr marL="1600200">
              <a:spcBef>
                <a:spcPts val="5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75320" y="2743200"/>
            <a:ext cx="29992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839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871216"/>
            <a:ext cx="10360152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500"/>
              </a:spcBef>
              <a:defRPr/>
            </a:lvl3pPr>
            <a:lvl4pPr marL="1143000">
              <a:spcBef>
                <a:spcPts val="500"/>
              </a:spcBef>
              <a:defRPr/>
            </a:lvl4pPr>
            <a:lvl5pPr marL="1600200">
              <a:spcBef>
                <a:spcPts val="5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6657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68743-342F-6CA4-7BA5-942F2C4C23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151" t="1794" r="25966" b="25175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 wrap="square" anchor="t">
            <a:normAutofit/>
          </a:bodyPr>
          <a:lstStyle>
            <a:lvl1pPr algn="l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 anchor="b">
            <a:normAutofit/>
          </a:bodyPr>
          <a:lstStyle>
            <a:lvl1pPr marL="0" indent="0" algn="l">
              <a:lnSpc>
                <a:spcPct val="7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1487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8447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43B3-A6CD-81E9-C293-EEFF598B0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45B43-D561-4C31-8B61-1DF378E73426}" type="datetimeFigureOut">
              <a:rPr lang="en-IN"/>
              <a:pPr>
                <a:defRPr/>
              </a:pPr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53ED-8E19-B311-929D-AC54A9C9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2074F-A62E-02A9-586C-73372C0D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F82AF-1B00-4D3E-820F-98E4A524CF4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21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518ACEC-ED2C-300F-B9F3-93CEF069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E7BD3-37FE-4AA4-9BB4-1DBCE0CDBA0C}" type="datetimeFigureOut">
              <a:rPr lang="en-IN"/>
              <a:pPr>
                <a:defRPr/>
              </a:pPr>
              <a:t>22-06-2025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78A5F56-D772-9F0C-14AD-C7C04A4F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777B19-D20A-8471-2D2A-E74D5C23C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D8837-B1FD-4E13-92A2-BD6B1068617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70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F3310A-1B80-61B0-BFD3-6FD502894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D8424F-C2F4-1029-7B75-2B8A9326B3D7}"/>
              </a:ext>
            </a:extLst>
          </p:cNvPr>
          <p:cNvSpPr/>
          <p:nvPr userDrawn="1"/>
        </p:nvSpPr>
        <p:spPr>
          <a:xfrm>
            <a:off x="139700" y="136525"/>
            <a:ext cx="11912600" cy="65849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43200"/>
            <a:ext cx="6483096" cy="316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855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457200"/>
            <a:ext cx="9564624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760" y="466344"/>
            <a:ext cx="107899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u="sng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lab/tree/module1/lab1/Case_Study_Moneyball.ipynb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lab/tree/module1/lab1/lab1.ipynb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888/lab/tree/module1/lab1/lab1.ipyn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rthdata.nasa.gov/" TargetMode="External"/><Relationship Id="rId2" Type="http://schemas.openxmlformats.org/officeDocument/2006/relationships/hyperlink" Target="https://www.ecmwf.int/en/forecasts/dataset/ecmwf-reanalysis-v5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hyperlink" Target="https://developers.facebook.com/docs/graph-api/overview" TargetMode="External"/><Relationship Id="rId4" Type="http://schemas.openxmlformats.org/officeDocument/2006/relationships/hyperlink" Target="https://developer.x.com/en/use-cases/do-research/academic-research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png"/><Relationship Id="rId11" Type="http://schemas.openxmlformats.org/officeDocument/2006/relationships/image" Target="../media/image37.png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7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6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png"/><Relationship Id="rId11" Type="http://schemas.openxmlformats.org/officeDocument/2006/relationships/image" Target="../media/image37.png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7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6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9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4.png"/><Relationship Id="rId4" Type="http://schemas.openxmlformats.org/officeDocument/2006/relationships/hyperlink" Target="http://localhost:8888/lab/tree/module1/lab1/lab1.ipynb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png"/><Relationship Id="rId4" Type="http://schemas.openxmlformats.org/officeDocument/2006/relationships/hyperlink" Target="http://localhost:8888/lab/tree/module1/lab1/lab1.ipynb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8.png"/><Relationship Id="rId4" Type="http://schemas.openxmlformats.org/officeDocument/2006/relationships/hyperlink" Target="http://localhost:8888/lab/tree/module1/lab1/lab1.ipynb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0.png"/><Relationship Id="rId4" Type="http://schemas.openxmlformats.org/officeDocument/2006/relationships/hyperlink" Target="http://localhost:8888/lab/tree/module1/lab1/lab1.ipynb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png"/><Relationship Id="rId4" Type="http://schemas.openxmlformats.org/officeDocument/2006/relationships/hyperlink" Target="http://localhost:8888/lab/tree/module1/lab1/lab1.ipynb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lab/tree/module1/lab1/lab1.ipynb" TargetMode="External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://localhost:8888/lab/tree/module1/lab1/lab1.ipyn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://localhost:8888/lab/tree/module1/lab1/lab1.ipyn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://localhost:8888/lab/tree/module1/lab1/lab1.ipyn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://localhost:8888/lab/tree/module1/lab1/lab1.ipyn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://localhost:8888/lab/tree/module1/lab1/lab1.ipyn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00.png"/><Relationship Id="rId4" Type="http://schemas.openxmlformats.org/officeDocument/2006/relationships/image" Target="../media/image59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0670F10-A7D9-0850-FBA3-0930C575E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428232" cy="4992624"/>
          </a:xfrm>
        </p:spPr>
        <p:txBody>
          <a:bodyPr>
            <a:normAutofit/>
          </a:bodyPr>
          <a:lstStyle/>
          <a:p>
            <a:r>
              <a:rPr lang="en-US" sz="4400" b="0" u="none" dirty="0">
                <a:latin typeface="Segoe UI" panose="020B0502040204020203" pitchFamily="34" charset="0"/>
                <a:cs typeface="Segoe UI" panose="020B0502040204020203" pitchFamily="34" charset="0"/>
              </a:rPr>
              <a:t>Masterclass</a:t>
            </a:r>
            <a:b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400" b="0" u="none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i="0" u="non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Statistical Data Analytics &amp; Deep Learning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B1D02C-C51E-AC77-2221-624A58631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9820" y="914400"/>
            <a:ext cx="3193876" cy="2514600"/>
          </a:xfrm>
        </p:spPr>
        <p:txBody>
          <a:bodyPr/>
          <a:lstStyle/>
          <a:p>
            <a:r>
              <a:rPr lang="en-US" dirty="0"/>
              <a:t>By:</a:t>
            </a:r>
          </a:p>
          <a:p>
            <a:r>
              <a:rPr lang="en-US" dirty="0"/>
              <a:t>Dr. Sarita Azad </a:t>
            </a:r>
          </a:p>
          <a:p>
            <a:r>
              <a:rPr lang="en-US" dirty="0"/>
              <a:t>SMSS, IIT Mandi</a:t>
            </a:r>
          </a:p>
        </p:txBody>
      </p:sp>
    </p:spTree>
    <p:extLst>
      <p:ext uri="{BB962C8B-B14F-4D97-AF65-F5344CB8AC3E}">
        <p14:creationId xmlns:p14="http://schemas.microsoft.com/office/powerpoint/2010/main" val="27646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9E34-DD2A-50F7-669D-A349E9EE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C8E00A-F80C-1E1D-3260-282E028D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7256" y="914400"/>
            <a:ext cx="6559716" cy="5129784"/>
          </a:xfrm>
        </p:spPr>
        <p:txBody>
          <a:bodyPr/>
          <a:lstStyle/>
          <a:p>
            <a:r>
              <a:rPr lang="en-US" b="1" dirty="0"/>
              <a:t>Introduction to </a:t>
            </a:r>
            <a:br>
              <a:rPr lang="en-US" b="1" dirty="0"/>
            </a:br>
            <a:r>
              <a:rPr lang="en-US" b="1" dirty="0"/>
              <a:t>Data Analytics</a:t>
            </a: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057EE64C-E86B-2D14-2B3F-A8F7FC06C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064" y="0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FB78B-6381-7F8D-878C-5A6C1207B3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4" name="Picture 2" descr="Visitor Information">
            <a:extLst>
              <a:ext uri="{FF2B5EF4-FFF2-40B4-BE49-F238E27FC236}">
                <a16:creationId xmlns:a16="http://schemas.microsoft.com/office/drawing/2014/main" id="{FAAD0DA6-8F9B-9193-5619-1FD87A982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3816"/>
            <a:ext cx="5767388" cy="342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9E78CC-AA5C-1287-D89C-25779CEA4F46}"/>
              </a:ext>
            </a:extLst>
          </p:cNvPr>
          <p:cNvSpPr txBox="1"/>
          <p:nvPr/>
        </p:nvSpPr>
        <p:spPr>
          <a:xfrm>
            <a:off x="8379373" y="6273225"/>
            <a:ext cx="27599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By Sarita Azad</a:t>
            </a:r>
          </a:p>
          <a:p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22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AC2BC53-0CE7-3117-0C3D-9435FF27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72" y="100131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outline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5FE201-66E6-9884-8CE5-29160B58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F3601A2-1153-809A-A08D-4131BD4FF6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4952" y="1458309"/>
            <a:ext cx="6483096" cy="261991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Analytics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vs. Inferential Statistics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Fundamentals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Distributions</a:t>
            </a:r>
          </a:p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Hands-on: Data Exploration with Python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EC63ECF2-6477-7716-B1AD-C8DC2DFB0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3158" y="244366"/>
            <a:ext cx="903889" cy="85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282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2DBB5-7951-6BD8-B025-ABCC20D40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34" y="100131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What is Data Analytics?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AE622F-4D29-CE2E-94C6-57939759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A14529-13B2-5F66-A8E9-EA890736E5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7633" y="1652479"/>
            <a:ext cx="10668000" cy="408686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is the process of collecting, organizing,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interpreting data to extract meaningful insights.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trends, patterns, and relationships within data to support better decision-making.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field plays a critical role in enhancing efficiency and optimizing outcomes across different sectors.</a:t>
            </a:r>
          </a:p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are widespread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—including weather forecasting, finance, healthcare, marketing, and more.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empowers individuals and organizations to make informed,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strategic advantage.</a:t>
            </a: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0D0935E1-441D-0066-611D-DC6A61F53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5633" y="5739348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4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3C7C-8578-F05E-FB8C-99A00D56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9C43E8-996E-DD63-BF24-AD47AA7F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34" y="47296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Why is data Analytics Important?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D0881-D66D-88D6-53B2-5ABF3912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8DE69D-5C36-0711-6ED1-EFF5A9E4E5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4817" y="1480040"/>
            <a:ext cx="10961783" cy="431861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Decision-Making: Data analytics transforms raw data into actionable insights, helping individuals and organizations make smarter, evidence-based decisions. E.g. Discovery of climate change. Covid hotspots using infection rates.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Efficiency: It identifies bottlenecks and inefficiencies, allowing businesses to streamline operations and reduce costs.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and Prediction: Helps anticipate future trends or outcomes (e.g., weather events, market behaviour, disease outbreaks) using historical data.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Advantage: Organizations that leverage data can better understand customer needs, personalize services, and outperform competitors.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Cross-Industry Impact: From climate science to finance and healthcare, data analytics is revolutionizing how industries solve problems and deliver value.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42775784-C6B7-B25A-0638-A949BF92E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5633" y="5739348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89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36A96-6EF5-EA00-8BFA-2EA094CC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0ACC-16AD-6EDC-2CDF-24B14F2A1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822192"/>
            <a:ext cx="10360152" cy="2221992"/>
          </a:xfrm>
        </p:spPr>
        <p:txBody>
          <a:bodyPr>
            <a:normAutofit/>
          </a:bodyPr>
          <a:lstStyle/>
          <a:p>
            <a:r>
              <a:rPr lang="en-US" dirty="0" err="1"/>
              <a:t>MoneyBall</a:t>
            </a:r>
            <a:r>
              <a:rPr lang="en-US" dirty="0"/>
              <a:t> (Netflix-2011)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08B86-C62E-7052-986C-E6DCF445D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3336" y="914400"/>
            <a:ext cx="2880360" cy="2130552"/>
          </a:xfrm>
        </p:spPr>
        <p:txBody>
          <a:bodyPr/>
          <a:lstStyle/>
          <a:p>
            <a:r>
              <a:rPr lang="en-US" dirty="0"/>
              <a:t>Case Study</a:t>
            </a:r>
          </a:p>
          <a:p>
            <a:endParaRPr lang="en-US" dirty="0"/>
          </a:p>
        </p:txBody>
      </p:sp>
      <p:pic>
        <p:nvPicPr>
          <p:cNvPr id="3080" name="Picture 8" descr="Watch Moneyball | Netflix">
            <a:extLst>
              <a:ext uri="{FF2B5EF4-FFF2-40B4-BE49-F238E27FC236}">
                <a16:creationId xmlns:a16="http://schemas.microsoft.com/office/drawing/2014/main" id="{681F6CFA-B566-1E43-A63C-61D9760A7B2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7" b="807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IT Mandi Logo">
            <a:extLst>
              <a:ext uri="{FF2B5EF4-FFF2-40B4-BE49-F238E27FC236}">
                <a16:creationId xmlns:a16="http://schemas.microsoft.com/office/drawing/2014/main" id="{ECCB9194-2297-AFC6-8058-F9782F38F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684" y="586053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55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D75C-E2C3-4504-F5D5-6981CA85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628DF5-32EF-7270-21A2-841F80925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689919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Case study: </a:t>
            </a:r>
            <a:r>
              <a:rPr lang="en-US" b="1" dirty="0" err="1">
                <a:solidFill>
                  <a:srgbClr val="FF0000"/>
                </a:solidFill>
              </a:rPr>
              <a:t>moneyball</a:t>
            </a:r>
            <a:r>
              <a:rPr lang="en-US" b="1" dirty="0">
                <a:solidFill>
                  <a:srgbClr val="FF0000"/>
                </a:solidFill>
              </a:rPr>
              <a:t> – winning with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46BF20-6F80-22D5-A3AE-5ADE52AA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5813CB-8147-A2DB-3B86-B621BBD70E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667" y="2093975"/>
            <a:ext cx="9871114" cy="332709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Billy Beane and Bill James used data and statistics instead of relying on how players looked or played traditionally.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aim was to build a strong team with limited money, avoiding costly star players.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were chosen based 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On-Base Percentage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(OBP), not scout opinions.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led to a team of undervalued but effective players, outperforming expectations.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strategy inspired others—Boston Red Sox used it to win the 2004 World Series, ending an 86-year drought.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2810ED74-3FDD-EC08-9C77-E0C22E1E8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684" y="586053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A72B05-2F8C-564E-EF88-07F9E5A8C229}"/>
              </a:ext>
            </a:extLst>
          </p:cNvPr>
          <p:cNvSpPr txBox="1"/>
          <p:nvPr/>
        </p:nvSpPr>
        <p:spPr>
          <a:xfrm>
            <a:off x="461600" y="5856070"/>
            <a:ext cx="87705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*Billy Beane is a prominent figure in Major League Baseball (MLB) known for revolutionizing baseball management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through data-driven decision-making, while Bill James is a pioneering statistician and writer who developed the field of sabermetrics, the empirical analysis of baseball. </a:t>
            </a:r>
            <a:endParaRPr lang="en-IN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918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B78F-0B97-BAAC-FEAB-3D9D8CF7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A10EA-26DE-42D5-6A79-D17A94E9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-124349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But How?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DAEAC6-95BF-266F-3C78-6E4D84D2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A00D98-777E-2EBE-4D53-D63415473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168296"/>
            <a:ext cx="7440200" cy="3899463"/>
          </a:xfrm>
        </p:spPr>
        <p:txBody>
          <a:bodyPr>
            <a:normAutofit fontScale="92500"/>
          </a:bodyPr>
          <a:lstStyle/>
          <a:p>
            <a:pPr algn="just"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you win games without star players? or What stat truly helps a team win more games? To answer this, we need to rethink how we evaluate players…</a:t>
            </a:r>
          </a:p>
          <a:p>
            <a:pPr algn="just"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Baseball,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On-Base Percentage (OBP)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often a player gets on base (hits + walks + hit by pitch)</a:t>
            </a:r>
          </a:p>
          <a:p>
            <a:pPr algn="just"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OBP? Unlike Batting Average, OBP rewards disciplined players who get on base in any way. Higher OBP = more baserunners = more scoring opportunities.</a:t>
            </a:r>
          </a:p>
          <a:p>
            <a:pPr algn="just"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how does OBP actually relate to team success? Let’s analyse real-world data and find out…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44A7AF-3A13-CDEE-E1B6-2FE8758613E0}"/>
                  </a:ext>
                </a:extLst>
              </p:cNvPr>
              <p:cNvSpPr txBox="1"/>
              <p:nvPr/>
            </p:nvSpPr>
            <p:spPr>
              <a:xfrm>
                <a:off x="1228907" y="5524257"/>
                <a:ext cx="6668492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𝑂𝐵𝑃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𝐻𝐼𝑇𝑆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𝑊𝐴𝐿𝐾𝑆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𝐻𝐼𝑇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𝐵𝑌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𝑃𝐼𝑇𝐶𝐻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𝐵𝐴𝑇𝑆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𝑊𝐴𝐿𝐾𝑆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𝐻𝐼𝑇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𝐵𝑌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𝑃𝐼𝑇𝐶𝐻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𝑆𝐴𝐶𝑅𝐼𝐹𝐼𝐶𝐸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𝐹𝐿𝐼𝐸𝑆</m:t>
                          </m:r>
                        </m:den>
                      </m:f>
                    </m:oMath>
                  </m:oMathPara>
                </a14:m>
                <a:endParaRPr lang="en-0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44A7AF-3A13-CDEE-E1B6-2FE875861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907" y="5524257"/>
                <a:ext cx="6668492" cy="5250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12367985-4645-BC8D-82D0-B6C7BEAAA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831" y="1725578"/>
            <a:ext cx="3773969" cy="249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IT Mandi Logo">
            <a:extLst>
              <a:ext uri="{FF2B5EF4-FFF2-40B4-BE49-F238E27FC236}">
                <a16:creationId xmlns:a16="http://schemas.microsoft.com/office/drawing/2014/main" id="{78337747-EC7D-0DC1-C942-8BD1CDD3A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276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D0D21-98AF-0F9D-4E59-EBB081501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174FDA-E83A-F068-8C43-EB05B972D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00131"/>
            <a:ext cx="10360152" cy="1179576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OBP Strongly Predicts Team Wins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03E625-8645-E4BA-F2DE-FFDF10605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3502D7-B8DA-66B7-8295-7D95760A4A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439" y="1565254"/>
            <a:ext cx="4265938" cy="4703465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analysis from the lab, we can see that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the OBP, more are the wins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team wins (r ≈ 0.48).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Moneyball used this insight to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winning team on a budget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you saw any other stat which correlates with the wins?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71A9F22-8CD5-632D-D950-9E274631A1DE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985" y="2829559"/>
            <a:ext cx="4322892" cy="257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43E0680-FD0A-8A5A-87E7-B06F9A899253}"/>
              </a:ext>
            </a:extLst>
          </p:cNvPr>
          <p:cNvGrpSpPr/>
          <p:nvPr/>
        </p:nvGrpSpPr>
        <p:grpSpPr>
          <a:xfrm>
            <a:off x="5291707" y="3524052"/>
            <a:ext cx="1326948" cy="1239973"/>
            <a:chOff x="5346618" y="5399037"/>
            <a:chExt cx="1326948" cy="12399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B36BCA-4B65-2F0F-B83F-F9053C0D412C}"/>
                </a:ext>
              </a:extLst>
            </p:cNvPr>
            <p:cNvSpPr txBox="1"/>
            <p:nvPr/>
          </p:nvSpPr>
          <p:spPr>
            <a:xfrm>
              <a:off x="5346618" y="5399037"/>
              <a:ext cx="117066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</a:rPr>
                <a:t>0.48</a:t>
              </a:r>
              <a:endParaRPr lang="en-001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B99C76-73E2-493E-5388-947172B68B2D}"/>
                </a:ext>
              </a:extLst>
            </p:cNvPr>
            <p:cNvSpPr txBox="1"/>
            <p:nvPr/>
          </p:nvSpPr>
          <p:spPr>
            <a:xfrm>
              <a:off x="5346618" y="5992679"/>
              <a:ext cx="13269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Correlation team stats</a:t>
              </a:r>
              <a:endParaRPr lang="en-001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437E2BB-5DA0-5570-114B-36D0463200D1}"/>
              </a:ext>
            </a:extLst>
          </p:cNvPr>
          <p:cNvSpPr txBox="1"/>
          <p:nvPr/>
        </p:nvSpPr>
        <p:spPr>
          <a:xfrm>
            <a:off x="8991603" y="6003200"/>
            <a:ext cx="2376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Lab File: </a:t>
            </a:r>
            <a:r>
              <a:rPr lang="en-GB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Case_Study_Moneyball.ipynb</a:t>
            </a:r>
            <a:endParaRPr lang="en-001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1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64E4-4863-8B3D-C418-71E3FAAF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294B-17B9-D075-94CB-5422D9D99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0152" cy="1374512"/>
          </a:xfrm>
        </p:spPr>
        <p:txBody>
          <a:bodyPr>
            <a:normAutofit/>
          </a:bodyPr>
          <a:lstStyle/>
          <a:p>
            <a:r>
              <a:rPr lang="en-US" sz="4800" dirty="0"/>
              <a:t>Key takeaways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9ED78-B05C-DB29-0FFC-6D43F22C9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313" y="3064813"/>
            <a:ext cx="4839913" cy="1828800"/>
          </a:xfrm>
        </p:spPr>
        <p:txBody>
          <a:bodyPr/>
          <a:lstStyle/>
          <a:p>
            <a:r>
              <a:rPr lang="en-GB" dirty="0"/>
              <a:t>Data alone isn't magic—but used wisely, it solves real-world problems.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E7C0AE1-E3B2-7BC5-F8F4-59A1BB80BCBB}"/>
              </a:ext>
            </a:extLst>
          </p:cNvPr>
          <p:cNvSpPr txBox="1">
            <a:spLocks/>
          </p:cNvSpPr>
          <p:nvPr/>
        </p:nvSpPr>
        <p:spPr>
          <a:xfrm>
            <a:off x="6285286" y="3064813"/>
            <a:ext cx="4839913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Good decisions require both data and deep domain understanding.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805A183-F805-FFF1-4B53-A668733C72D0}"/>
              </a:ext>
            </a:extLst>
          </p:cNvPr>
          <p:cNvSpPr txBox="1">
            <a:spLocks/>
          </p:cNvSpPr>
          <p:nvPr/>
        </p:nvSpPr>
        <p:spPr>
          <a:xfrm>
            <a:off x="1254563" y="6103766"/>
            <a:ext cx="9870636" cy="37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/>
              <a:t>But what types of data exist?</a:t>
            </a:r>
            <a:endParaRPr lang="en-US" sz="1800" dirty="0"/>
          </a:p>
        </p:txBody>
      </p:sp>
      <p:pic>
        <p:nvPicPr>
          <p:cNvPr id="6" name="Picture 2" descr="IIT Mandi Logo">
            <a:extLst>
              <a:ext uri="{FF2B5EF4-FFF2-40B4-BE49-F238E27FC236}">
                <a16:creationId xmlns:a16="http://schemas.microsoft.com/office/drawing/2014/main" id="{22C02A83-91BE-1EEA-FB66-F5E496757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4090-5FDB-247C-884F-FA61F81B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F4387D-22D7-061D-5597-8C2CBA95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dirty="0"/>
              <a:t>Types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C24EAC-F04E-4878-1BE2-8A438E5B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264F56B-995A-FA0B-E946-C15644B66056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1034577" y="2585947"/>
          <a:ext cx="9885804" cy="3163886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3295268">
                  <a:extLst>
                    <a:ext uri="{9D8B030D-6E8A-4147-A177-3AD203B41FA5}">
                      <a16:colId xmlns:a16="http://schemas.microsoft.com/office/drawing/2014/main" val="1129156935"/>
                    </a:ext>
                  </a:extLst>
                </a:gridCol>
                <a:gridCol w="3295268">
                  <a:extLst>
                    <a:ext uri="{9D8B030D-6E8A-4147-A177-3AD203B41FA5}">
                      <a16:colId xmlns:a16="http://schemas.microsoft.com/office/drawing/2014/main" val="2719701570"/>
                    </a:ext>
                  </a:extLst>
                </a:gridCol>
                <a:gridCol w="3295268">
                  <a:extLst>
                    <a:ext uri="{9D8B030D-6E8A-4147-A177-3AD203B41FA5}">
                      <a16:colId xmlns:a16="http://schemas.microsoft.com/office/drawing/2014/main" val="3941364007"/>
                    </a:ext>
                  </a:extLst>
                </a:gridCol>
              </a:tblGrid>
              <a:tr h="351543">
                <a:tc>
                  <a:txBody>
                    <a:bodyPr/>
                    <a:lstStyle/>
                    <a:p>
                      <a:r>
                        <a:rPr lang="en-US" sz="1700" dirty="0"/>
                        <a:t>Type</a:t>
                      </a:r>
                    </a:p>
                  </a:txBody>
                  <a:tcPr marL="87886" marR="87886" marT="43943" marB="439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Description</a:t>
                      </a:r>
                    </a:p>
                  </a:txBody>
                  <a:tcPr marL="87886" marR="87886" marT="43943" marB="439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Example</a:t>
                      </a:r>
                    </a:p>
                  </a:txBody>
                  <a:tcPr marL="87886" marR="87886" marT="43943" marB="439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921447"/>
                  </a:ext>
                </a:extLst>
              </a:tr>
              <a:tr h="615200">
                <a:tc>
                  <a:txBody>
                    <a:bodyPr/>
                    <a:lstStyle/>
                    <a:p>
                      <a:r>
                        <a:rPr lang="en-US" sz="1700"/>
                        <a:t>Structured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Tabular, rows &amp; columns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Excel sheets, SQL tables</a:t>
                      </a:r>
                    </a:p>
                  </a:txBody>
                  <a:tcPr marL="87886" marR="87886" marT="43943" marB="43943" anchor="ctr"/>
                </a:tc>
                <a:extLst>
                  <a:ext uri="{0D108BD9-81ED-4DB2-BD59-A6C34878D82A}">
                    <a16:rowId xmlns:a16="http://schemas.microsoft.com/office/drawing/2014/main" val="386879818"/>
                  </a:ext>
                </a:extLst>
              </a:tr>
              <a:tr h="615200">
                <a:tc>
                  <a:txBody>
                    <a:bodyPr/>
                    <a:lstStyle/>
                    <a:p>
                      <a:r>
                        <a:rPr lang="en-US" sz="1700"/>
                        <a:t>Unstructured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No predefined format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Text, images, videos</a:t>
                      </a:r>
                    </a:p>
                  </a:txBody>
                  <a:tcPr marL="87886" marR="87886" marT="43943" marB="43943" anchor="ctr"/>
                </a:tc>
                <a:extLst>
                  <a:ext uri="{0D108BD9-81ED-4DB2-BD59-A6C34878D82A}">
                    <a16:rowId xmlns:a16="http://schemas.microsoft.com/office/drawing/2014/main" val="2641163613"/>
                  </a:ext>
                </a:extLst>
              </a:tr>
              <a:tr h="351543">
                <a:tc>
                  <a:txBody>
                    <a:bodyPr/>
                    <a:lstStyle/>
                    <a:p>
                      <a:r>
                        <a:rPr lang="en-US" sz="1700"/>
                        <a:t>Semi-structured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Some organization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XML, JSON</a:t>
                      </a:r>
                    </a:p>
                  </a:txBody>
                  <a:tcPr marL="87886" marR="87886" marT="43943" marB="43943" anchor="ctr"/>
                </a:tc>
                <a:extLst>
                  <a:ext uri="{0D108BD9-81ED-4DB2-BD59-A6C34878D82A}">
                    <a16:rowId xmlns:a16="http://schemas.microsoft.com/office/drawing/2014/main" val="2869198587"/>
                  </a:ext>
                </a:extLst>
              </a:tr>
              <a:tr h="615200">
                <a:tc>
                  <a:txBody>
                    <a:bodyPr/>
                    <a:lstStyle/>
                    <a:p>
                      <a:r>
                        <a:rPr lang="en-US" sz="1700"/>
                        <a:t>Time Series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Indexed by time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Hourly temperature readings</a:t>
                      </a:r>
                    </a:p>
                  </a:txBody>
                  <a:tcPr marL="87886" marR="87886" marT="43943" marB="43943" anchor="ctr"/>
                </a:tc>
                <a:extLst>
                  <a:ext uri="{0D108BD9-81ED-4DB2-BD59-A6C34878D82A}">
                    <a16:rowId xmlns:a16="http://schemas.microsoft.com/office/drawing/2014/main" val="2780521358"/>
                  </a:ext>
                </a:extLst>
              </a:tr>
              <a:tr h="615200">
                <a:tc>
                  <a:txBody>
                    <a:bodyPr/>
                    <a:lstStyle/>
                    <a:p>
                      <a:r>
                        <a:rPr lang="en-US" sz="1700"/>
                        <a:t>Spatial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Indexed by space (location)</a:t>
                      </a:r>
                    </a:p>
                  </a:txBody>
                  <a:tcPr marL="87886" marR="87886" marT="43943" marB="43943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GPS coordinates, satellite data</a:t>
                      </a:r>
                    </a:p>
                  </a:txBody>
                  <a:tcPr marL="87886" marR="87886" marT="43943" marB="43943" anchor="ctr"/>
                </a:tc>
                <a:extLst>
                  <a:ext uri="{0D108BD9-81ED-4DB2-BD59-A6C34878D82A}">
                    <a16:rowId xmlns:a16="http://schemas.microsoft.com/office/drawing/2014/main" val="4191057008"/>
                  </a:ext>
                </a:extLst>
              </a:tr>
            </a:tbl>
          </a:graphicData>
        </a:graphic>
      </p:graphicFrame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8379D4CB-CE58-DD71-0478-63F6B9934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192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4D4E-7A94-C01D-711B-1D1C43452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57DCF9-2E9A-B8B8-60FA-8B6225FB1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64" y="198475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Categories of Data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1C90D-3D25-5C21-3BC9-A0264E92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375A16-B437-1A4D-DA84-51B0B77FE7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7680" y="1941642"/>
            <a:ext cx="8768080" cy="20715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Descriptive: What happened? 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Diagnostic: Why did it happen? 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Predictive: What will happen? 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Prescriptive: What should be done?</a:t>
            </a: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107B806A-3BAC-768D-99F0-ACBAEBC7F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593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91E0-725B-09E4-BC59-09D704EFB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FF6E17-68BA-F750-CB2E-005CD268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186374"/>
            <a:ext cx="10360152" cy="1179576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Descriptive Analytics – </a:t>
            </a:r>
            <a:r>
              <a:rPr lang="en-US" b="1" i="1" dirty="0">
                <a:solidFill>
                  <a:srgbClr val="FF0000"/>
                </a:solidFill>
              </a:rPr>
              <a:t>What happened?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8084B7-03E2-4969-A2D8-E8F99107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70FBF1-577C-CDD8-3ECD-B7950B7B79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003007"/>
            <a:ext cx="7712710" cy="40828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Summarize historical data to understand changes over time.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aggregation, data mining.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Monthly sales reports, website traffic analysis.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Charts, graphs, dashboards.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 Monthly sales trends increases by the end of the year indicating festival seasons (Thanksgiving, Christmas, etc.).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80D40-6BA1-4E4C-0B47-93E899D4A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910" y="2754847"/>
            <a:ext cx="3564890" cy="2898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437601-F823-559E-7B70-43FF5A8E26A9}"/>
              </a:ext>
            </a:extLst>
          </p:cNvPr>
          <p:cNvSpPr txBox="1"/>
          <p:nvPr/>
        </p:nvSpPr>
        <p:spPr>
          <a:xfrm>
            <a:off x="9358526" y="5930896"/>
            <a:ext cx="2376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Lab File:</a:t>
            </a:r>
          </a:p>
          <a:p>
            <a:pPr algn="r"/>
            <a:r>
              <a:rPr lang="en-GB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lab1.ipynb</a:t>
            </a:r>
            <a:endParaRPr lang="en-001" sz="1200" dirty="0">
              <a:solidFill>
                <a:schemeClr val="bg1"/>
              </a:solidFill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8864F023-BC44-A71F-CAF7-1846577B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0" y="673334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348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A6D6-0F95-836B-C401-0C67EB19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C262E7-8425-BCB0-A30B-76DE761D3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324611"/>
            <a:ext cx="10360152" cy="1179576"/>
          </a:xfrm>
        </p:spPr>
        <p:txBody>
          <a:bodyPr/>
          <a:lstStyle/>
          <a:p>
            <a:pPr algn="just"/>
            <a:r>
              <a:rPr lang="en-GB" b="1" dirty="0">
                <a:solidFill>
                  <a:srgbClr val="FF0000"/>
                </a:solidFill>
              </a:rPr>
              <a:t>Diagnostic Analytics – </a:t>
            </a:r>
            <a:r>
              <a:rPr lang="en-GB" b="1" i="1" dirty="0">
                <a:solidFill>
                  <a:srgbClr val="FF0000"/>
                </a:solidFill>
              </a:rPr>
              <a:t>Why did it happen?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09FF2-64C3-E36D-AFA6-D1ECB0FB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3416BC-0DD2-FC73-6CC1-CC2470CF30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560" y="2010805"/>
            <a:ext cx="7406640" cy="40140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Investigate data to determine causes of past outcomes.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Drill-down, data discovery, correlations.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Analysing why sales dropped in a particular quarter.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Python, Statistical analysis software, root cause analysis.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 Sales declined in the months of April, December and January, likely due to end of financial year and festival season respectively.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954EE-6A84-716E-9EFB-4245C4655AA7}"/>
              </a:ext>
            </a:extLst>
          </p:cNvPr>
          <p:cNvSpPr txBox="1"/>
          <p:nvPr/>
        </p:nvSpPr>
        <p:spPr>
          <a:xfrm>
            <a:off x="9358526" y="5930896"/>
            <a:ext cx="2376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Lab File:</a:t>
            </a:r>
          </a:p>
          <a:p>
            <a:pPr algn="r"/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lab1.ipynb</a:t>
            </a:r>
            <a:endParaRPr lang="en-001" sz="1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00A140-6C08-A41F-45BB-55A0DD1E2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439" y="1563430"/>
            <a:ext cx="3475521" cy="3935515"/>
          </a:xfrm>
          <a:prstGeom prst="rect">
            <a:avLst/>
          </a:prstGeom>
        </p:spPr>
      </p:pic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22D74656-8D9B-5541-217F-60C64CBDB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302" y="217079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580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94422-0CD8-06D0-292E-E82844E2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CE46B3-14FB-029D-66BB-D4808CF0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582614"/>
            <a:ext cx="10360152" cy="1179576"/>
          </a:xfrm>
        </p:spPr>
        <p:txBody>
          <a:bodyPr/>
          <a:lstStyle/>
          <a:p>
            <a:pPr algn="just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– </a:t>
            </a:r>
            <a:r>
              <a:rPr lang="en-GB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likely to happen?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41A082-05D7-E0B7-B1F9-51126EA6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42757-541A-9C8E-5E42-D5D41FA013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2160" y="2185886"/>
            <a:ext cx="8067040" cy="3717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future trends based on historical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statistical modelling.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customer churn, sales forecasting.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analysis, time series analysis.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 what will be the likely sales in the next upcoming months</a:t>
            </a: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55D881BF-BA05-0C74-A996-369A096C8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23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CFB9-9D4F-AECE-A996-B6B6148B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6ED165-BBD8-C16A-7BC4-9C3F9FD2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689918"/>
            <a:ext cx="10789920" cy="1220161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Prescriptive Analytics – </a:t>
            </a:r>
            <a:r>
              <a:rPr lang="en-GB" b="1" i="1" dirty="0">
                <a:solidFill>
                  <a:srgbClr val="FF0000"/>
                </a:solidFill>
              </a:rPr>
              <a:t>What should we do?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208EB-FAD4-6728-0FB4-02309949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306AF3-45A1-7618-89C0-B138961A26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840" y="2206206"/>
            <a:ext cx="8097520" cy="3717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actions to achieve desired outcomes.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Optimization, simulation algorithms.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Recommending product pricing strategies, supply chain optimization.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analysis tools, AI algorithms.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 how can we mitigate potential losses and increase benefits</a:t>
            </a:r>
            <a:r>
              <a:rPr lang="en-GB" dirty="0"/>
              <a:t>.</a:t>
            </a: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0B16EDBE-51FD-5328-422D-6F33E3DA2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188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B477-011D-821C-E662-07516667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DF500015-C9B2-6327-47CA-8D87EA9012D0}"/>
              </a:ext>
            </a:extLst>
          </p:cNvPr>
          <p:cNvGrpSpPr/>
          <p:nvPr/>
        </p:nvGrpSpPr>
        <p:grpSpPr>
          <a:xfrm>
            <a:off x="3996713" y="1559157"/>
            <a:ext cx="4198574" cy="4636613"/>
            <a:chOff x="3996713" y="1110694"/>
            <a:chExt cx="4198574" cy="463661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7D40D8-D7AF-C555-066E-9EB432F754E5}"/>
                </a:ext>
              </a:extLst>
            </p:cNvPr>
            <p:cNvSpPr/>
            <p:nvPr/>
          </p:nvSpPr>
          <p:spPr>
            <a:xfrm>
              <a:off x="5412481" y="1110694"/>
              <a:ext cx="1367037" cy="904621"/>
            </a:xfrm>
            <a:custGeom>
              <a:avLst/>
              <a:gdLst>
                <a:gd name="connsiteX0" fmla="*/ 683519 w 1367037"/>
                <a:gd name="connsiteY0" fmla="*/ 0 h 904621"/>
                <a:gd name="connsiteX1" fmla="*/ 1367037 w 1367037"/>
                <a:gd name="connsiteY1" fmla="*/ 683519 h 904621"/>
                <a:gd name="connsiteX2" fmla="*/ 1353151 w 1367037"/>
                <a:gd name="connsiteY2" fmla="*/ 821271 h 904621"/>
                <a:gd name="connsiteX3" fmla="*/ 1327278 w 1367037"/>
                <a:gd name="connsiteY3" fmla="*/ 904620 h 904621"/>
                <a:gd name="connsiteX4" fmla="*/ 1288593 w 1367037"/>
                <a:gd name="connsiteY4" fmla="*/ 885985 h 904621"/>
                <a:gd name="connsiteX5" fmla="*/ 683519 w 1367037"/>
                <a:gd name="connsiteY5" fmla="*/ 763826 h 904621"/>
                <a:gd name="connsiteX6" fmla="*/ 78445 w 1367037"/>
                <a:gd name="connsiteY6" fmla="*/ 885985 h 904621"/>
                <a:gd name="connsiteX7" fmla="*/ 39760 w 1367037"/>
                <a:gd name="connsiteY7" fmla="*/ 904621 h 904621"/>
                <a:gd name="connsiteX8" fmla="*/ 13887 w 1367037"/>
                <a:gd name="connsiteY8" fmla="*/ 821271 h 904621"/>
                <a:gd name="connsiteX9" fmla="*/ 0 w 1367037"/>
                <a:gd name="connsiteY9" fmla="*/ 683519 h 904621"/>
                <a:gd name="connsiteX10" fmla="*/ 683519 w 1367037"/>
                <a:gd name="connsiteY10" fmla="*/ 0 h 904621"/>
                <a:gd name="connsiteX0" fmla="*/ 683519 w 1367037"/>
                <a:gd name="connsiteY0" fmla="*/ 0 h 904621"/>
                <a:gd name="connsiteX1" fmla="*/ 1367037 w 1367037"/>
                <a:gd name="connsiteY1" fmla="*/ 683519 h 904621"/>
                <a:gd name="connsiteX2" fmla="*/ 1353151 w 1367037"/>
                <a:gd name="connsiteY2" fmla="*/ 821271 h 904621"/>
                <a:gd name="connsiteX3" fmla="*/ 1327278 w 1367037"/>
                <a:gd name="connsiteY3" fmla="*/ 904620 h 904621"/>
                <a:gd name="connsiteX4" fmla="*/ 1288593 w 1367037"/>
                <a:gd name="connsiteY4" fmla="*/ 885985 h 904621"/>
                <a:gd name="connsiteX5" fmla="*/ 78445 w 1367037"/>
                <a:gd name="connsiteY5" fmla="*/ 885985 h 904621"/>
                <a:gd name="connsiteX6" fmla="*/ 39760 w 1367037"/>
                <a:gd name="connsiteY6" fmla="*/ 904621 h 904621"/>
                <a:gd name="connsiteX7" fmla="*/ 13887 w 1367037"/>
                <a:gd name="connsiteY7" fmla="*/ 821271 h 904621"/>
                <a:gd name="connsiteX8" fmla="*/ 0 w 1367037"/>
                <a:gd name="connsiteY8" fmla="*/ 683519 h 904621"/>
                <a:gd name="connsiteX9" fmla="*/ 683519 w 1367037"/>
                <a:gd name="connsiteY9" fmla="*/ 0 h 904621"/>
                <a:gd name="connsiteX0" fmla="*/ 683519 w 1367037"/>
                <a:gd name="connsiteY0" fmla="*/ 0 h 906997"/>
                <a:gd name="connsiteX1" fmla="*/ 1367037 w 1367037"/>
                <a:gd name="connsiteY1" fmla="*/ 683519 h 906997"/>
                <a:gd name="connsiteX2" fmla="*/ 1353151 w 1367037"/>
                <a:gd name="connsiteY2" fmla="*/ 821271 h 906997"/>
                <a:gd name="connsiteX3" fmla="*/ 1327278 w 1367037"/>
                <a:gd name="connsiteY3" fmla="*/ 904620 h 906997"/>
                <a:gd name="connsiteX4" fmla="*/ 1288593 w 1367037"/>
                <a:gd name="connsiteY4" fmla="*/ 885985 h 906997"/>
                <a:gd name="connsiteX5" fmla="*/ 39760 w 1367037"/>
                <a:gd name="connsiteY5" fmla="*/ 904621 h 906997"/>
                <a:gd name="connsiteX6" fmla="*/ 13887 w 1367037"/>
                <a:gd name="connsiteY6" fmla="*/ 821271 h 906997"/>
                <a:gd name="connsiteX7" fmla="*/ 0 w 1367037"/>
                <a:gd name="connsiteY7" fmla="*/ 683519 h 906997"/>
                <a:gd name="connsiteX8" fmla="*/ 683519 w 1367037"/>
                <a:gd name="connsiteY8" fmla="*/ 0 h 906997"/>
                <a:gd name="connsiteX0" fmla="*/ 683519 w 1367037"/>
                <a:gd name="connsiteY0" fmla="*/ 0 h 904621"/>
                <a:gd name="connsiteX1" fmla="*/ 1367037 w 1367037"/>
                <a:gd name="connsiteY1" fmla="*/ 683519 h 904621"/>
                <a:gd name="connsiteX2" fmla="*/ 1353151 w 1367037"/>
                <a:gd name="connsiteY2" fmla="*/ 821271 h 904621"/>
                <a:gd name="connsiteX3" fmla="*/ 1327278 w 1367037"/>
                <a:gd name="connsiteY3" fmla="*/ 904620 h 904621"/>
                <a:gd name="connsiteX4" fmla="*/ 39760 w 1367037"/>
                <a:gd name="connsiteY4" fmla="*/ 904621 h 904621"/>
                <a:gd name="connsiteX5" fmla="*/ 13887 w 1367037"/>
                <a:gd name="connsiteY5" fmla="*/ 821271 h 904621"/>
                <a:gd name="connsiteX6" fmla="*/ 0 w 1367037"/>
                <a:gd name="connsiteY6" fmla="*/ 683519 h 904621"/>
                <a:gd name="connsiteX7" fmla="*/ 683519 w 1367037"/>
                <a:gd name="connsiteY7" fmla="*/ 0 h 904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7037" h="904621">
                  <a:moveTo>
                    <a:pt x="683519" y="0"/>
                  </a:moveTo>
                  <a:cubicBezTo>
                    <a:pt x="1061016" y="0"/>
                    <a:pt x="1367037" y="306022"/>
                    <a:pt x="1367037" y="683519"/>
                  </a:cubicBezTo>
                  <a:cubicBezTo>
                    <a:pt x="1367037" y="730706"/>
                    <a:pt x="1362256" y="776776"/>
                    <a:pt x="1353151" y="821271"/>
                  </a:cubicBezTo>
                  <a:lnTo>
                    <a:pt x="1327278" y="904620"/>
                  </a:lnTo>
                  <a:lnTo>
                    <a:pt x="39760" y="904621"/>
                  </a:lnTo>
                  <a:lnTo>
                    <a:pt x="13887" y="821271"/>
                  </a:lnTo>
                  <a:cubicBezTo>
                    <a:pt x="4782" y="776776"/>
                    <a:pt x="0" y="730706"/>
                    <a:pt x="0" y="683519"/>
                  </a:cubicBezTo>
                  <a:cubicBezTo>
                    <a:pt x="0" y="306022"/>
                    <a:pt x="306022" y="0"/>
                    <a:pt x="683519" y="0"/>
                  </a:cubicBez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en-US" sz="3000" dirty="0">
                <a:solidFill>
                  <a:srgbClr val="FFFFFF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A7D6E61-64B2-DE50-26FF-4E24481C9425}"/>
                </a:ext>
              </a:extLst>
            </p:cNvPr>
            <p:cNvSpPr/>
            <p:nvPr/>
          </p:nvSpPr>
          <p:spPr>
            <a:xfrm>
              <a:off x="6998308" y="1928087"/>
              <a:ext cx="1196979" cy="1353803"/>
            </a:xfrm>
            <a:custGeom>
              <a:avLst/>
              <a:gdLst>
                <a:gd name="connsiteX0" fmla="*/ 513461 w 1196979"/>
                <a:gd name="connsiteY0" fmla="*/ 0 h 1353803"/>
                <a:gd name="connsiteX1" fmla="*/ 1196979 w 1196979"/>
                <a:gd name="connsiteY1" fmla="*/ 683519 h 1353803"/>
                <a:gd name="connsiteX2" fmla="*/ 651214 w 1196979"/>
                <a:gd name="connsiteY2" fmla="*/ 1353151 h 1353803"/>
                <a:gd name="connsiteX3" fmla="*/ 644744 w 1196979"/>
                <a:gd name="connsiteY3" fmla="*/ 1353803 h 1353803"/>
                <a:gd name="connsiteX4" fmla="*/ 644147 w 1196979"/>
                <a:gd name="connsiteY4" fmla="*/ 1341976 h 1353803"/>
                <a:gd name="connsiteX5" fmla="*/ 86486 w 1196979"/>
                <a:gd name="connsiteY5" fmla="*/ 301401 h 1353803"/>
                <a:gd name="connsiteX6" fmla="*/ 0 w 1196979"/>
                <a:gd name="connsiteY6" fmla="*/ 236728 h 1353803"/>
                <a:gd name="connsiteX7" fmla="*/ 30140 w 1196979"/>
                <a:gd name="connsiteY7" fmla="*/ 200198 h 1353803"/>
                <a:gd name="connsiteX8" fmla="*/ 513461 w 1196979"/>
                <a:gd name="connsiteY8" fmla="*/ 0 h 1353803"/>
                <a:gd name="connsiteX0" fmla="*/ 513461 w 1196979"/>
                <a:gd name="connsiteY0" fmla="*/ 0 h 1353803"/>
                <a:gd name="connsiteX1" fmla="*/ 1196979 w 1196979"/>
                <a:gd name="connsiteY1" fmla="*/ 683519 h 1353803"/>
                <a:gd name="connsiteX2" fmla="*/ 651214 w 1196979"/>
                <a:gd name="connsiteY2" fmla="*/ 1353151 h 1353803"/>
                <a:gd name="connsiteX3" fmla="*/ 644744 w 1196979"/>
                <a:gd name="connsiteY3" fmla="*/ 1353803 h 1353803"/>
                <a:gd name="connsiteX4" fmla="*/ 644147 w 1196979"/>
                <a:gd name="connsiteY4" fmla="*/ 1341976 h 1353803"/>
                <a:gd name="connsiteX5" fmla="*/ 0 w 1196979"/>
                <a:gd name="connsiteY5" fmla="*/ 236728 h 1353803"/>
                <a:gd name="connsiteX6" fmla="*/ 30140 w 1196979"/>
                <a:gd name="connsiteY6" fmla="*/ 200198 h 1353803"/>
                <a:gd name="connsiteX7" fmla="*/ 513461 w 1196979"/>
                <a:gd name="connsiteY7" fmla="*/ 0 h 1353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9" h="1353803">
                  <a:moveTo>
                    <a:pt x="513461" y="0"/>
                  </a:moveTo>
                  <a:cubicBezTo>
                    <a:pt x="890958" y="0"/>
                    <a:pt x="1196979" y="306022"/>
                    <a:pt x="1196979" y="683519"/>
                  </a:cubicBezTo>
                  <a:cubicBezTo>
                    <a:pt x="1196979" y="1013829"/>
                    <a:pt x="962682" y="1289415"/>
                    <a:pt x="651214" y="1353151"/>
                  </a:cubicBezTo>
                  <a:lnTo>
                    <a:pt x="644744" y="1353803"/>
                  </a:lnTo>
                  <a:lnTo>
                    <a:pt x="644147" y="1341976"/>
                  </a:lnTo>
                  <a:cubicBezTo>
                    <a:pt x="536690" y="1155797"/>
                    <a:pt x="102334" y="427024"/>
                    <a:pt x="0" y="236728"/>
                  </a:cubicBezTo>
                  <a:lnTo>
                    <a:pt x="30140" y="200198"/>
                  </a:lnTo>
                  <a:cubicBezTo>
                    <a:pt x="153833" y="76505"/>
                    <a:pt x="324712" y="0"/>
                    <a:pt x="513461" y="0"/>
                  </a:cubicBez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en-US" sz="3000" dirty="0">
                <a:solidFill>
                  <a:srgbClr val="FFFFFF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809D5C3-4CBB-BC15-CBCD-9B5CAC93B2BE}"/>
                </a:ext>
              </a:extLst>
            </p:cNvPr>
            <p:cNvSpPr/>
            <p:nvPr/>
          </p:nvSpPr>
          <p:spPr>
            <a:xfrm>
              <a:off x="6998308" y="3576111"/>
              <a:ext cx="1196979" cy="1353802"/>
            </a:xfrm>
            <a:custGeom>
              <a:avLst/>
              <a:gdLst>
                <a:gd name="connsiteX0" fmla="*/ 644744 w 1196979"/>
                <a:gd name="connsiteY0" fmla="*/ 0 h 1353802"/>
                <a:gd name="connsiteX1" fmla="*/ 651214 w 1196979"/>
                <a:gd name="connsiteY1" fmla="*/ 652 h 1353802"/>
                <a:gd name="connsiteX2" fmla="*/ 1196979 w 1196979"/>
                <a:gd name="connsiteY2" fmla="*/ 670284 h 1353802"/>
                <a:gd name="connsiteX3" fmla="*/ 513461 w 1196979"/>
                <a:gd name="connsiteY3" fmla="*/ 1353802 h 1353802"/>
                <a:gd name="connsiteX4" fmla="*/ 30140 w 1196979"/>
                <a:gd name="connsiteY4" fmla="*/ 1153604 h 1353802"/>
                <a:gd name="connsiteX5" fmla="*/ 0 w 1196979"/>
                <a:gd name="connsiteY5" fmla="*/ 1117075 h 1353802"/>
                <a:gd name="connsiteX6" fmla="*/ 86486 w 1196979"/>
                <a:gd name="connsiteY6" fmla="*/ 1052402 h 1353802"/>
                <a:gd name="connsiteX7" fmla="*/ 644147 w 1196979"/>
                <a:gd name="connsiteY7" fmla="*/ 11826 h 1353802"/>
                <a:gd name="connsiteX0" fmla="*/ 644744 w 1196979"/>
                <a:gd name="connsiteY0" fmla="*/ 0 h 1353802"/>
                <a:gd name="connsiteX1" fmla="*/ 651214 w 1196979"/>
                <a:gd name="connsiteY1" fmla="*/ 652 h 1353802"/>
                <a:gd name="connsiteX2" fmla="*/ 1196979 w 1196979"/>
                <a:gd name="connsiteY2" fmla="*/ 670284 h 1353802"/>
                <a:gd name="connsiteX3" fmla="*/ 513461 w 1196979"/>
                <a:gd name="connsiteY3" fmla="*/ 1353802 h 1353802"/>
                <a:gd name="connsiteX4" fmla="*/ 30140 w 1196979"/>
                <a:gd name="connsiteY4" fmla="*/ 1153604 h 1353802"/>
                <a:gd name="connsiteX5" fmla="*/ 0 w 1196979"/>
                <a:gd name="connsiteY5" fmla="*/ 1117075 h 1353802"/>
                <a:gd name="connsiteX6" fmla="*/ 644147 w 1196979"/>
                <a:gd name="connsiteY6" fmla="*/ 11826 h 1353802"/>
                <a:gd name="connsiteX7" fmla="*/ 644744 w 1196979"/>
                <a:gd name="connsiteY7" fmla="*/ 0 h 1353802"/>
                <a:gd name="connsiteX0" fmla="*/ 644744 w 1196979"/>
                <a:gd name="connsiteY0" fmla="*/ 0 h 1353802"/>
                <a:gd name="connsiteX1" fmla="*/ 651214 w 1196979"/>
                <a:gd name="connsiteY1" fmla="*/ 652 h 1353802"/>
                <a:gd name="connsiteX2" fmla="*/ 1196979 w 1196979"/>
                <a:gd name="connsiteY2" fmla="*/ 670284 h 1353802"/>
                <a:gd name="connsiteX3" fmla="*/ 513461 w 1196979"/>
                <a:gd name="connsiteY3" fmla="*/ 1353802 h 1353802"/>
                <a:gd name="connsiteX4" fmla="*/ 30140 w 1196979"/>
                <a:gd name="connsiteY4" fmla="*/ 1153604 h 1353802"/>
                <a:gd name="connsiteX5" fmla="*/ 0 w 1196979"/>
                <a:gd name="connsiteY5" fmla="*/ 1117075 h 1353802"/>
                <a:gd name="connsiteX6" fmla="*/ 644744 w 1196979"/>
                <a:gd name="connsiteY6" fmla="*/ 0 h 135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6979" h="1353802">
                  <a:moveTo>
                    <a:pt x="644744" y="0"/>
                  </a:moveTo>
                  <a:lnTo>
                    <a:pt x="651214" y="652"/>
                  </a:lnTo>
                  <a:cubicBezTo>
                    <a:pt x="962682" y="64387"/>
                    <a:pt x="1196979" y="339974"/>
                    <a:pt x="1196979" y="670284"/>
                  </a:cubicBezTo>
                  <a:cubicBezTo>
                    <a:pt x="1196979" y="1047781"/>
                    <a:pt x="890958" y="1353802"/>
                    <a:pt x="513461" y="1353802"/>
                  </a:cubicBezTo>
                  <a:cubicBezTo>
                    <a:pt x="324712" y="1353802"/>
                    <a:pt x="153833" y="1277297"/>
                    <a:pt x="30140" y="1153604"/>
                  </a:cubicBezTo>
                  <a:lnTo>
                    <a:pt x="0" y="1117075"/>
                  </a:lnTo>
                  <a:lnTo>
                    <a:pt x="644744" y="0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en-US" sz="3000">
                <a:solidFill>
                  <a:srgbClr val="FFFFFF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E583F65-6F02-203D-1FD0-F2099DA6FE26}"/>
                </a:ext>
              </a:extLst>
            </p:cNvPr>
            <p:cNvSpPr/>
            <p:nvPr/>
          </p:nvSpPr>
          <p:spPr>
            <a:xfrm>
              <a:off x="5412481" y="4842686"/>
              <a:ext cx="1367037" cy="904621"/>
            </a:xfrm>
            <a:custGeom>
              <a:avLst/>
              <a:gdLst>
                <a:gd name="connsiteX0" fmla="*/ 39760 w 1367037"/>
                <a:gd name="connsiteY0" fmla="*/ 0 h 904621"/>
                <a:gd name="connsiteX1" fmla="*/ 78445 w 1367037"/>
                <a:gd name="connsiteY1" fmla="*/ 18636 h 904621"/>
                <a:gd name="connsiteX2" fmla="*/ 683519 w 1367037"/>
                <a:gd name="connsiteY2" fmla="*/ 140794 h 904621"/>
                <a:gd name="connsiteX3" fmla="*/ 1288593 w 1367037"/>
                <a:gd name="connsiteY3" fmla="*/ 18636 h 904621"/>
                <a:gd name="connsiteX4" fmla="*/ 1327277 w 1367037"/>
                <a:gd name="connsiteY4" fmla="*/ 0 h 904621"/>
                <a:gd name="connsiteX5" fmla="*/ 1353151 w 1367037"/>
                <a:gd name="connsiteY5" fmla="*/ 83350 h 904621"/>
                <a:gd name="connsiteX6" fmla="*/ 1367037 w 1367037"/>
                <a:gd name="connsiteY6" fmla="*/ 221103 h 904621"/>
                <a:gd name="connsiteX7" fmla="*/ 683519 w 1367037"/>
                <a:gd name="connsiteY7" fmla="*/ 904621 h 904621"/>
                <a:gd name="connsiteX8" fmla="*/ 0 w 1367037"/>
                <a:gd name="connsiteY8" fmla="*/ 221103 h 904621"/>
                <a:gd name="connsiteX9" fmla="*/ 13887 w 1367037"/>
                <a:gd name="connsiteY9" fmla="*/ 83350 h 904621"/>
                <a:gd name="connsiteX0" fmla="*/ 39760 w 1367037"/>
                <a:gd name="connsiteY0" fmla="*/ 0 h 904621"/>
                <a:gd name="connsiteX1" fmla="*/ 78445 w 1367037"/>
                <a:gd name="connsiteY1" fmla="*/ 18636 h 904621"/>
                <a:gd name="connsiteX2" fmla="*/ 1288593 w 1367037"/>
                <a:gd name="connsiteY2" fmla="*/ 18636 h 904621"/>
                <a:gd name="connsiteX3" fmla="*/ 1327277 w 1367037"/>
                <a:gd name="connsiteY3" fmla="*/ 0 h 904621"/>
                <a:gd name="connsiteX4" fmla="*/ 1353151 w 1367037"/>
                <a:gd name="connsiteY4" fmla="*/ 83350 h 904621"/>
                <a:gd name="connsiteX5" fmla="*/ 1367037 w 1367037"/>
                <a:gd name="connsiteY5" fmla="*/ 221103 h 904621"/>
                <a:gd name="connsiteX6" fmla="*/ 683519 w 1367037"/>
                <a:gd name="connsiteY6" fmla="*/ 904621 h 904621"/>
                <a:gd name="connsiteX7" fmla="*/ 0 w 1367037"/>
                <a:gd name="connsiteY7" fmla="*/ 221103 h 904621"/>
                <a:gd name="connsiteX8" fmla="*/ 13887 w 1367037"/>
                <a:gd name="connsiteY8" fmla="*/ 83350 h 904621"/>
                <a:gd name="connsiteX9" fmla="*/ 39760 w 1367037"/>
                <a:gd name="connsiteY9" fmla="*/ 0 h 904621"/>
                <a:gd name="connsiteX0" fmla="*/ 39760 w 1367037"/>
                <a:gd name="connsiteY0" fmla="*/ 2376 h 906997"/>
                <a:gd name="connsiteX1" fmla="*/ 78445 w 1367037"/>
                <a:gd name="connsiteY1" fmla="*/ 21012 h 906997"/>
                <a:gd name="connsiteX2" fmla="*/ 1327277 w 1367037"/>
                <a:gd name="connsiteY2" fmla="*/ 2376 h 906997"/>
                <a:gd name="connsiteX3" fmla="*/ 1353151 w 1367037"/>
                <a:gd name="connsiteY3" fmla="*/ 85726 h 906997"/>
                <a:gd name="connsiteX4" fmla="*/ 1367037 w 1367037"/>
                <a:gd name="connsiteY4" fmla="*/ 223479 h 906997"/>
                <a:gd name="connsiteX5" fmla="*/ 683519 w 1367037"/>
                <a:gd name="connsiteY5" fmla="*/ 906997 h 906997"/>
                <a:gd name="connsiteX6" fmla="*/ 0 w 1367037"/>
                <a:gd name="connsiteY6" fmla="*/ 223479 h 906997"/>
                <a:gd name="connsiteX7" fmla="*/ 13887 w 1367037"/>
                <a:gd name="connsiteY7" fmla="*/ 85726 h 906997"/>
                <a:gd name="connsiteX8" fmla="*/ 39760 w 1367037"/>
                <a:gd name="connsiteY8" fmla="*/ 2376 h 906997"/>
                <a:gd name="connsiteX0" fmla="*/ 39760 w 1367037"/>
                <a:gd name="connsiteY0" fmla="*/ 0 h 904621"/>
                <a:gd name="connsiteX1" fmla="*/ 1327277 w 1367037"/>
                <a:gd name="connsiteY1" fmla="*/ 0 h 904621"/>
                <a:gd name="connsiteX2" fmla="*/ 1353151 w 1367037"/>
                <a:gd name="connsiteY2" fmla="*/ 83350 h 904621"/>
                <a:gd name="connsiteX3" fmla="*/ 1367037 w 1367037"/>
                <a:gd name="connsiteY3" fmla="*/ 221103 h 904621"/>
                <a:gd name="connsiteX4" fmla="*/ 683519 w 1367037"/>
                <a:gd name="connsiteY4" fmla="*/ 904621 h 904621"/>
                <a:gd name="connsiteX5" fmla="*/ 0 w 1367037"/>
                <a:gd name="connsiteY5" fmla="*/ 221103 h 904621"/>
                <a:gd name="connsiteX6" fmla="*/ 13887 w 1367037"/>
                <a:gd name="connsiteY6" fmla="*/ 83350 h 904621"/>
                <a:gd name="connsiteX7" fmla="*/ 39760 w 1367037"/>
                <a:gd name="connsiteY7" fmla="*/ 0 h 904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7037" h="904621">
                  <a:moveTo>
                    <a:pt x="39760" y="0"/>
                  </a:moveTo>
                  <a:lnTo>
                    <a:pt x="1327277" y="0"/>
                  </a:lnTo>
                  <a:lnTo>
                    <a:pt x="1353151" y="83350"/>
                  </a:lnTo>
                  <a:cubicBezTo>
                    <a:pt x="1362256" y="127845"/>
                    <a:pt x="1367037" y="173916"/>
                    <a:pt x="1367037" y="221103"/>
                  </a:cubicBezTo>
                  <a:cubicBezTo>
                    <a:pt x="1367037" y="598600"/>
                    <a:pt x="1061016" y="904621"/>
                    <a:pt x="683519" y="904621"/>
                  </a:cubicBezTo>
                  <a:cubicBezTo>
                    <a:pt x="306022" y="904621"/>
                    <a:pt x="0" y="598600"/>
                    <a:pt x="0" y="221103"/>
                  </a:cubicBezTo>
                  <a:cubicBezTo>
                    <a:pt x="0" y="173916"/>
                    <a:pt x="4782" y="127845"/>
                    <a:pt x="13887" y="83350"/>
                  </a:cubicBezTo>
                  <a:lnTo>
                    <a:pt x="39760" y="0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en-US" sz="3000" dirty="0">
                <a:solidFill>
                  <a:srgbClr val="FFFFFF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7003C6C-0D8B-A75B-35B5-DEA30AC0BACA}"/>
                </a:ext>
              </a:extLst>
            </p:cNvPr>
            <p:cNvSpPr/>
            <p:nvPr/>
          </p:nvSpPr>
          <p:spPr>
            <a:xfrm>
              <a:off x="3996713" y="3576111"/>
              <a:ext cx="1196979" cy="1353802"/>
            </a:xfrm>
            <a:custGeom>
              <a:avLst/>
              <a:gdLst>
                <a:gd name="connsiteX0" fmla="*/ 552236 w 1196979"/>
                <a:gd name="connsiteY0" fmla="*/ 0 h 1353802"/>
                <a:gd name="connsiteX1" fmla="*/ 552833 w 1196979"/>
                <a:gd name="connsiteY1" fmla="*/ 11826 h 1353802"/>
                <a:gd name="connsiteX2" fmla="*/ 1110494 w 1196979"/>
                <a:gd name="connsiteY2" fmla="*/ 1052402 h 1353802"/>
                <a:gd name="connsiteX3" fmla="*/ 1196979 w 1196979"/>
                <a:gd name="connsiteY3" fmla="*/ 1117075 h 1353802"/>
                <a:gd name="connsiteX4" fmla="*/ 1166839 w 1196979"/>
                <a:gd name="connsiteY4" fmla="*/ 1153604 h 1353802"/>
                <a:gd name="connsiteX5" fmla="*/ 683519 w 1196979"/>
                <a:gd name="connsiteY5" fmla="*/ 1353802 h 1353802"/>
                <a:gd name="connsiteX6" fmla="*/ 0 w 1196979"/>
                <a:gd name="connsiteY6" fmla="*/ 670284 h 1353802"/>
                <a:gd name="connsiteX7" fmla="*/ 545766 w 1196979"/>
                <a:gd name="connsiteY7" fmla="*/ 652 h 1353802"/>
                <a:gd name="connsiteX0" fmla="*/ 552236 w 1196979"/>
                <a:gd name="connsiteY0" fmla="*/ 0 h 1353802"/>
                <a:gd name="connsiteX1" fmla="*/ 552833 w 1196979"/>
                <a:gd name="connsiteY1" fmla="*/ 11826 h 1353802"/>
                <a:gd name="connsiteX2" fmla="*/ 1196979 w 1196979"/>
                <a:gd name="connsiteY2" fmla="*/ 1117075 h 1353802"/>
                <a:gd name="connsiteX3" fmla="*/ 1166839 w 1196979"/>
                <a:gd name="connsiteY3" fmla="*/ 1153604 h 1353802"/>
                <a:gd name="connsiteX4" fmla="*/ 683519 w 1196979"/>
                <a:gd name="connsiteY4" fmla="*/ 1353802 h 1353802"/>
                <a:gd name="connsiteX5" fmla="*/ 0 w 1196979"/>
                <a:gd name="connsiteY5" fmla="*/ 670284 h 1353802"/>
                <a:gd name="connsiteX6" fmla="*/ 545766 w 1196979"/>
                <a:gd name="connsiteY6" fmla="*/ 652 h 1353802"/>
                <a:gd name="connsiteX7" fmla="*/ 552236 w 1196979"/>
                <a:gd name="connsiteY7" fmla="*/ 0 h 1353802"/>
                <a:gd name="connsiteX0" fmla="*/ 552236 w 1196979"/>
                <a:gd name="connsiteY0" fmla="*/ 0 h 1353802"/>
                <a:gd name="connsiteX1" fmla="*/ 1196979 w 1196979"/>
                <a:gd name="connsiteY1" fmla="*/ 1117075 h 1353802"/>
                <a:gd name="connsiteX2" fmla="*/ 1166839 w 1196979"/>
                <a:gd name="connsiteY2" fmla="*/ 1153604 h 1353802"/>
                <a:gd name="connsiteX3" fmla="*/ 683519 w 1196979"/>
                <a:gd name="connsiteY3" fmla="*/ 1353802 h 1353802"/>
                <a:gd name="connsiteX4" fmla="*/ 0 w 1196979"/>
                <a:gd name="connsiteY4" fmla="*/ 670284 h 1353802"/>
                <a:gd name="connsiteX5" fmla="*/ 545766 w 1196979"/>
                <a:gd name="connsiteY5" fmla="*/ 652 h 1353802"/>
                <a:gd name="connsiteX6" fmla="*/ 552236 w 1196979"/>
                <a:gd name="connsiteY6" fmla="*/ 0 h 135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6979" h="1353802">
                  <a:moveTo>
                    <a:pt x="552236" y="0"/>
                  </a:moveTo>
                  <a:lnTo>
                    <a:pt x="1196979" y="1117075"/>
                  </a:lnTo>
                  <a:lnTo>
                    <a:pt x="1166839" y="1153604"/>
                  </a:lnTo>
                  <a:cubicBezTo>
                    <a:pt x="1043147" y="1277297"/>
                    <a:pt x="872267" y="1353802"/>
                    <a:pt x="683519" y="1353802"/>
                  </a:cubicBezTo>
                  <a:cubicBezTo>
                    <a:pt x="306022" y="1353802"/>
                    <a:pt x="0" y="1047781"/>
                    <a:pt x="0" y="670284"/>
                  </a:cubicBezTo>
                  <a:cubicBezTo>
                    <a:pt x="0" y="339974"/>
                    <a:pt x="234298" y="64387"/>
                    <a:pt x="545766" y="652"/>
                  </a:cubicBezTo>
                  <a:lnTo>
                    <a:pt x="552236" y="0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en-US" sz="3000" dirty="0">
                <a:solidFill>
                  <a:srgbClr val="FFFFFF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7E7BF3C-7BB4-9084-1AFD-87159AD1B326}"/>
                </a:ext>
              </a:extLst>
            </p:cNvPr>
            <p:cNvSpPr/>
            <p:nvPr/>
          </p:nvSpPr>
          <p:spPr>
            <a:xfrm>
              <a:off x="3996713" y="1928087"/>
              <a:ext cx="1196979" cy="1353803"/>
            </a:xfrm>
            <a:custGeom>
              <a:avLst/>
              <a:gdLst>
                <a:gd name="connsiteX0" fmla="*/ 683519 w 1196979"/>
                <a:gd name="connsiteY0" fmla="*/ 0 h 1353803"/>
                <a:gd name="connsiteX1" fmla="*/ 1166839 w 1196979"/>
                <a:gd name="connsiteY1" fmla="*/ 200198 h 1353803"/>
                <a:gd name="connsiteX2" fmla="*/ 1196979 w 1196979"/>
                <a:gd name="connsiteY2" fmla="*/ 236728 h 1353803"/>
                <a:gd name="connsiteX3" fmla="*/ 1110494 w 1196979"/>
                <a:gd name="connsiteY3" fmla="*/ 301401 h 1353803"/>
                <a:gd name="connsiteX4" fmla="*/ 552833 w 1196979"/>
                <a:gd name="connsiteY4" fmla="*/ 1341976 h 1353803"/>
                <a:gd name="connsiteX5" fmla="*/ 552236 w 1196979"/>
                <a:gd name="connsiteY5" fmla="*/ 1353803 h 1353803"/>
                <a:gd name="connsiteX6" fmla="*/ 545766 w 1196979"/>
                <a:gd name="connsiteY6" fmla="*/ 1353151 h 1353803"/>
                <a:gd name="connsiteX7" fmla="*/ 0 w 1196979"/>
                <a:gd name="connsiteY7" fmla="*/ 683519 h 1353803"/>
                <a:gd name="connsiteX8" fmla="*/ 683519 w 1196979"/>
                <a:gd name="connsiteY8" fmla="*/ 0 h 1353803"/>
                <a:gd name="connsiteX0" fmla="*/ 683519 w 1196979"/>
                <a:gd name="connsiteY0" fmla="*/ 0 h 1353803"/>
                <a:gd name="connsiteX1" fmla="*/ 1166839 w 1196979"/>
                <a:gd name="connsiteY1" fmla="*/ 200198 h 1353803"/>
                <a:gd name="connsiteX2" fmla="*/ 1196979 w 1196979"/>
                <a:gd name="connsiteY2" fmla="*/ 236728 h 1353803"/>
                <a:gd name="connsiteX3" fmla="*/ 552833 w 1196979"/>
                <a:gd name="connsiteY3" fmla="*/ 1341976 h 1353803"/>
                <a:gd name="connsiteX4" fmla="*/ 552236 w 1196979"/>
                <a:gd name="connsiteY4" fmla="*/ 1353803 h 1353803"/>
                <a:gd name="connsiteX5" fmla="*/ 545766 w 1196979"/>
                <a:gd name="connsiteY5" fmla="*/ 1353151 h 1353803"/>
                <a:gd name="connsiteX6" fmla="*/ 0 w 1196979"/>
                <a:gd name="connsiteY6" fmla="*/ 683519 h 1353803"/>
                <a:gd name="connsiteX7" fmla="*/ 683519 w 1196979"/>
                <a:gd name="connsiteY7" fmla="*/ 0 h 1353803"/>
                <a:gd name="connsiteX0" fmla="*/ 683519 w 1196979"/>
                <a:gd name="connsiteY0" fmla="*/ 0 h 1353803"/>
                <a:gd name="connsiteX1" fmla="*/ 1166839 w 1196979"/>
                <a:gd name="connsiteY1" fmla="*/ 200198 h 1353803"/>
                <a:gd name="connsiteX2" fmla="*/ 1196979 w 1196979"/>
                <a:gd name="connsiteY2" fmla="*/ 236728 h 1353803"/>
                <a:gd name="connsiteX3" fmla="*/ 552236 w 1196979"/>
                <a:gd name="connsiteY3" fmla="*/ 1353803 h 1353803"/>
                <a:gd name="connsiteX4" fmla="*/ 545766 w 1196979"/>
                <a:gd name="connsiteY4" fmla="*/ 1353151 h 1353803"/>
                <a:gd name="connsiteX5" fmla="*/ 0 w 1196979"/>
                <a:gd name="connsiteY5" fmla="*/ 683519 h 1353803"/>
                <a:gd name="connsiteX6" fmla="*/ 683519 w 1196979"/>
                <a:gd name="connsiteY6" fmla="*/ 0 h 1353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6979" h="1353803">
                  <a:moveTo>
                    <a:pt x="683519" y="0"/>
                  </a:moveTo>
                  <a:cubicBezTo>
                    <a:pt x="872267" y="0"/>
                    <a:pt x="1043147" y="76505"/>
                    <a:pt x="1166839" y="200198"/>
                  </a:cubicBezTo>
                  <a:lnTo>
                    <a:pt x="1196979" y="236728"/>
                  </a:lnTo>
                  <a:lnTo>
                    <a:pt x="552236" y="1353803"/>
                  </a:lnTo>
                  <a:lnTo>
                    <a:pt x="545766" y="1353151"/>
                  </a:lnTo>
                  <a:cubicBezTo>
                    <a:pt x="234298" y="1289415"/>
                    <a:pt x="0" y="1013829"/>
                    <a:pt x="0" y="683519"/>
                  </a:cubicBezTo>
                  <a:cubicBezTo>
                    <a:pt x="0" y="306022"/>
                    <a:pt x="306022" y="0"/>
                    <a:pt x="683519" y="0"/>
                  </a:cubicBez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en-US" sz="3000" dirty="0">
                <a:solidFill>
                  <a:srgbClr val="FFFFFF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533081C-6F11-E361-79F4-BDA9F1C5F759}"/>
                </a:ext>
              </a:extLst>
            </p:cNvPr>
            <p:cNvSpPr/>
            <p:nvPr/>
          </p:nvSpPr>
          <p:spPr>
            <a:xfrm>
              <a:off x="5451669" y="1872609"/>
              <a:ext cx="1288663" cy="605123"/>
            </a:xfrm>
            <a:custGeom>
              <a:avLst/>
              <a:gdLst>
                <a:gd name="connsiteX0" fmla="*/ 644332 w 1288663"/>
                <a:gd name="connsiteY0" fmla="*/ 0 h 605123"/>
                <a:gd name="connsiteX1" fmla="*/ 1250150 w 1288663"/>
                <a:gd name="connsiteY1" fmla="*/ 122309 h 605123"/>
                <a:gd name="connsiteX2" fmla="*/ 1288663 w 1288663"/>
                <a:gd name="connsiteY2" fmla="*/ 140862 h 605123"/>
                <a:gd name="connsiteX3" fmla="*/ 1274136 w 1288663"/>
                <a:gd name="connsiteY3" fmla="*/ 187661 h 605123"/>
                <a:gd name="connsiteX4" fmla="*/ 644332 w 1288663"/>
                <a:gd name="connsiteY4" fmla="*/ 605123 h 605123"/>
                <a:gd name="connsiteX5" fmla="*/ 14528 w 1288663"/>
                <a:gd name="connsiteY5" fmla="*/ 187661 h 605123"/>
                <a:gd name="connsiteX6" fmla="*/ 0 w 1288663"/>
                <a:gd name="connsiteY6" fmla="*/ 140862 h 605123"/>
                <a:gd name="connsiteX7" fmla="*/ 38514 w 1288663"/>
                <a:gd name="connsiteY7" fmla="*/ 122309 h 605123"/>
                <a:gd name="connsiteX8" fmla="*/ 644332 w 1288663"/>
                <a:gd name="connsiteY8" fmla="*/ 0 h 6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8663" h="605123">
                  <a:moveTo>
                    <a:pt x="644332" y="0"/>
                  </a:moveTo>
                  <a:cubicBezTo>
                    <a:pt x="859225" y="0"/>
                    <a:pt x="1063946" y="43551"/>
                    <a:pt x="1250150" y="122309"/>
                  </a:cubicBezTo>
                  <a:lnTo>
                    <a:pt x="1288663" y="140862"/>
                  </a:lnTo>
                  <a:lnTo>
                    <a:pt x="1274136" y="187661"/>
                  </a:lnTo>
                  <a:cubicBezTo>
                    <a:pt x="1170372" y="432986"/>
                    <a:pt x="927455" y="605123"/>
                    <a:pt x="644332" y="605123"/>
                  </a:cubicBezTo>
                  <a:cubicBezTo>
                    <a:pt x="361209" y="605123"/>
                    <a:pt x="118291" y="432986"/>
                    <a:pt x="14528" y="187661"/>
                  </a:cubicBezTo>
                  <a:lnTo>
                    <a:pt x="0" y="140862"/>
                  </a:lnTo>
                  <a:lnTo>
                    <a:pt x="38514" y="122309"/>
                  </a:lnTo>
                  <a:cubicBezTo>
                    <a:pt x="224718" y="43551"/>
                    <a:pt x="429439" y="0"/>
                    <a:pt x="644332" y="0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E19D40C-F30F-901C-30AA-1EDCB8566754}"/>
                </a:ext>
              </a:extLst>
            </p:cNvPr>
            <p:cNvSpPr/>
            <p:nvPr/>
          </p:nvSpPr>
          <p:spPr>
            <a:xfrm>
              <a:off x="6828250" y="2163340"/>
              <a:ext cx="816704" cy="1131784"/>
            </a:xfrm>
            <a:custGeom>
              <a:avLst/>
              <a:gdLst>
                <a:gd name="connsiteX0" fmla="*/ 171275 w 816704"/>
                <a:gd name="connsiteY0" fmla="*/ 0 h 1131784"/>
                <a:gd name="connsiteX1" fmla="*/ 257760 w 816704"/>
                <a:gd name="connsiteY1" fmla="*/ 64672 h 1131784"/>
                <a:gd name="connsiteX2" fmla="*/ 816107 w 816704"/>
                <a:gd name="connsiteY2" fmla="*/ 1106528 h 1131784"/>
                <a:gd name="connsiteX3" fmla="*/ 816704 w 816704"/>
                <a:gd name="connsiteY3" fmla="*/ 1118358 h 1131784"/>
                <a:gd name="connsiteX4" fmla="*/ 683519 w 816704"/>
                <a:gd name="connsiteY4" fmla="*/ 1131784 h 1131784"/>
                <a:gd name="connsiteX5" fmla="*/ 0 w 816704"/>
                <a:gd name="connsiteY5" fmla="*/ 448266 h 1131784"/>
                <a:gd name="connsiteX6" fmla="*/ 116734 w 816704"/>
                <a:gd name="connsiteY6" fmla="*/ 66104 h 113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704" h="1131784">
                  <a:moveTo>
                    <a:pt x="171275" y="0"/>
                  </a:moveTo>
                  <a:lnTo>
                    <a:pt x="257760" y="64672"/>
                  </a:lnTo>
                  <a:cubicBezTo>
                    <a:pt x="565230" y="318419"/>
                    <a:pt x="773599" y="687957"/>
                    <a:pt x="816107" y="1106528"/>
                  </a:cubicBezTo>
                  <a:lnTo>
                    <a:pt x="816704" y="1118358"/>
                  </a:lnTo>
                  <a:lnTo>
                    <a:pt x="683519" y="1131784"/>
                  </a:lnTo>
                  <a:cubicBezTo>
                    <a:pt x="306022" y="1131784"/>
                    <a:pt x="0" y="825763"/>
                    <a:pt x="0" y="448266"/>
                  </a:cubicBezTo>
                  <a:cubicBezTo>
                    <a:pt x="0" y="306704"/>
                    <a:pt x="43035" y="175194"/>
                    <a:pt x="116734" y="66104"/>
                  </a:cubicBezTo>
                  <a:close/>
                </a:path>
              </a:pathLst>
            </a:custGeom>
            <a:solidFill>
              <a:srgbClr val="FBA91E"/>
            </a:solidFill>
            <a:ln w="12700">
              <a:miter lim="400000"/>
            </a:ln>
          </p:spPr>
          <p:txBody>
            <a:bodyPr wrap="square" lIns="182880" tIns="38100" rIns="38100" bIns="38100" anchor="ctr">
              <a:noAutofit/>
            </a:bodyPr>
            <a:lstStyle/>
            <a:p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68220DF-7331-5050-F472-506EF14C24A5}"/>
                </a:ext>
              </a:extLst>
            </p:cNvPr>
            <p:cNvSpPr/>
            <p:nvPr/>
          </p:nvSpPr>
          <p:spPr>
            <a:xfrm>
              <a:off x="6828250" y="3562876"/>
              <a:ext cx="816704" cy="1131784"/>
            </a:xfrm>
            <a:custGeom>
              <a:avLst/>
              <a:gdLst>
                <a:gd name="connsiteX0" fmla="*/ 683519 w 816704"/>
                <a:gd name="connsiteY0" fmla="*/ 0 h 1131784"/>
                <a:gd name="connsiteX1" fmla="*/ 816704 w 816704"/>
                <a:gd name="connsiteY1" fmla="*/ 13426 h 1131784"/>
                <a:gd name="connsiteX2" fmla="*/ 816107 w 816704"/>
                <a:gd name="connsiteY2" fmla="*/ 25256 h 1131784"/>
                <a:gd name="connsiteX3" fmla="*/ 257760 w 816704"/>
                <a:gd name="connsiteY3" fmla="*/ 1067112 h 1131784"/>
                <a:gd name="connsiteX4" fmla="*/ 171275 w 816704"/>
                <a:gd name="connsiteY4" fmla="*/ 1131784 h 1131784"/>
                <a:gd name="connsiteX5" fmla="*/ 116734 w 816704"/>
                <a:gd name="connsiteY5" fmla="*/ 1065681 h 1131784"/>
                <a:gd name="connsiteX6" fmla="*/ 0 w 816704"/>
                <a:gd name="connsiteY6" fmla="*/ 683519 h 1131784"/>
                <a:gd name="connsiteX7" fmla="*/ 683519 w 816704"/>
                <a:gd name="connsiteY7" fmla="*/ 0 h 113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6704" h="1131784">
                  <a:moveTo>
                    <a:pt x="683519" y="0"/>
                  </a:moveTo>
                  <a:lnTo>
                    <a:pt x="816704" y="13426"/>
                  </a:lnTo>
                  <a:lnTo>
                    <a:pt x="816107" y="25256"/>
                  </a:lnTo>
                  <a:cubicBezTo>
                    <a:pt x="773599" y="443827"/>
                    <a:pt x="565230" y="813365"/>
                    <a:pt x="257760" y="1067112"/>
                  </a:cubicBezTo>
                  <a:lnTo>
                    <a:pt x="171275" y="1131784"/>
                  </a:lnTo>
                  <a:lnTo>
                    <a:pt x="116734" y="1065681"/>
                  </a:lnTo>
                  <a:cubicBezTo>
                    <a:pt x="43035" y="956590"/>
                    <a:pt x="0" y="825080"/>
                    <a:pt x="0" y="683519"/>
                  </a:cubicBezTo>
                  <a:cubicBezTo>
                    <a:pt x="0" y="306022"/>
                    <a:pt x="306022" y="0"/>
                    <a:pt x="683519" y="0"/>
                  </a:cubicBezTo>
                  <a:close/>
                </a:path>
              </a:pathLst>
            </a:custGeom>
            <a:solidFill>
              <a:srgbClr val="FEDA2F"/>
            </a:solidFill>
            <a:ln w="12700">
              <a:miter lim="400000"/>
            </a:ln>
          </p:spPr>
          <p:txBody>
            <a:bodyPr wrap="square" lIns="182880" tIns="38100" rIns="38100" bIns="38100" anchor="ctr">
              <a:noAutofit/>
            </a:bodyPr>
            <a:lstStyle/>
            <a:p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B0C4D73-5A7D-C868-0BA3-AA44B623CE60}"/>
                </a:ext>
              </a:extLst>
            </p:cNvPr>
            <p:cNvSpPr/>
            <p:nvPr/>
          </p:nvSpPr>
          <p:spPr>
            <a:xfrm>
              <a:off x="4547046" y="3562876"/>
              <a:ext cx="816704" cy="1131784"/>
            </a:xfrm>
            <a:custGeom>
              <a:avLst/>
              <a:gdLst>
                <a:gd name="connsiteX0" fmla="*/ 133186 w 816704"/>
                <a:gd name="connsiteY0" fmla="*/ 0 h 1131784"/>
                <a:gd name="connsiteX1" fmla="*/ 816704 w 816704"/>
                <a:gd name="connsiteY1" fmla="*/ 683519 h 1131784"/>
                <a:gd name="connsiteX2" fmla="*/ 699970 w 816704"/>
                <a:gd name="connsiteY2" fmla="*/ 1065681 h 1131784"/>
                <a:gd name="connsiteX3" fmla="*/ 645429 w 816704"/>
                <a:gd name="connsiteY3" fmla="*/ 1131784 h 1131784"/>
                <a:gd name="connsiteX4" fmla="*/ 558944 w 816704"/>
                <a:gd name="connsiteY4" fmla="*/ 1067112 h 1131784"/>
                <a:gd name="connsiteX5" fmla="*/ 598 w 816704"/>
                <a:gd name="connsiteY5" fmla="*/ 25256 h 1131784"/>
                <a:gd name="connsiteX6" fmla="*/ 0 w 816704"/>
                <a:gd name="connsiteY6" fmla="*/ 13426 h 113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704" h="1131784">
                  <a:moveTo>
                    <a:pt x="133186" y="0"/>
                  </a:moveTo>
                  <a:cubicBezTo>
                    <a:pt x="510683" y="0"/>
                    <a:pt x="816704" y="306022"/>
                    <a:pt x="816704" y="683519"/>
                  </a:cubicBezTo>
                  <a:cubicBezTo>
                    <a:pt x="816704" y="825080"/>
                    <a:pt x="773670" y="956590"/>
                    <a:pt x="699970" y="1065681"/>
                  </a:cubicBezTo>
                  <a:lnTo>
                    <a:pt x="645429" y="1131784"/>
                  </a:lnTo>
                  <a:lnTo>
                    <a:pt x="558944" y="1067112"/>
                  </a:lnTo>
                  <a:cubicBezTo>
                    <a:pt x="251474" y="813365"/>
                    <a:pt x="43106" y="443827"/>
                    <a:pt x="598" y="25256"/>
                  </a:cubicBezTo>
                  <a:lnTo>
                    <a:pt x="0" y="13426"/>
                  </a:lnTo>
                  <a:close/>
                </a:path>
              </a:pathLst>
            </a:custGeom>
            <a:solidFill>
              <a:srgbClr val="F15F47"/>
            </a:solidFill>
            <a:ln w="12700">
              <a:miter lim="400000"/>
            </a:ln>
          </p:spPr>
          <p:txBody>
            <a:bodyPr wrap="square" lIns="38100" tIns="38100" rIns="182880" bIns="38100" anchor="ctr">
              <a:noAutofit/>
            </a:bodyPr>
            <a:lstStyle/>
            <a:p>
              <a:pPr algn="r"/>
              <a:r>
                <a:rPr lang="en-US" sz="2400" b="1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1385849-FE12-E85F-D4D2-C8B1CE1DD3C4}"/>
                </a:ext>
              </a:extLst>
            </p:cNvPr>
            <p:cNvSpPr/>
            <p:nvPr/>
          </p:nvSpPr>
          <p:spPr>
            <a:xfrm>
              <a:off x="4547046" y="2163340"/>
              <a:ext cx="816704" cy="1131784"/>
            </a:xfrm>
            <a:custGeom>
              <a:avLst/>
              <a:gdLst>
                <a:gd name="connsiteX0" fmla="*/ 645429 w 816704"/>
                <a:gd name="connsiteY0" fmla="*/ 0 h 1131784"/>
                <a:gd name="connsiteX1" fmla="*/ 699970 w 816704"/>
                <a:gd name="connsiteY1" fmla="*/ 66104 h 1131784"/>
                <a:gd name="connsiteX2" fmla="*/ 816704 w 816704"/>
                <a:gd name="connsiteY2" fmla="*/ 448266 h 1131784"/>
                <a:gd name="connsiteX3" fmla="*/ 133186 w 816704"/>
                <a:gd name="connsiteY3" fmla="*/ 1131784 h 1131784"/>
                <a:gd name="connsiteX4" fmla="*/ 0 w 816704"/>
                <a:gd name="connsiteY4" fmla="*/ 1118358 h 1131784"/>
                <a:gd name="connsiteX5" fmla="*/ 598 w 816704"/>
                <a:gd name="connsiteY5" fmla="*/ 1106528 h 1131784"/>
                <a:gd name="connsiteX6" fmla="*/ 558944 w 816704"/>
                <a:gd name="connsiteY6" fmla="*/ 64672 h 113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704" h="1131784">
                  <a:moveTo>
                    <a:pt x="645429" y="0"/>
                  </a:moveTo>
                  <a:lnTo>
                    <a:pt x="699970" y="66104"/>
                  </a:lnTo>
                  <a:cubicBezTo>
                    <a:pt x="773670" y="175194"/>
                    <a:pt x="816704" y="306704"/>
                    <a:pt x="816704" y="448266"/>
                  </a:cubicBezTo>
                  <a:cubicBezTo>
                    <a:pt x="816704" y="825763"/>
                    <a:pt x="510683" y="1131784"/>
                    <a:pt x="133186" y="1131784"/>
                  </a:cubicBezTo>
                  <a:lnTo>
                    <a:pt x="0" y="1118358"/>
                  </a:lnTo>
                  <a:lnTo>
                    <a:pt x="598" y="1106528"/>
                  </a:lnTo>
                  <a:cubicBezTo>
                    <a:pt x="43106" y="687957"/>
                    <a:pt x="251474" y="318419"/>
                    <a:pt x="558944" y="64672"/>
                  </a:cubicBezTo>
                  <a:close/>
                </a:path>
              </a:pathLst>
            </a:custGeom>
            <a:solidFill>
              <a:srgbClr val="3AC6E1"/>
            </a:solidFill>
            <a:ln w="12700">
              <a:miter lim="400000"/>
            </a:ln>
          </p:spPr>
          <p:txBody>
            <a:bodyPr wrap="square" lIns="38100" tIns="38100" rIns="182880" bIns="38100" anchor="ctr">
              <a:noAutofit/>
            </a:bodyPr>
            <a:lstStyle/>
            <a:p>
              <a:pPr algn="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6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BA3C0B-E458-6FA3-D6E7-3072E64745A6}"/>
                </a:ext>
              </a:extLst>
            </p:cNvPr>
            <p:cNvSpPr/>
            <p:nvPr/>
          </p:nvSpPr>
          <p:spPr>
            <a:xfrm>
              <a:off x="5451669" y="4380270"/>
              <a:ext cx="1288662" cy="605122"/>
            </a:xfrm>
            <a:custGeom>
              <a:avLst/>
              <a:gdLst>
                <a:gd name="connsiteX0" fmla="*/ 644331 w 1288662"/>
                <a:gd name="connsiteY0" fmla="*/ 0 h 605122"/>
                <a:gd name="connsiteX1" fmla="*/ 1274135 w 1288662"/>
                <a:gd name="connsiteY1" fmla="*/ 417462 h 605122"/>
                <a:gd name="connsiteX2" fmla="*/ 1288662 w 1288662"/>
                <a:gd name="connsiteY2" fmla="*/ 464261 h 605122"/>
                <a:gd name="connsiteX3" fmla="*/ 1250149 w 1288662"/>
                <a:gd name="connsiteY3" fmla="*/ 482813 h 605122"/>
                <a:gd name="connsiteX4" fmla="*/ 644331 w 1288662"/>
                <a:gd name="connsiteY4" fmla="*/ 605122 h 605122"/>
                <a:gd name="connsiteX5" fmla="*/ 38513 w 1288662"/>
                <a:gd name="connsiteY5" fmla="*/ 482813 h 605122"/>
                <a:gd name="connsiteX6" fmla="*/ 0 w 1288662"/>
                <a:gd name="connsiteY6" fmla="*/ 464260 h 605122"/>
                <a:gd name="connsiteX7" fmla="*/ 14527 w 1288662"/>
                <a:gd name="connsiteY7" fmla="*/ 417462 h 605122"/>
                <a:gd name="connsiteX8" fmla="*/ 644331 w 1288662"/>
                <a:gd name="connsiteY8" fmla="*/ 0 h 6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8662" h="605122">
                  <a:moveTo>
                    <a:pt x="644331" y="0"/>
                  </a:moveTo>
                  <a:cubicBezTo>
                    <a:pt x="927454" y="0"/>
                    <a:pt x="1170371" y="172137"/>
                    <a:pt x="1274135" y="417462"/>
                  </a:cubicBezTo>
                  <a:lnTo>
                    <a:pt x="1288662" y="464261"/>
                  </a:lnTo>
                  <a:lnTo>
                    <a:pt x="1250149" y="482813"/>
                  </a:lnTo>
                  <a:cubicBezTo>
                    <a:pt x="1063945" y="561571"/>
                    <a:pt x="859224" y="605122"/>
                    <a:pt x="644331" y="605122"/>
                  </a:cubicBezTo>
                  <a:cubicBezTo>
                    <a:pt x="429438" y="605122"/>
                    <a:pt x="224717" y="561571"/>
                    <a:pt x="38513" y="482813"/>
                  </a:cubicBezTo>
                  <a:lnTo>
                    <a:pt x="0" y="464260"/>
                  </a:lnTo>
                  <a:lnTo>
                    <a:pt x="14527" y="417462"/>
                  </a:lnTo>
                  <a:cubicBezTo>
                    <a:pt x="118290" y="172137"/>
                    <a:pt x="361208" y="0"/>
                    <a:pt x="644331" y="0"/>
                  </a:cubicBezTo>
                  <a:close/>
                </a:path>
              </a:pathLst>
            </a:custGeom>
            <a:solidFill>
              <a:srgbClr val="244470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4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8340D6-A47D-D390-23F3-FE3DC5C75FC7}"/>
              </a:ext>
            </a:extLst>
          </p:cNvPr>
          <p:cNvGrpSpPr/>
          <p:nvPr/>
        </p:nvGrpSpPr>
        <p:grpSpPr>
          <a:xfrm>
            <a:off x="8793525" y="3232386"/>
            <a:ext cx="2926080" cy="1474819"/>
            <a:chOff x="8921977" y="2947244"/>
            <a:chExt cx="2926080" cy="147481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9B5A8D-C8A0-F81A-FA54-CEFE2A744FED}"/>
                </a:ext>
              </a:extLst>
            </p:cNvPr>
            <p:cNvSpPr txBox="1"/>
            <p:nvPr/>
          </p:nvSpPr>
          <p:spPr>
            <a:xfrm>
              <a:off x="8921977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rgbClr val="FBA91E"/>
                  </a:solidFill>
                </a:rPr>
                <a:t>2 Preprocessing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8A06CF2-4371-72B6-B134-D47FF55CC8C5}"/>
                </a:ext>
              </a:extLst>
            </p:cNvPr>
            <p:cNvSpPr txBox="1"/>
            <p:nvPr/>
          </p:nvSpPr>
          <p:spPr>
            <a:xfrm>
              <a:off x="8921977" y="3406400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b="1" noProof="1">
                  <a:solidFill>
                    <a:schemeClr val="bg1">
                      <a:lumMod val="75000"/>
                    </a:schemeClr>
                  </a:solidFill>
                </a:rPr>
                <a:t>Cleaning missing values, removing outliers, fixing inconsistencies.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b="1" noProof="1">
                  <a:solidFill>
                    <a:schemeClr val="bg1">
                      <a:lumMod val="75000"/>
                    </a:schemeClr>
                  </a:solidFill>
                </a:rPr>
                <a:t>Data transformation and normalization.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b="1" noProof="1">
                  <a:solidFill>
                    <a:schemeClr val="bg1">
                      <a:lumMod val="75000"/>
                    </a:schemeClr>
                  </a:solidFill>
                </a:rPr>
                <a:t>Example: Removing nulls, converting time formats, standardizing units.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5ABF73-ED6E-41B0-3617-B621191893A2}"/>
              </a:ext>
            </a:extLst>
          </p:cNvPr>
          <p:cNvGrpSpPr/>
          <p:nvPr/>
        </p:nvGrpSpPr>
        <p:grpSpPr>
          <a:xfrm>
            <a:off x="8793524" y="4806215"/>
            <a:ext cx="3058731" cy="1543997"/>
            <a:chOff x="8921976" y="3913674"/>
            <a:chExt cx="3058731" cy="206026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86E55E-67CA-8A23-4B73-32B5FA4D01DF}"/>
                </a:ext>
              </a:extLst>
            </p:cNvPr>
            <p:cNvSpPr txBox="1"/>
            <p:nvPr/>
          </p:nvSpPr>
          <p:spPr>
            <a:xfrm>
              <a:off x="8921976" y="3913674"/>
              <a:ext cx="3058731" cy="110885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2400" b="1" noProof="1">
                  <a:solidFill>
                    <a:srgbClr val="FEDA2F"/>
                  </a:solidFill>
                </a:rPr>
                <a:t>3 Exploratory Data Analysis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EA886B-C774-2E2F-B18F-887E2C6D0619}"/>
                </a:ext>
              </a:extLst>
            </p:cNvPr>
            <p:cNvSpPr txBox="1"/>
            <p:nvPr/>
          </p:nvSpPr>
          <p:spPr>
            <a:xfrm>
              <a:off x="8921977" y="5111495"/>
              <a:ext cx="2926080" cy="86244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Identifying patterns, trends, anomalies.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Visualizations and summary statistics.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Tools: pandas, matplotlib, seaborn.</a:t>
              </a:r>
              <a:endParaRPr lang="en-001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B88F2CB-C1F1-538A-EB5A-FD9770611979}"/>
              </a:ext>
            </a:extLst>
          </p:cNvPr>
          <p:cNvGrpSpPr/>
          <p:nvPr/>
        </p:nvGrpSpPr>
        <p:grpSpPr>
          <a:xfrm>
            <a:off x="542287" y="3232386"/>
            <a:ext cx="2926080" cy="1474819"/>
            <a:chOff x="332936" y="2947244"/>
            <a:chExt cx="2926080" cy="147481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6741CD9-6C71-94BA-B472-2862277D040A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F15F47"/>
                  </a:solidFill>
                </a:rPr>
                <a:t>5 Model Evaluation 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4474BF-9528-5821-DFF1-1E5CB10AA974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Validating performance using metrics like RMSE, accuracy, F1-score.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Avoiding underfitting and overfitting.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Example: Cross-validation, test-train split.</a:t>
              </a:r>
              <a:endParaRPr lang="en-001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4FD333-EF45-F2AD-4FAC-08A3273389D3}"/>
              </a:ext>
            </a:extLst>
          </p:cNvPr>
          <p:cNvGrpSpPr/>
          <p:nvPr/>
        </p:nvGrpSpPr>
        <p:grpSpPr>
          <a:xfrm>
            <a:off x="542287" y="4937480"/>
            <a:ext cx="2926080" cy="1474819"/>
            <a:chOff x="332936" y="4652338"/>
            <a:chExt cx="2926080" cy="147481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2AD047-F5C2-2581-599B-023019706829}"/>
                </a:ext>
              </a:extLst>
            </p:cNvPr>
            <p:cNvSpPr txBox="1"/>
            <p:nvPr/>
          </p:nvSpPr>
          <p:spPr>
            <a:xfrm>
              <a:off x="332936" y="4652338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244470"/>
                  </a:solidFill>
                </a:rPr>
                <a:t>4 Model Building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80F2E5-3550-093E-8C5F-0D8DB21DBBE0}"/>
                </a:ext>
              </a:extLst>
            </p:cNvPr>
            <p:cNvSpPr txBox="1"/>
            <p:nvPr/>
          </p:nvSpPr>
          <p:spPr>
            <a:xfrm>
              <a:off x="332936" y="5111494"/>
              <a:ext cx="2926080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>
                      <a:lumMod val="75000"/>
                    </a:schemeClr>
                  </a:solidFill>
                </a:rPr>
                <a:t>Applying statistical or machine learning models to extract insights or make predictions.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>
                      <a:lumMod val="75000"/>
                    </a:schemeClr>
                  </a:solidFill>
                </a:rPr>
                <a:t>Techniques: Regression, classification, clustering, forecasting.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22EF89-ADB9-7054-F524-D6FA5703BF28}"/>
              </a:ext>
            </a:extLst>
          </p:cNvPr>
          <p:cNvGrpSpPr/>
          <p:nvPr/>
        </p:nvGrpSpPr>
        <p:grpSpPr>
          <a:xfrm>
            <a:off x="8793525" y="1527292"/>
            <a:ext cx="2926080" cy="1659485"/>
            <a:chOff x="8921977" y="1242150"/>
            <a:chExt cx="2926080" cy="165948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9A6329D-653A-4ECE-73B6-FF34BD90DCB9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4"/>
                  </a:solidFill>
                </a:rPr>
                <a:t>1 Collection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E56058-EC9F-D3CC-6DBF-B7F46F2DA2F6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120032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b="1" noProof="1">
                  <a:solidFill>
                    <a:schemeClr val="bg1">
                      <a:lumMod val="75000"/>
                    </a:schemeClr>
                  </a:solidFill>
                </a:rPr>
                <a:t>Gathering data from various sources (databases, APIs, sensors, user logs).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b="1" noProof="1">
                  <a:solidFill>
                    <a:schemeClr val="bg1">
                      <a:lumMod val="75000"/>
                    </a:schemeClr>
                  </a:solidFill>
                </a:rPr>
                <a:t>Includes structured and unstructured formats.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200" b="1" noProof="1">
                  <a:solidFill>
                    <a:schemeClr val="bg1">
                      <a:lumMod val="75000"/>
                    </a:schemeClr>
                  </a:solidFill>
                </a:rPr>
                <a:t>Example: Sales logs, weather data, social media posts.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6550517-6CAC-9A5D-B647-CA76A2FB0A4D}"/>
              </a:ext>
            </a:extLst>
          </p:cNvPr>
          <p:cNvGrpSpPr/>
          <p:nvPr/>
        </p:nvGrpSpPr>
        <p:grpSpPr>
          <a:xfrm>
            <a:off x="542287" y="1157960"/>
            <a:ext cx="2926080" cy="2028817"/>
            <a:chOff x="332936" y="2258434"/>
            <a:chExt cx="2926080" cy="20288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EF8254-3DE3-8120-AEAB-14BAEAAA4090}"/>
                </a:ext>
              </a:extLst>
            </p:cNvPr>
            <p:cNvSpPr txBox="1"/>
            <p:nvPr/>
          </p:nvSpPr>
          <p:spPr>
            <a:xfrm>
              <a:off x="332936" y="2258434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rgbClr val="3AC6E1"/>
                  </a:solidFill>
                </a:rPr>
                <a:t>6 Interpretation &amp; Deployment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FD2E9C3-0CF6-5184-F6CD-B595ADC36756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120032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Drawing actionable conclusions from results.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Communicating findings with stakeholders.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b="1" dirty="0">
                  <a:solidFill>
                    <a:schemeClr val="bg1"/>
                  </a:solidFill>
                </a:rPr>
                <a:t>Optionally, deploying models in dashboards or applications.</a:t>
              </a:r>
              <a:endParaRPr lang="en-001" sz="1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9" name="Graphic 38" descr="Gears with solid fill">
            <a:extLst>
              <a:ext uri="{FF2B5EF4-FFF2-40B4-BE49-F238E27FC236}">
                <a16:creationId xmlns:a16="http://schemas.microsoft.com/office/drawing/2014/main" id="{B6D889BE-2B84-8BC4-1269-544FD22C3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1025" y="2586612"/>
            <a:ext cx="663694" cy="663694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855F85FA-571D-0279-0F3A-43FC7B7D4305}"/>
              </a:ext>
            </a:extLst>
          </p:cNvPr>
          <p:cNvSpPr txBox="1">
            <a:spLocks/>
          </p:cNvSpPr>
          <p:nvPr/>
        </p:nvSpPr>
        <p:spPr>
          <a:xfrm>
            <a:off x="536677" y="-250746"/>
            <a:ext cx="8798560" cy="1179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u="sng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Data analytics lifecycle</a:t>
            </a: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040A6CE4-FE83-52CC-E8FD-CADD46C1C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104" y="1711515"/>
            <a:ext cx="552855" cy="552855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DF1051C3-807C-56F9-1625-BC75DE1B96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6104" y="5477138"/>
            <a:ext cx="552855" cy="552855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D92CAF5B-B1FE-44C0-3D3C-89336DD136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28380" y="4529064"/>
            <a:ext cx="536339" cy="536339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84997359-AD57-FD9C-2FB2-70927B87EE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35877" y="4542050"/>
            <a:ext cx="481061" cy="481061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D9D87C1D-443D-32DE-C2C3-C53A4D63CB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10385" y="2701095"/>
            <a:ext cx="601229" cy="601229"/>
          </a:xfrm>
          <a:prstGeom prst="rect">
            <a:avLst/>
          </a:prstGeom>
        </p:spPr>
      </p:pic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86EB96D6-8BD1-3826-DAE0-9A6E57ADD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266" y="243560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196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4E153-DC51-A2FD-5C45-CB0D75F7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033CB5-78E0-19BF-CC92-4CC2BC2D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31" y="-193040"/>
            <a:ext cx="10360152" cy="1179576"/>
          </a:xfrm>
        </p:spPr>
        <p:txBody>
          <a:bodyPr/>
          <a:lstStyle/>
          <a:p>
            <a:r>
              <a:rPr lang="en-GB" b="1" u="none" dirty="0">
                <a:solidFill>
                  <a:srgbClr val="FF0000"/>
                </a:solidFill>
              </a:rPr>
              <a:t>1. </a:t>
            </a:r>
            <a:r>
              <a:rPr lang="en-GB" b="1" dirty="0">
                <a:solidFill>
                  <a:srgbClr val="FF0000"/>
                </a:solidFill>
              </a:rPr>
              <a:t>Collection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0BF174-9966-222E-6D01-7B36B5DB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221B38-6566-02FF-031C-0667BB0A6D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3894" y="1150282"/>
            <a:ext cx="11079786" cy="57077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gathering raw data from various sources to enable analysis and decision-making.</a:t>
            </a:r>
          </a:p>
          <a:p>
            <a:pPr marL="0" indent="0">
              <a:buNone/>
            </a:pPr>
            <a:endParaRPr lang="en-GB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001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🗄️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SQL/NoSQL systems (e.g., MySQL, MongoDB)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(Realtime)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Services like Twitter API, OpenWeatherMap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📡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Sensors/IoT (Realtime)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Smart devices, climate sensors, GPS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🧾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Web/app clickstreams, transaction logs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001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🛍️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Sales logs, CRM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☁️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Science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Hourly rainfall, temperature sensors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ECMWF ERA5 Reanalysis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hourly estimates of atmospheric, land, and oceanic climate variables.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</a:t>
            </a:r>
            <a:r>
              <a:rPr lang="en-GB" sz="19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Earthdata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Offers access to a vast collection of Earth science data.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00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Tweets, comments, likes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 (formerly Twitter) API for Academic Research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access to public conversation data for research purposes.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 Graph API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Allows retrieval of data from Facebook and Instagram platforms.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CBB2A05-FF6A-5F78-E8C3-9F17FD5C7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32D7E439-B487-C5B1-9974-CBE871FA8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9692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668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DFE5-303E-0CC9-568C-F0C0A3C1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7B7734-A595-4559-A901-22DB0790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31" y="-39475"/>
            <a:ext cx="10360152" cy="1179576"/>
          </a:xfrm>
        </p:spPr>
        <p:txBody>
          <a:bodyPr/>
          <a:lstStyle/>
          <a:p>
            <a:r>
              <a:rPr lang="en-GB" b="1" u="none" dirty="0">
                <a:solidFill>
                  <a:srgbClr val="FF0000"/>
                </a:solidFill>
              </a:rPr>
              <a:t>2. </a:t>
            </a:r>
            <a:r>
              <a:rPr lang="en-GB" b="1" dirty="0">
                <a:solidFill>
                  <a:srgbClr val="FF0000"/>
                </a:solidFill>
              </a:rPr>
              <a:t>Preprocessing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A2DA2C-4DD3-0223-8554-772740CF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24E5C4-3B98-D457-EA2F-4E661AFD64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138" y="1140101"/>
            <a:ext cx="11011662" cy="494385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transforming raw data into a clean and structured format suitable for analysis and </a:t>
            </a:r>
            <a:r>
              <a:rPr lang="en-GB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Key Steps in Data Preprocessing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Techniques like mean/median imputation or deletion.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Ensuring each record is unique.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Correcting Inconsistencies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Standardizing formats (e.g., date formats, string cases).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Data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Merging data from multiple sources (e.g., databases, APIs).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 Conflicts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Addressing discrepancies in data from different sources.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Normalization/Standardization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Scaling features to a similar range.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Categorical Variables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Converting categories into numerical values using techniques like one-hot encoding.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Cleaning/Reduction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Identifying and retaining the most relevant variables.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Techniques like PCA to reduce the number of features while preserving variance.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7F2D5DE6-4BB9-F289-583B-84C998894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0AE1EA87-160A-B530-5F08-74167DE91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564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AA3A-6DB1-03A3-715B-10693B16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C52EAE-8357-6ECA-8226-A5B965C6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612" y="416431"/>
            <a:ext cx="11070188" cy="1179576"/>
          </a:xfrm>
        </p:spPr>
        <p:txBody>
          <a:bodyPr>
            <a:normAutofit/>
          </a:bodyPr>
          <a:lstStyle/>
          <a:p>
            <a:r>
              <a:rPr lang="en-GB" sz="1800" b="1" u="none" dirty="0"/>
              <a:t>                 </a:t>
            </a:r>
            <a:r>
              <a:rPr lang="en-GB" sz="1800" b="1" dirty="0"/>
              <a:t>Preprocessing</a:t>
            </a:r>
            <a:br>
              <a:rPr lang="en-GB" b="1" dirty="0"/>
            </a:br>
            <a:r>
              <a:rPr lang="en-GB" b="1" u="none" dirty="0">
                <a:solidFill>
                  <a:srgbClr val="FF0000"/>
                </a:solidFill>
              </a:rPr>
              <a:t>2.1 </a:t>
            </a:r>
            <a:r>
              <a:rPr lang="en-GB" b="1" dirty="0">
                <a:solidFill>
                  <a:srgbClr val="FF0000"/>
                </a:solidFill>
              </a:rPr>
              <a:t>Data Cleaning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71C9D1-043C-5EE3-96E2-327C1459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3F8F4ACA-871F-DD98-0DD5-FEA31EAE2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8D08B9-57C3-D6A4-3870-3E4BB7B1D4A9}"/>
              </a:ext>
            </a:extLst>
          </p:cNvPr>
          <p:cNvGrpSpPr/>
          <p:nvPr/>
        </p:nvGrpSpPr>
        <p:grpSpPr>
          <a:xfrm>
            <a:off x="637543" y="1933703"/>
            <a:ext cx="3390580" cy="4262983"/>
            <a:chOff x="823195" y="2711512"/>
            <a:chExt cx="3332374" cy="38215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66D86E-B61F-4B9D-321C-C0EAF38EC98F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13" name="Rectangle: Rounded Corners 3">
                <a:extLst>
                  <a:ext uri="{FF2B5EF4-FFF2-40B4-BE49-F238E27FC236}">
                    <a16:creationId xmlns:a16="http://schemas.microsoft.com/office/drawing/2014/main" id="{8A2D3626-D145-1010-601A-137F76C4ABC3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4" name="Rectangle: Rounded Corners 3">
                <a:extLst>
                  <a:ext uri="{FF2B5EF4-FFF2-40B4-BE49-F238E27FC236}">
                    <a16:creationId xmlns:a16="http://schemas.microsoft.com/office/drawing/2014/main" id="{76D57961-BC29-2886-0E78-0D707933935E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4833E4-67F3-A908-8F36-2A628EE61F78}"/>
                </a:ext>
              </a:extLst>
            </p:cNvPr>
            <p:cNvSpPr txBox="1"/>
            <p:nvPr/>
          </p:nvSpPr>
          <p:spPr>
            <a:xfrm>
              <a:off x="1062751" y="2946324"/>
              <a:ext cx="2846765" cy="3310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Handling Missing Values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FE53BC-5C19-AEB3-6C34-D80FADE3E567}"/>
                </a:ext>
              </a:extLst>
            </p:cNvPr>
            <p:cNvSpPr txBox="1"/>
            <p:nvPr/>
          </p:nvSpPr>
          <p:spPr>
            <a:xfrm>
              <a:off x="892053" y="3403694"/>
              <a:ext cx="3219908" cy="2979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Deletion</a:t>
              </a:r>
              <a:r>
                <a:rPr lang="en-GB" sz="1400" dirty="0">
                  <a:solidFill>
                    <a:schemeClr val="bg1"/>
                  </a:solidFill>
                </a:rPr>
                <a:t>: Remove records with missing values when they are minimal and random.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Imputation</a:t>
              </a:r>
              <a:r>
                <a:rPr lang="en-GB" sz="1400" dirty="0">
                  <a:solidFill>
                    <a:schemeClr val="bg1"/>
                  </a:solidFill>
                </a:rPr>
                <a:t>: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b="1" dirty="0">
                  <a:solidFill>
                    <a:schemeClr val="bg1"/>
                  </a:solidFill>
                </a:rPr>
                <a:t>Mean/Median Imputation</a:t>
              </a:r>
              <a:r>
                <a:rPr lang="en-GB" sz="1400" dirty="0">
                  <a:solidFill>
                    <a:schemeClr val="bg1"/>
                  </a:solidFill>
                </a:rPr>
                <a:t>: Replace missing numerical values with the mean or median of the column.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b="1" dirty="0">
                  <a:solidFill>
                    <a:schemeClr val="bg1"/>
                  </a:solidFill>
                </a:rPr>
                <a:t>Mode Imputation</a:t>
              </a:r>
              <a:r>
                <a:rPr lang="en-GB" sz="1400" dirty="0">
                  <a:solidFill>
                    <a:schemeClr val="bg1"/>
                  </a:solidFill>
                </a:rPr>
                <a:t>: For categorical variables, replace missing values with the mode.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b="1" dirty="0">
                  <a:solidFill>
                    <a:schemeClr val="bg1"/>
                  </a:solidFill>
                </a:rPr>
                <a:t>Advanced Methods</a:t>
              </a:r>
              <a:r>
                <a:rPr lang="en-GB" sz="1400" dirty="0">
                  <a:solidFill>
                    <a:schemeClr val="bg1"/>
                  </a:solidFill>
                </a:rPr>
                <a:t>: Utilize techniques like K-Nearest </a:t>
              </a:r>
              <a:r>
                <a:rPr lang="en-GB" sz="1400" dirty="0" err="1">
                  <a:solidFill>
                    <a:schemeClr val="bg1"/>
                  </a:solidFill>
                </a:rPr>
                <a:t>Neighbors</a:t>
              </a:r>
              <a:r>
                <a:rPr lang="en-GB" sz="1400" dirty="0">
                  <a:solidFill>
                    <a:schemeClr val="bg1"/>
                  </a:solidFill>
                </a:rPr>
                <a:t> (KNN) or Multiple Imputation by Chained Equations (MICE) for more accurate estimations.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2BDB7F-1193-A5A2-94B9-91083F07E175}"/>
              </a:ext>
            </a:extLst>
          </p:cNvPr>
          <p:cNvGrpSpPr/>
          <p:nvPr/>
        </p:nvGrpSpPr>
        <p:grpSpPr>
          <a:xfrm>
            <a:off x="4464775" y="1907697"/>
            <a:ext cx="3390580" cy="4262983"/>
            <a:chOff x="823195" y="2711512"/>
            <a:chExt cx="3332374" cy="382159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63232E7-EE9E-6E48-CDA9-AC500108B985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23" name="Rectangle: Rounded Corners 3">
                <a:extLst>
                  <a:ext uri="{FF2B5EF4-FFF2-40B4-BE49-F238E27FC236}">
                    <a16:creationId xmlns:a16="http://schemas.microsoft.com/office/drawing/2014/main" id="{E30F4706-276F-2D7C-7C0B-9F149D38D8A3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FF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24" name="Rectangle: Rounded Corners 3">
                <a:extLst>
                  <a:ext uri="{FF2B5EF4-FFF2-40B4-BE49-F238E27FC236}">
                    <a16:creationId xmlns:a16="http://schemas.microsoft.com/office/drawing/2014/main" id="{CEC3DB3C-AD5A-3711-A4C6-E18AAEEF59F2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863996-C393-4D62-B77C-BA1758F4750D}"/>
                </a:ext>
              </a:extLst>
            </p:cNvPr>
            <p:cNvSpPr txBox="1"/>
            <p:nvPr/>
          </p:nvSpPr>
          <p:spPr>
            <a:xfrm>
              <a:off x="1100428" y="2969637"/>
              <a:ext cx="2846765" cy="3310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Removing Duplicates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860B29-BE2F-83F0-F9BC-417E785A9ADF}"/>
                </a:ext>
              </a:extLst>
            </p:cNvPr>
            <p:cNvSpPr txBox="1"/>
            <p:nvPr/>
          </p:nvSpPr>
          <p:spPr>
            <a:xfrm>
              <a:off x="941029" y="3989857"/>
              <a:ext cx="3049211" cy="12415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Identification: </a:t>
              </a:r>
              <a:r>
                <a:rPr lang="en-GB" sz="1400" dirty="0">
                  <a:solidFill>
                    <a:schemeClr val="bg1"/>
                  </a:solidFill>
                </a:rPr>
                <a:t>Detect duplicate records using unique identifiers or a combination of fields.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Removal: </a:t>
              </a:r>
              <a:r>
                <a:rPr lang="en-GB" sz="1400" dirty="0">
                  <a:solidFill>
                    <a:schemeClr val="bg1"/>
                  </a:solidFill>
                </a:rPr>
                <a:t>Eliminate exact or near-duplicate entries to prevent skewed analyses.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78E9BB-E65E-5F01-89C2-0C644D52F462}"/>
              </a:ext>
            </a:extLst>
          </p:cNvPr>
          <p:cNvGrpSpPr/>
          <p:nvPr/>
        </p:nvGrpSpPr>
        <p:grpSpPr>
          <a:xfrm>
            <a:off x="8252873" y="1855914"/>
            <a:ext cx="3390580" cy="4262983"/>
            <a:chOff x="823195" y="2711512"/>
            <a:chExt cx="3332374" cy="38215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AA828D4-44D2-248B-96B8-C04964824E0B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30" name="Rectangle: Rounded Corners 3">
                <a:extLst>
                  <a:ext uri="{FF2B5EF4-FFF2-40B4-BE49-F238E27FC236}">
                    <a16:creationId xmlns:a16="http://schemas.microsoft.com/office/drawing/2014/main" id="{59A35159-F6F4-5886-35D3-8BC7D00BB809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31" name="Rectangle: Rounded Corners 3">
                <a:extLst>
                  <a:ext uri="{FF2B5EF4-FFF2-40B4-BE49-F238E27FC236}">
                    <a16:creationId xmlns:a16="http://schemas.microsoft.com/office/drawing/2014/main" id="{E27A39DE-0492-F647-0631-DD894737786A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2C4D4BC-AA68-02CB-587C-018882AB95CA}"/>
                </a:ext>
              </a:extLst>
            </p:cNvPr>
            <p:cNvSpPr txBox="1"/>
            <p:nvPr/>
          </p:nvSpPr>
          <p:spPr>
            <a:xfrm>
              <a:off x="1100428" y="2969637"/>
              <a:ext cx="2846765" cy="3310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Correcting Inconsistencies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22E217-0E6D-F3DB-2056-D8E43E372814}"/>
                </a:ext>
              </a:extLst>
            </p:cNvPr>
            <p:cNvSpPr txBox="1"/>
            <p:nvPr/>
          </p:nvSpPr>
          <p:spPr>
            <a:xfrm>
              <a:off x="1040421" y="3558854"/>
              <a:ext cx="2966777" cy="24004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Standardizing Formats: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Dates: Ensure uniform date formats (e.g., converting all to YYYY-MM-DD).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Text Cases: Standardize text to a consistent case (e.g., all lowercase).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Resolving Typos and Errors: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Correct misspellings and typographical errors.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Ensure consistent naming conventions across the dataset.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47B2988D-B2D6-8FD6-3D59-601574D49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990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7B458-04AC-598F-5150-8E73B78BE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A0B0F6-086E-B6FA-8205-76B85573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47" y="401516"/>
            <a:ext cx="10941091" cy="1179576"/>
          </a:xfrm>
        </p:spPr>
        <p:txBody>
          <a:bodyPr>
            <a:normAutofit/>
          </a:bodyPr>
          <a:lstStyle/>
          <a:p>
            <a:r>
              <a:rPr lang="en-GB" sz="1800" b="1" u="none" dirty="0"/>
              <a:t>               </a:t>
            </a:r>
            <a:r>
              <a:rPr lang="en-GB" sz="1800" b="1" dirty="0"/>
              <a:t>Preprocessing</a:t>
            </a:r>
            <a:br>
              <a:rPr lang="en-GB" b="1" dirty="0"/>
            </a:br>
            <a:r>
              <a:rPr lang="en-GB" b="1" u="none" dirty="0">
                <a:solidFill>
                  <a:srgbClr val="FF0000"/>
                </a:solidFill>
              </a:rPr>
              <a:t>2.2 </a:t>
            </a:r>
            <a:r>
              <a:rPr lang="en-GB" b="1" dirty="0">
                <a:solidFill>
                  <a:srgbClr val="FF0000"/>
                </a:solidFill>
              </a:rPr>
              <a:t>Data Integration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F97C7D-10E2-CFA8-E45D-696D0CA6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23FA4CE-8E1A-D414-6009-F16B1CBFD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B65C51-C784-1C0B-EF1C-6B347A36016E}"/>
              </a:ext>
            </a:extLst>
          </p:cNvPr>
          <p:cNvGrpSpPr/>
          <p:nvPr/>
        </p:nvGrpSpPr>
        <p:grpSpPr>
          <a:xfrm>
            <a:off x="4462167" y="2033501"/>
            <a:ext cx="3390580" cy="4262983"/>
            <a:chOff x="823195" y="2711512"/>
            <a:chExt cx="3332374" cy="382159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9B45316-8992-6B7D-6576-A9ED407AECEF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8" name="Rectangle: Rounded Corners 3">
                <a:extLst>
                  <a:ext uri="{FF2B5EF4-FFF2-40B4-BE49-F238E27FC236}">
                    <a16:creationId xmlns:a16="http://schemas.microsoft.com/office/drawing/2014/main" id="{84C765EA-B731-C177-219A-E147E4C2D327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BF7FB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7C0CC6B2-EAC7-A740-A7E7-3782406575BE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E56BA2-8499-61C8-839B-855B98354E99}"/>
                </a:ext>
              </a:extLst>
            </p:cNvPr>
            <p:cNvSpPr txBox="1"/>
            <p:nvPr/>
          </p:nvSpPr>
          <p:spPr>
            <a:xfrm>
              <a:off x="1078624" y="2824283"/>
              <a:ext cx="2846765" cy="5794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⚠️ Resolving Conflicts in Data Integration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ACDA11-F6A3-77AC-7C69-0F2DD4419C41}"/>
                </a:ext>
              </a:extLst>
            </p:cNvPr>
            <p:cNvSpPr txBox="1"/>
            <p:nvPr/>
          </p:nvSpPr>
          <p:spPr>
            <a:xfrm>
              <a:off x="892053" y="3403694"/>
              <a:ext cx="3219908" cy="27866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Schema Mapping</a:t>
              </a:r>
              <a:r>
                <a:rPr lang="en-GB" sz="1400" dirty="0">
                  <a:solidFill>
                    <a:schemeClr val="bg1"/>
                  </a:solidFill>
                </a:rPr>
                <a:t>: Aligning different data models and structures to a common schema.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Data Transformation</a:t>
              </a:r>
              <a:r>
                <a:rPr lang="en-GB" sz="1400" dirty="0">
                  <a:solidFill>
                    <a:schemeClr val="bg1"/>
                  </a:solidFill>
                </a:rPr>
                <a:t>: Standardizing data formats, units, and nomenclature.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Duplicate Detection</a:t>
              </a:r>
              <a:r>
                <a:rPr lang="en-GB" sz="1400" dirty="0">
                  <a:solidFill>
                    <a:schemeClr val="bg1"/>
                  </a:solidFill>
                </a:rPr>
                <a:t>: Identifying and removing redundant records.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Data Fusion</a:t>
              </a:r>
              <a:r>
                <a:rPr lang="en-GB" sz="1400" dirty="0">
                  <a:solidFill>
                    <a:schemeClr val="bg1"/>
                  </a:solidFill>
                </a:rPr>
                <a:t>: Combining records referring to the same entity into a single, coherent representation.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Conflict Resolution</a:t>
              </a:r>
              <a:r>
                <a:rPr lang="en-GB" sz="1400" dirty="0">
                  <a:solidFill>
                    <a:schemeClr val="bg1"/>
                  </a:solidFill>
                </a:rPr>
                <a:t>: Addressing discrepancies and inconsistencies between data sources.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29A267-6BA6-8DF5-44B3-B94F065B07EB}"/>
              </a:ext>
            </a:extLst>
          </p:cNvPr>
          <p:cNvGrpSpPr/>
          <p:nvPr/>
        </p:nvGrpSpPr>
        <p:grpSpPr>
          <a:xfrm>
            <a:off x="622547" y="2033501"/>
            <a:ext cx="3390580" cy="4262983"/>
            <a:chOff x="823195" y="2711512"/>
            <a:chExt cx="3332374" cy="382159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7780B1D-4ABE-96CA-18B0-741C447FBE03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16" name="Rectangle: Rounded Corners 3">
                <a:extLst>
                  <a:ext uri="{FF2B5EF4-FFF2-40B4-BE49-F238E27FC236}">
                    <a16:creationId xmlns:a16="http://schemas.microsoft.com/office/drawing/2014/main" id="{C4E49239-FA58-5096-4653-392A8B7F671D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2E6F4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7" name="Rectangle: Rounded Corners 3">
                <a:extLst>
                  <a:ext uri="{FF2B5EF4-FFF2-40B4-BE49-F238E27FC236}">
                    <a16:creationId xmlns:a16="http://schemas.microsoft.com/office/drawing/2014/main" id="{242E4F71-008D-3F68-7A20-852FE47A298A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C0D774-C175-5161-D211-893F0CCFD0E4}"/>
                </a:ext>
              </a:extLst>
            </p:cNvPr>
            <p:cNvSpPr txBox="1"/>
            <p:nvPr/>
          </p:nvSpPr>
          <p:spPr>
            <a:xfrm>
              <a:off x="1078624" y="2824283"/>
              <a:ext cx="2846765" cy="5794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🔄 Combining Data from Multiple Sources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3F7BFA-A9FB-0D6C-E3BF-A6F5A787CB9D}"/>
                </a:ext>
              </a:extLst>
            </p:cNvPr>
            <p:cNvSpPr txBox="1"/>
            <p:nvPr/>
          </p:nvSpPr>
          <p:spPr>
            <a:xfrm>
              <a:off x="892053" y="3403694"/>
              <a:ext cx="3219908" cy="2979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Databases</a:t>
              </a:r>
              <a:r>
                <a:rPr lang="en-GB" sz="1400" dirty="0">
                  <a:solidFill>
                    <a:schemeClr val="bg1"/>
                  </a:solidFill>
                </a:rPr>
                <a:t>: Merging data from relational (e.g., MySQL, PostgreSQL) and non-relational (e.g., MongoDB) databases.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APIs</a:t>
              </a:r>
              <a:r>
                <a:rPr lang="en-GB" sz="1400" dirty="0">
                  <a:solidFill>
                    <a:schemeClr val="bg1"/>
                  </a:solidFill>
                </a:rPr>
                <a:t>: Integrating data retrieved from web services and APIs, such as RESTful APIs.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Files and Spreadsheets</a:t>
              </a:r>
              <a:r>
                <a:rPr lang="en-GB" sz="1400" dirty="0">
                  <a:solidFill>
                    <a:schemeClr val="bg1"/>
                  </a:solidFill>
                </a:rPr>
                <a:t>: Consolidating data from CSV, Excel, and other file formats.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Cloud Services</a:t>
              </a:r>
              <a:r>
                <a:rPr lang="en-GB" sz="1400" dirty="0">
                  <a:solidFill>
                    <a:schemeClr val="bg1"/>
                  </a:solidFill>
                </a:rPr>
                <a:t>: Aggregating data from cloud-based platforms like Salesforce, Google Analytics, etc.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IoT Devices</a:t>
              </a:r>
              <a:r>
                <a:rPr lang="en-GB" sz="1400" dirty="0">
                  <a:solidFill>
                    <a:schemeClr val="bg1"/>
                  </a:solidFill>
                </a:rPr>
                <a:t>: Incorporating data from sensors and smart devices.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1BCD1D-3C17-C708-1EB9-F2968DA038BF}"/>
              </a:ext>
            </a:extLst>
          </p:cNvPr>
          <p:cNvGrpSpPr/>
          <p:nvPr/>
        </p:nvGrpSpPr>
        <p:grpSpPr>
          <a:xfrm>
            <a:off x="8258639" y="923019"/>
            <a:ext cx="3390580" cy="2643886"/>
            <a:chOff x="823195" y="2711512"/>
            <a:chExt cx="3332374" cy="382159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20C46FE-3CB3-B1EF-4301-B0B2C03915DC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22" name="Rectangle: Rounded Corners 3">
                <a:extLst>
                  <a:ext uri="{FF2B5EF4-FFF2-40B4-BE49-F238E27FC236}">
                    <a16:creationId xmlns:a16="http://schemas.microsoft.com/office/drawing/2014/main" id="{2B0A566A-6990-1131-AC6A-C59CBB0B6B9E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23" name="Rectangle: Rounded Corners 3">
                <a:extLst>
                  <a:ext uri="{FF2B5EF4-FFF2-40B4-BE49-F238E27FC236}">
                    <a16:creationId xmlns:a16="http://schemas.microsoft.com/office/drawing/2014/main" id="{AB02D483-3F77-9E88-237D-167FAFB7A8E6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888F97-F6EB-8F1B-1371-6ABD62D8E41E}"/>
                </a:ext>
              </a:extLst>
            </p:cNvPr>
            <p:cNvSpPr txBox="1"/>
            <p:nvPr/>
          </p:nvSpPr>
          <p:spPr>
            <a:xfrm>
              <a:off x="1078624" y="2824283"/>
              <a:ext cx="2846765" cy="4847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🛠️ Tools &amp; Techniques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3FACCE-854D-1D4D-30ED-C85CD8A6024A}"/>
                </a:ext>
              </a:extLst>
            </p:cNvPr>
            <p:cNvSpPr txBox="1"/>
            <p:nvPr/>
          </p:nvSpPr>
          <p:spPr>
            <a:xfrm>
              <a:off x="913856" y="3421785"/>
              <a:ext cx="3219908" cy="18210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ETL Processes</a:t>
              </a:r>
              <a:r>
                <a:rPr lang="en-GB" sz="1400" dirty="0">
                  <a:solidFill>
                    <a:schemeClr val="bg1"/>
                  </a:solidFill>
                </a:rPr>
                <a:t>: Extract, Transform, Load workflows for systematic data integration.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Data Virtualization</a:t>
              </a:r>
              <a:r>
                <a:rPr lang="en-GB" sz="1400" dirty="0">
                  <a:solidFill>
                    <a:schemeClr val="bg1"/>
                  </a:solidFill>
                </a:rPr>
                <a:t>: Accessing and integrating data in real-time without physical movement.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Integration Platforms</a:t>
              </a:r>
              <a:r>
                <a:rPr lang="en-GB" sz="1400" dirty="0">
                  <a:solidFill>
                    <a:schemeClr val="bg1"/>
                  </a:solidFill>
                </a:rPr>
                <a:t>: Utilizing tools like Talend, Informatica, or Apache </a:t>
              </a:r>
              <a:r>
                <a:rPr lang="en-GB" sz="1400" dirty="0" err="1">
                  <a:solidFill>
                    <a:schemeClr val="bg1"/>
                  </a:solidFill>
                </a:rPr>
                <a:t>NiFi</a:t>
              </a:r>
              <a:r>
                <a:rPr lang="en-GB" sz="1400" dirty="0">
                  <a:solidFill>
                    <a:schemeClr val="bg1"/>
                  </a:solidFill>
                </a:rPr>
                <a:t> for seamless data integration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8B1D6DD-42F3-9FA5-E5D0-47E9FBE9C72D}"/>
              </a:ext>
            </a:extLst>
          </p:cNvPr>
          <p:cNvGrpSpPr/>
          <p:nvPr/>
        </p:nvGrpSpPr>
        <p:grpSpPr>
          <a:xfrm>
            <a:off x="8258639" y="3828727"/>
            <a:ext cx="3402693" cy="2639304"/>
            <a:chOff x="823195" y="2734825"/>
            <a:chExt cx="3344279" cy="381497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F66B92B-E896-F766-DD11-5BAC555F3B0B}"/>
                </a:ext>
              </a:extLst>
            </p:cNvPr>
            <p:cNvGrpSpPr/>
            <p:nvPr/>
          </p:nvGrpSpPr>
          <p:grpSpPr>
            <a:xfrm>
              <a:off x="823195" y="2734825"/>
              <a:ext cx="3332374" cy="3814976"/>
              <a:chOff x="700645" y="2676964"/>
              <a:chExt cx="2949297" cy="3731923"/>
            </a:xfrm>
          </p:grpSpPr>
          <p:sp>
            <p:nvSpPr>
              <p:cNvPr id="28" name="Rectangle: Rounded Corners 3">
                <a:extLst>
                  <a:ext uri="{FF2B5EF4-FFF2-40B4-BE49-F238E27FC236}">
                    <a16:creationId xmlns:a16="http://schemas.microsoft.com/office/drawing/2014/main" id="{F6DB9C0B-F750-C1F5-8332-F629EE58B2A6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92D05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29" name="Rectangle: Rounded Corners 3">
                <a:extLst>
                  <a:ext uri="{FF2B5EF4-FFF2-40B4-BE49-F238E27FC236}">
                    <a16:creationId xmlns:a16="http://schemas.microsoft.com/office/drawing/2014/main" id="{3746BF5C-0220-77E7-5ED0-0C3C0F424250}"/>
                  </a:ext>
                </a:extLst>
              </p:cNvPr>
              <p:cNvSpPr/>
              <p:nvPr/>
            </p:nvSpPr>
            <p:spPr>
              <a:xfrm>
                <a:off x="761588" y="269329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05D50F-E3D5-4496-939A-7FE7758E3352}"/>
                </a:ext>
              </a:extLst>
            </p:cNvPr>
            <p:cNvSpPr txBox="1"/>
            <p:nvPr/>
          </p:nvSpPr>
          <p:spPr>
            <a:xfrm>
              <a:off x="1056848" y="2856766"/>
              <a:ext cx="2890317" cy="53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🌐 Real-World Applications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1BA937-F8BA-9D66-2D9F-259D5E8C65E4}"/>
                </a:ext>
              </a:extLst>
            </p:cNvPr>
            <p:cNvSpPr txBox="1"/>
            <p:nvPr/>
          </p:nvSpPr>
          <p:spPr>
            <a:xfrm>
              <a:off x="892053" y="3302214"/>
              <a:ext cx="3275421" cy="32475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Business Intelligence</a:t>
              </a:r>
              <a:r>
                <a:rPr lang="en-GB" sz="1400" dirty="0">
                  <a:solidFill>
                    <a:schemeClr val="bg1"/>
                  </a:solidFill>
                </a:rPr>
                <a:t>: Creating comprehensive dashboards by integrating sales, marketing, and customer data.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Healthcare</a:t>
              </a:r>
              <a:r>
                <a:rPr lang="en-GB" sz="1400" dirty="0">
                  <a:solidFill>
                    <a:schemeClr val="bg1"/>
                  </a:solidFill>
                </a:rPr>
                <a:t>: Combining patient records from various departments for holistic care.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E-commerce</a:t>
              </a:r>
              <a:r>
                <a:rPr lang="en-GB" sz="1400" dirty="0">
                  <a:solidFill>
                    <a:schemeClr val="bg1"/>
                  </a:solidFill>
                </a:rPr>
                <a:t>: Merging product, inventory, and customer data to enhance user experience.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Picture 2" descr="IIT Mandi Logo">
            <a:extLst>
              <a:ext uri="{FF2B5EF4-FFF2-40B4-BE49-F238E27FC236}">
                <a16:creationId xmlns:a16="http://schemas.microsoft.com/office/drawing/2014/main" id="{6474AEA4-5D12-31A4-06CC-60B7D6CE1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378" y="122896"/>
            <a:ext cx="760070" cy="71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171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52634-5F90-0AE2-8FD8-4D970EC8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F979DA-9484-BFEE-A9C2-9CEF1E99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47" y="401516"/>
            <a:ext cx="10941091" cy="1179576"/>
          </a:xfrm>
        </p:spPr>
        <p:txBody>
          <a:bodyPr>
            <a:normAutofit/>
          </a:bodyPr>
          <a:lstStyle/>
          <a:p>
            <a:r>
              <a:rPr lang="en-GB" sz="1800" b="1" u="none" dirty="0"/>
              <a:t>               </a:t>
            </a:r>
            <a:r>
              <a:rPr lang="en-GB" sz="1800" b="1" dirty="0"/>
              <a:t>Preprocessing</a:t>
            </a:r>
            <a:br>
              <a:rPr lang="en-GB" b="1" dirty="0"/>
            </a:br>
            <a:r>
              <a:rPr lang="en-GB" b="1" u="none" dirty="0">
                <a:solidFill>
                  <a:srgbClr val="FF0000"/>
                </a:solidFill>
              </a:rPr>
              <a:t>2.3 </a:t>
            </a:r>
            <a:r>
              <a:rPr lang="en-GB" b="1" dirty="0">
                <a:solidFill>
                  <a:srgbClr val="FF0000"/>
                </a:solidFill>
              </a:rPr>
              <a:t>Data Transformation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36EAEE-0238-739D-0EA5-13AB29E3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12C07FE-7BCB-BA4A-7779-8C3266CF0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5BB4F5-F682-8DBD-B363-4E74A9C99222}"/>
              </a:ext>
            </a:extLst>
          </p:cNvPr>
          <p:cNvGrpSpPr/>
          <p:nvPr/>
        </p:nvGrpSpPr>
        <p:grpSpPr>
          <a:xfrm>
            <a:off x="493447" y="2289247"/>
            <a:ext cx="3390580" cy="4262983"/>
            <a:chOff x="823195" y="2711512"/>
            <a:chExt cx="3332374" cy="38215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28DA3A-2EF4-558C-9F39-B91C239FC3D5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29" name="Rectangle: Rounded Corners 3">
                <a:extLst>
                  <a:ext uri="{FF2B5EF4-FFF2-40B4-BE49-F238E27FC236}">
                    <a16:creationId xmlns:a16="http://schemas.microsoft.com/office/drawing/2014/main" id="{66833F61-2BC4-8487-5CCE-D9968DF66A91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30" name="Rectangle: Rounded Corners 3">
                <a:extLst>
                  <a:ext uri="{FF2B5EF4-FFF2-40B4-BE49-F238E27FC236}">
                    <a16:creationId xmlns:a16="http://schemas.microsoft.com/office/drawing/2014/main" id="{4F62F613-0BA9-5C9F-FEFA-D8AD4F8997E4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71C814-AF8B-E8E0-9FDE-6D2216E5E6A5}"/>
                </a:ext>
              </a:extLst>
            </p:cNvPr>
            <p:cNvSpPr txBox="1"/>
            <p:nvPr/>
          </p:nvSpPr>
          <p:spPr>
            <a:xfrm>
              <a:off x="1058840" y="2829530"/>
              <a:ext cx="2846765" cy="5794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🔍 Key Processes in Data Integration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590FCC-7BF7-B027-34AB-176C86DB06B9}"/>
                </a:ext>
              </a:extLst>
            </p:cNvPr>
            <p:cNvSpPr txBox="1"/>
            <p:nvPr/>
          </p:nvSpPr>
          <p:spPr>
            <a:xfrm>
              <a:off x="993169" y="3477829"/>
              <a:ext cx="3061283" cy="29630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Combining Data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Merging Diverse Sources: Integrate data from databases, APIs, and files.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Example: Merging sales data from SQL databases with customer feedback from JSON APIs.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Resolving Conflicts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Schema Mapping: Align differing data structures and field names.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Data Deduplication: Identify and remove duplicate records.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B" sz="1400" dirty="0">
                  <a:solidFill>
                    <a:schemeClr val="bg1"/>
                  </a:solidFill>
                </a:rPr>
                <a:t>Conflict Resolution: Address discrepancies in data values from different sources.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7DCE18-891D-C754-61FE-CE5BFDC45359}"/>
              </a:ext>
            </a:extLst>
          </p:cNvPr>
          <p:cNvGrpSpPr/>
          <p:nvPr/>
        </p:nvGrpSpPr>
        <p:grpSpPr>
          <a:xfrm>
            <a:off x="4268260" y="2276243"/>
            <a:ext cx="3546381" cy="4262983"/>
            <a:chOff x="823195" y="2711512"/>
            <a:chExt cx="3332374" cy="382159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4386613-B77C-2867-08DA-E643A419D025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36" name="Rectangle: Rounded Corners 3">
                <a:extLst>
                  <a:ext uri="{FF2B5EF4-FFF2-40B4-BE49-F238E27FC236}">
                    <a16:creationId xmlns:a16="http://schemas.microsoft.com/office/drawing/2014/main" id="{C8131B2B-E7D5-AFDF-9547-782F33F45E5C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37" name="Rectangle: Rounded Corners 3">
                <a:extLst>
                  <a:ext uri="{FF2B5EF4-FFF2-40B4-BE49-F238E27FC236}">
                    <a16:creationId xmlns:a16="http://schemas.microsoft.com/office/drawing/2014/main" id="{A6EF33C4-A94F-9C95-656C-305341C01C02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CF312D-5740-09CB-91BD-398BF85C09B0}"/>
                </a:ext>
              </a:extLst>
            </p:cNvPr>
            <p:cNvSpPr txBox="1"/>
            <p:nvPr/>
          </p:nvSpPr>
          <p:spPr>
            <a:xfrm>
              <a:off x="1058840" y="2829530"/>
              <a:ext cx="2846765" cy="5794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🗂️ Handling Various Data Formats</a:t>
              </a:r>
              <a:endParaRPr lang="en-00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9A2EDF9-6FE2-C82C-DC6E-912F3F5D3CE1}"/>
              </a:ext>
            </a:extLst>
          </p:cNvPr>
          <p:cNvGraphicFramePr>
            <a:graphicFrameLocks noGrp="1"/>
          </p:cNvGraphicFramePr>
          <p:nvPr/>
        </p:nvGraphicFramePr>
        <p:xfrm>
          <a:off x="4355307" y="3185872"/>
          <a:ext cx="3435953" cy="239114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793258">
                  <a:extLst>
                    <a:ext uri="{9D8B030D-6E8A-4147-A177-3AD203B41FA5}">
                      <a16:colId xmlns:a16="http://schemas.microsoft.com/office/drawing/2014/main" val="1202695101"/>
                    </a:ext>
                  </a:extLst>
                </a:gridCol>
                <a:gridCol w="1757415">
                  <a:extLst>
                    <a:ext uri="{9D8B030D-6E8A-4147-A177-3AD203B41FA5}">
                      <a16:colId xmlns:a16="http://schemas.microsoft.com/office/drawing/2014/main" val="1266328437"/>
                    </a:ext>
                  </a:extLst>
                </a:gridCol>
                <a:gridCol w="885280">
                  <a:extLst>
                    <a:ext uri="{9D8B030D-6E8A-4147-A177-3AD203B41FA5}">
                      <a16:colId xmlns:a16="http://schemas.microsoft.com/office/drawing/2014/main" val="3085940779"/>
                    </a:ext>
                  </a:extLst>
                </a:gridCol>
              </a:tblGrid>
              <a:tr h="2934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Format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Libraries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795484"/>
                  </a:ext>
                </a:extLst>
              </a:tr>
              <a:tr h="498909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GRIB</a:t>
                      </a:r>
                      <a:endParaRPr 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ysClr val="windowText" lastClr="000000"/>
                          </a:solidFill>
                        </a:rPr>
                        <a:t>Binary format for meteorological data.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cfgrib, ecCodes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071829"/>
                  </a:ext>
                </a:extLst>
              </a:tr>
              <a:tr h="643590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ysClr val="windowText" lastClr="000000"/>
                          </a:solidFill>
                        </a:rPr>
                        <a:t>NetCDF</a:t>
                      </a:r>
                      <a:endParaRPr 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ysClr val="windowText" lastClr="000000"/>
                          </a:solidFill>
                        </a:rPr>
                        <a:t>Format for array-oriented scientific data.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netCDF4, xarray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861527"/>
                  </a:ext>
                </a:extLst>
              </a:tr>
              <a:tr h="83666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ysClr val="windowText" lastClr="000000"/>
                          </a:solidFill>
                        </a:rPr>
                        <a:t>JSON</a:t>
                      </a:r>
                      <a:endParaRPr lang="en-US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ysClr val="windowText" lastClr="000000"/>
                          </a:solidFill>
                        </a:rPr>
                        <a:t>Lightweight, human-readable format, common in APIs.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</a:rPr>
                        <a:t>json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, pandas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73100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A67BDC4D-5BB2-AE17-D567-DE7CB0ABDD65}"/>
              </a:ext>
            </a:extLst>
          </p:cNvPr>
          <p:cNvSpPr txBox="1"/>
          <p:nvPr/>
        </p:nvSpPr>
        <p:spPr>
          <a:xfrm>
            <a:off x="4797685" y="6186630"/>
            <a:ext cx="31836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Practical has been shown in lab exercises</a:t>
            </a:r>
            <a:endParaRPr lang="en-001" sz="1050" dirty="0">
              <a:solidFill>
                <a:schemeClr val="bg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8D37229-FFB9-658B-641B-C4ABE8D25B07}"/>
              </a:ext>
            </a:extLst>
          </p:cNvPr>
          <p:cNvGrpSpPr/>
          <p:nvPr/>
        </p:nvGrpSpPr>
        <p:grpSpPr>
          <a:xfrm>
            <a:off x="8103962" y="857842"/>
            <a:ext cx="3436370" cy="2937386"/>
            <a:chOff x="8022422" y="857842"/>
            <a:chExt cx="3436370" cy="293738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66E761D-23F5-207B-F95D-A9B4F7ED1C0C}"/>
                </a:ext>
              </a:extLst>
            </p:cNvPr>
            <p:cNvGrpSpPr/>
            <p:nvPr/>
          </p:nvGrpSpPr>
          <p:grpSpPr>
            <a:xfrm>
              <a:off x="8022422" y="857842"/>
              <a:ext cx="3436370" cy="2937386"/>
              <a:chOff x="823195" y="2711512"/>
              <a:chExt cx="3332374" cy="382159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21E1D04-40A7-14B5-FE07-370F9F02C655}"/>
                  </a:ext>
                </a:extLst>
              </p:cNvPr>
              <p:cNvGrpSpPr/>
              <p:nvPr/>
            </p:nvGrpSpPr>
            <p:grpSpPr>
              <a:xfrm>
                <a:off x="823195" y="2711512"/>
                <a:ext cx="3332374" cy="3821599"/>
                <a:chOff x="700645" y="2654159"/>
                <a:chExt cx="2949297" cy="3738402"/>
              </a:xfrm>
            </p:grpSpPr>
            <p:sp>
              <p:nvSpPr>
                <p:cNvPr id="43" name="Rectangle: Rounded Corners 3">
                  <a:extLst>
                    <a:ext uri="{FF2B5EF4-FFF2-40B4-BE49-F238E27FC236}">
                      <a16:creationId xmlns:a16="http://schemas.microsoft.com/office/drawing/2014/main" id="{B3C35610-232B-0FB8-CEE0-9FE66774F8E4}"/>
                    </a:ext>
                  </a:extLst>
                </p:cNvPr>
                <p:cNvSpPr/>
                <p:nvPr/>
              </p:nvSpPr>
              <p:spPr>
                <a:xfrm rot="21375581">
                  <a:off x="700645" y="2676964"/>
                  <a:ext cx="2888354" cy="3715597"/>
                </a:xfrm>
                <a:prstGeom prst="roundRect">
                  <a:avLst>
                    <a:gd name="adj" fmla="val 10302"/>
                  </a:avLst>
                </a:prstGeom>
                <a:solidFill>
                  <a:srgbClr val="BF7FBF"/>
                </a:solidFill>
                <a:ln>
                  <a:noFill/>
                </a:ln>
                <a:effectLst>
                  <a:outerShdw blurRad="1524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/>
                    <a:t>ss</a:t>
                  </a:r>
                </a:p>
              </p:txBody>
            </p:sp>
            <p:sp>
              <p:nvSpPr>
                <p:cNvPr id="44" name="Rectangle: Rounded Corners 3">
                  <a:extLst>
                    <a:ext uri="{FF2B5EF4-FFF2-40B4-BE49-F238E27FC236}">
                      <a16:creationId xmlns:a16="http://schemas.microsoft.com/office/drawing/2014/main" id="{6FD72024-94D3-80AD-0EED-22C4ECB67D2C}"/>
                    </a:ext>
                  </a:extLst>
                </p:cNvPr>
                <p:cNvSpPr/>
                <p:nvPr/>
              </p:nvSpPr>
              <p:spPr>
                <a:xfrm>
                  <a:off x="761588" y="2654159"/>
                  <a:ext cx="2888354" cy="3715596"/>
                </a:xfrm>
                <a:prstGeom prst="roundRect">
                  <a:avLst>
                    <a:gd name="adj" fmla="val 10302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outerShdw blurRad="1524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/>
                    <a:t>ss</a:t>
                  </a: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3F2145-96AE-F9E1-2904-D6652A152A4B}"/>
                  </a:ext>
                </a:extLst>
              </p:cNvPr>
              <p:cNvSpPr txBox="1"/>
              <p:nvPr/>
            </p:nvSpPr>
            <p:spPr>
              <a:xfrm>
                <a:off x="1058840" y="2829530"/>
                <a:ext cx="2846765" cy="4690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🛠️ Tools &amp; Techniques</a:t>
                </a:r>
                <a:endParaRPr lang="en-00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4E98403-4E60-CE36-CB0B-E46CD5A1074E}"/>
                </a:ext>
              </a:extLst>
            </p:cNvPr>
            <p:cNvSpPr txBox="1"/>
            <p:nvPr/>
          </p:nvSpPr>
          <p:spPr>
            <a:xfrm>
              <a:off x="8184283" y="1397785"/>
              <a:ext cx="3183655" cy="1466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ETL Processes: Extract, Transform, Load pipelines using tools like Apache </a:t>
              </a:r>
              <a:r>
                <a:rPr lang="en-GB" sz="1400" dirty="0" err="1">
                  <a:solidFill>
                    <a:schemeClr val="bg1"/>
                  </a:solidFill>
                </a:rPr>
                <a:t>NiFi</a:t>
              </a:r>
              <a:r>
                <a:rPr lang="en-GB" sz="1400" dirty="0">
                  <a:solidFill>
                    <a:schemeClr val="bg1"/>
                  </a:solidFill>
                </a:rPr>
                <a:t> or Talend.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Data Virtualization: Access and integrate data in real-time without moving it, using platforms like Denodo.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Data Lakes: Store structured and unstructured data at scale, enabling integration and analysis.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480BB5-63EC-8148-A846-0AADCD115E92}"/>
              </a:ext>
            </a:extLst>
          </p:cNvPr>
          <p:cNvGrpSpPr/>
          <p:nvPr/>
        </p:nvGrpSpPr>
        <p:grpSpPr>
          <a:xfrm>
            <a:off x="8174970" y="4117384"/>
            <a:ext cx="3436370" cy="2423197"/>
            <a:chOff x="8022422" y="857842"/>
            <a:chExt cx="3436370" cy="293738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45DFFAF-F867-D8CF-7E89-1EF41E248230}"/>
                </a:ext>
              </a:extLst>
            </p:cNvPr>
            <p:cNvGrpSpPr/>
            <p:nvPr/>
          </p:nvGrpSpPr>
          <p:grpSpPr>
            <a:xfrm>
              <a:off x="8022422" y="857842"/>
              <a:ext cx="3436370" cy="2937386"/>
              <a:chOff x="823195" y="2711512"/>
              <a:chExt cx="3332374" cy="3821599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F5D1BC64-A80A-5364-526A-68DE40617376}"/>
                  </a:ext>
                </a:extLst>
              </p:cNvPr>
              <p:cNvGrpSpPr/>
              <p:nvPr/>
            </p:nvGrpSpPr>
            <p:grpSpPr>
              <a:xfrm>
                <a:off x="823195" y="2711512"/>
                <a:ext cx="3332374" cy="3821599"/>
                <a:chOff x="700645" y="2654159"/>
                <a:chExt cx="2949297" cy="3738402"/>
              </a:xfrm>
            </p:grpSpPr>
            <p:sp>
              <p:nvSpPr>
                <p:cNvPr id="52" name="Rectangle: Rounded Corners 3">
                  <a:extLst>
                    <a:ext uri="{FF2B5EF4-FFF2-40B4-BE49-F238E27FC236}">
                      <a16:creationId xmlns:a16="http://schemas.microsoft.com/office/drawing/2014/main" id="{1A7F3FD0-CEA3-6DD2-C028-1FE117267D7E}"/>
                    </a:ext>
                  </a:extLst>
                </p:cNvPr>
                <p:cNvSpPr/>
                <p:nvPr/>
              </p:nvSpPr>
              <p:spPr>
                <a:xfrm rot="21375581">
                  <a:off x="700645" y="2676964"/>
                  <a:ext cx="2888354" cy="3715597"/>
                </a:xfrm>
                <a:prstGeom prst="roundRect">
                  <a:avLst>
                    <a:gd name="adj" fmla="val 10302"/>
                  </a:avLst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>
                  <a:outerShdw blurRad="1524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/>
                    <a:t>ss</a:t>
                  </a:r>
                </a:p>
              </p:txBody>
            </p:sp>
            <p:sp>
              <p:nvSpPr>
                <p:cNvPr id="53" name="Rectangle: Rounded Corners 3">
                  <a:extLst>
                    <a:ext uri="{FF2B5EF4-FFF2-40B4-BE49-F238E27FC236}">
                      <a16:creationId xmlns:a16="http://schemas.microsoft.com/office/drawing/2014/main" id="{DFEE0052-FB5B-1973-4FAB-3CAD02F91AAD}"/>
                    </a:ext>
                  </a:extLst>
                </p:cNvPr>
                <p:cNvSpPr/>
                <p:nvPr/>
              </p:nvSpPr>
              <p:spPr>
                <a:xfrm>
                  <a:off x="761588" y="2654159"/>
                  <a:ext cx="2888354" cy="3715596"/>
                </a:xfrm>
                <a:prstGeom prst="roundRect">
                  <a:avLst>
                    <a:gd name="adj" fmla="val 10302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outerShdw blurRad="1524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/>
                    <a:t>ss</a:t>
                  </a: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E08228-8D36-AD32-71C8-0F1B8F9C6625}"/>
                  </a:ext>
                </a:extLst>
              </p:cNvPr>
              <p:cNvSpPr txBox="1"/>
              <p:nvPr/>
            </p:nvSpPr>
            <p:spPr>
              <a:xfrm>
                <a:off x="1058840" y="2829530"/>
                <a:ext cx="2846765" cy="4805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🌍 Real-World Example</a:t>
                </a:r>
                <a:endParaRPr lang="en-00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571C82A-7B13-78E6-EE3A-E431FBD9DC43}"/>
                </a:ext>
              </a:extLst>
            </p:cNvPr>
            <p:cNvSpPr txBox="1"/>
            <p:nvPr/>
          </p:nvSpPr>
          <p:spPr>
            <a:xfrm>
              <a:off x="8184283" y="1483570"/>
              <a:ext cx="318365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Climate Research: Integrating GRIB files from ECMWF with </a:t>
              </a:r>
              <a:r>
                <a:rPr lang="en-GB" sz="1400" dirty="0" err="1">
                  <a:solidFill>
                    <a:schemeClr val="bg1"/>
                  </a:solidFill>
                </a:rPr>
                <a:t>NetCDF</a:t>
              </a:r>
              <a:r>
                <a:rPr lang="en-GB" sz="1400" dirty="0">
                  <a:solidFill>
                    <a:schemeClr val="bg1"/>
                  </a:solidFill>
                </a:rPr>
                <a:t> datasets from NASA to model climate patterns.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Social Media Analysis: Combining JSON data from Twitter API with sales data to assess marketing campaign effectiveness.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E6480EFF-E3C2-312F-3774-86DCBFDF2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5065" y="138735"/>
            <a:ext cx="650533" cy="61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487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14E39-9570-1BCE-0A61-35740727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1A6BBF-8A3B-07EE-40B7-B0FEF638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49" y="416431"/>
            <a:ext cx="11112252" cy="1179576"/>
          </a:xfrm>
        </p:spPr>
        <p:txBody>
          <a:bodyPr>
            <a:normAutofit/>
          </a:bodyPr>
          <a:lstStyle/>
          <a:p>
            <a:r>
              <a:rPr lang="en-GB" sz="1800" b="1" u="none" dirty="0"/>
              <a:t>               </a:t>
            </a:r>
            <a:r>
              <a:rPr lang="en-GB" sz="1800" b="1" dirty="0"/>
              <a:t>Preprocessing</a:t>
            </a:r>
            <a:br>
              <a:rPr lang="en-GB" b="1" dirty="0"/>
            </a:br>
            <a:r>
              <a:rPr lang="en-GB" b="1" u="none" dirty="0">
                <a:solidFill>
                  <a:srgbClr val="FF0000"/>
                </a:solidFill>
              </a:rPr>
              <a:t>2.4 </a:t>
            </a:r>
            <a:r>
              <a:rPr lang="en-GB" b="1" dirty="0">
                <a:solidFill>
                  <a:srgbClr val="FF0000"/>
                </a:solidFill>
              </a:rPr>
              <a:t>Data Cleaning/reduction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1C1BB3-9324-0148-7576-6F5961977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78A814D-E961-E735-FBD7-BF82542B3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53BC16-9714-BB8E-0726-590C6D94A463}"/>
              </a:ext>
            </a:extLst>
          </p:cNvPr>
          <p:cNvGrpSpPr/>
          <p:nvPr/>
        </p:nvGrpSpPr>
        <p:grpSpPr>
          <a:xfrm>
            <a:off x="382788" y="2492758"/>
            <a:ext cx="3390580" cy="4009209"/>
            <a:chOff x="382788" y="2492758"/>
            <a:chExt cx="3390580" cy="400920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033F1E5-344B-5661-CBC6-9DCE301EB80F}"/>
                </a:ext>
              </a:extLst>
            </p:cNvPr>
            <p:cNvGrpSpPr/>
            <p:nvPr/>
          </p:nvGrpSpPr>
          <p:grpSpPr>
            <a:xfrm>
              <a:off x="382788" y="2492758"/>
              <a:ext cx="3390580" cy="4009209"/>
              <a:chOff x="823195" y="2711512"/>
              <a:chExt cx="3332374" cy="3821599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18BC617-8E4F-87D8-69AC-E07CBA2BA258}"/>
                  </a:ext>
                </a:extLst>
              </p:cNvPr>
              <p:cNvGrpSpPr/>
              <p:nvPr/>
            </p:nvGrpSpPr>
            <p:grpSpPr>
              <a:xfrm>
                <a:off x="823195" y="2711512"/>
                <a:ext cx="3332374" cy="3821599"/>
                <a:chOff x="700645" y="2654159"/>
                <a:chExt cx="2949297" cy="3738402"/>
              </a:xfrm>
            </p:grpSpPr>
            <p:sp>
              <p:nvSpPr>
                <p:cNvPr id="24" name="Rectangle: Rounded Corners 3">
                  <a:extLst>
                    <a:ext uri="{FF2B5EF4-FFF2-40B4-BE49-F238E27FC236}">
                      <a16:creationId xmlns:a16="http://schemas.microsoft.com/office/drawing/2014/main" id="{3E4C97F0-82FB-4989-4E05-8EF8AC081317}"/>
                    </a:ext>
                  </a:extLst>
                </p:cNvPr>
                <p:cNvSpPr/>
                <p:nvPr/>
              </p:nvSpPr>
              <p:spPr>
                <a:xfrm rot="21375581">
                  <a:off x="700645" y="2676964"/>
                  <a:ext cx="2888354" cy="3715597"/>
                </a:xfrm>
                <a:prstGeom prst="roundRect">
                  <a:avLst>
                    <a:gd name="adj" fmla="val 10302"/>
                  </a:avLst>
                </a:prstGeom>
                <a:solidFill>
                  <a:srgbClr val="BF7FBF"/>
                </a:solidFill>
                <a:ln>
                  <a:noFill/>
                </a:ln>
                <a:effectLst>
                  <a:outerShdw blurRad="1524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/>
                    <a:t>ss</a:t>
                  </a:r>
                </a:p>
              </p:txBody>
            </p:sp>
            <p:sp>
              <p:nvSpPr>
                <p:cNvPr id="25" name="Rectangle: Rounded Corners 3">
                  <a:extLst>
                    <a:ext uri="{FF2B5EF4-FFF2-40B4-BE49-F238E27FC236}">
                      <a16:creationId xmlns:a16="http://schemas.microsoft.com/office/drawing/2014/main" id="{2F75DFF2-2E82-C9FB-6414-E2B76AB8236C}"/>
                    </a:ext>
                  </a:extLst>
                </p:cNvPr>
                <p:cNvSpPr/>
                <p:nvPr/>
              </p:nvSpPr>
              <p:spPr>
                <a:xfrm>
                  <a:off x="761588" y="2654159"/>
                  <a:ext cx="2888354" cy="3715596"/>
                </a:xfrm>
                <a:prstGeom prst="roundRect">
                  <a:avLst>
                    <a:gd name="adj" fmla="val 10302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outerShdw blurRad="1524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/>
                    <a:t>ss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482309-3286-49DB-6651-53C22720D22F}"/>
                  </a:ext>
                </a:extLst>
              </p:cNvPr>
              <p:cNvSpPr txBox="1"/>
              <p:nvPr/>
            </p:nvSpPr>
            <p:spPr>
              <a:xfrm>
                <a:off x="1058840" y="2829530"/>
                <a:ext cx="2846765" cy="3199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📏 Feature Scaling</a:t>
                </a:r>
                <a:endParaRPr lang="en-00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24D1CB-CAC7-7EF1-9FF5-A3DEBEEAD53D}"/>
                  </a:ext>
                </a:extLst>
              </p:cNvPr>
              <p:cNvSpPr txBox="1"/>
              <p:nvPr/>
            </p:nvSpPr>
            <p:spPr>
              <a:xfrm>
                <a:off x="1007339" y="3267458"/>
                <a:ext cx="3061283" cy="2963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>
                    <a:solidFill>
                      <a:schemeClr val="bg1"/>
                    </a:solidFill>
                  </a:rPr>
                  <a:t>Normalization (Min-Max Scaling)</a:t>
                </a:r>
              </a:p>
              <a:p>
                <a:endParaRPr lang="en-GB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b="1" dirty="0">
                    <a:solidFill>
                      <a:schemeClr val="bg1"/>
                    </a:solidFill>
                  </a:rPr>
                  <a:t>Purpose</a:t>
                </a:r>
                <a:r>
                  <a:rPr lang="en-GB" sz="1400" dirty="0">
                    <a:solidFill>
                      <a:schemeClr val="bg1"/>
                    </a:solidFill>
                  </a:rPr>
                  <a:t>: Rescales features to a fixed range, typically [0, 1].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b="1" dirty="0">
                    <a:solidFill>
                      <a:schemeClr val="bg1"/>
                    </a:solidFill>
                  </a:rPr>
                  <a:t>Formula</a:t>
                </a:r>
                <a:r>
                  <a:rPr lang="en-GB" sz="1400" dirty="0">
                    <a:solidFill>
                      <a:schemeClr val="bg1"/>
                    </a:solidFill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b="1" dirty="0">
                    <a:solidFill>
                      <a:schemeClr val="bg1"/>
                    </a:solidFill>
                  </a:rPr>
                  <a:t>Use Case</a:t>
                </a:r>
                <a:r>
                  <a:rPr lang="en-GB" sz="1400" dirty="0">
                    <a:solidFill>
                      <a:schemeClr val="bg1"/>
                    </a:solidFill>
                  </a:rPr>
                  <a:t>: When features have different scales and the algorithm assumes equal importance of all features.</a:t>
                </a:r>
                <a:endParaRPr lang="en-001" sz="1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946E041-5162-D851-EB08-7590B4349AB3}"/>
                    </a:ext>
                  </a:extLst>
                </p:cNvPr>
                <p:cNvSpPr txBox="1"/>
                <p:nvPr/>
              </p:nvSpPr>
              <p:spPr>
                <a:xfrm>
                  <a:off x="945789" y="4369651"/>
                  <a:ext cx="2168992" cy="5212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𝑛𝑜𝑟𝑚</m:t>
                            </m:r>
                          </m:sub>
                        </m:sSub>
                        <m: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00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946E041-5162-D851-EB08-7590B4349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789" y="4369651"/>
                  <a:ext cx="2168992" cy="521233"/>
                </a:xfrm>
                <a:prstGeom prst="rect">
                  <a:avLst/>
                </a:prstGeom>
                <a:blipFill>
                  <a:blip r:embed="rId2"/>
                  <a:stretch>
                    <a:fillRect b="-1176"/>
                  </a:stretch>
                </a:blipFill>
              </p:spPr>
              <p:txBody>
                <a:bodyPr/>
                <a:lstStyle/>
                <a:p>
                  <a:r>
                    <a:rPr lang="en-001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89DEA38-F505-5001-32E3-D8349DC4A1F3}"/>
              </a:ext>
            </a:extLst>
          </p:cNvPr>
          <p:cNvGrpSpPr/>
          <p:nvPr/>
        </p:nvGrpSpPr>
        <p:grpSpPr>
          <a:xfrm>
            <a:off x="4139667" y="2449092"/>
            <a:ext cx="3390580" cy="4009209"/>
            <a:chOff x="823195" y="2711512"/>
            <a:chExt cx="3332374" cy="382159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3470CFC-4164-AAE5-86DC-910F58E2FB94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39" name="Rectangle: Rounded Corners 3">
                <a:extLst>
                  <a:ext uri="{FF2B5EF4-FFF2-40B4-BE49-F238E27FC236}">
                    <a16:creationId xmlns:a16="http://schemas.microsoft.com/office/drawing/2014/main" id="{1FF8A83C-CAEE-760E-18D1-9752676C1EDE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92D05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40" name="Rectangle: Rounded Corners 3">
                <a:extLst>
                  <a:ext uri="{FF2B5EF4-FFF2-40B4-BE49-F238E27FC236}">
                    <a16:creationId xmlns:a16="http://schemas.microsoft.com/office/drawing/2014/main" id="{04B209A4-6CE5-E3F9-FE76-2F9F72356E85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78AA61-1104-0F07-0300-4914CE779D18}"/>
                </a:ext>
              </a:extLst>
            </p:cNvPr>
            <p:cNvSpPr txBox="1"/>
            <p:nvPr/>
          </p:nvSpPr>
          <p:spPr>
            <a:xfrm>
              <a:off x="1073289" y="2871153"/>
              <a:ext cx="2846765" cy="3199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📏 Feature Scaling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47F38A0-A1BE-A218-3CF7-E4E057E31CFF}"/>
                </a:ext>
              </a:extLst>
            </p:cNvPr>
            <p:cNvSpPr txBox="1"/>
            <p:nvPr/>
          </p:nvSpPr>
          <p:spPr>
            <a:xfrm>
              <a:off x="979067" y="3245398"/>
              <a:ext cx="3111294" cy="31684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Standardization (Z-score Normalization)</a:t>
              </a:r>
            </a:p>
            <a:p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Purpose</a:t>
              </a:r>
              <a:r>
                <a:rPr lang="en-GB" sz="1400" dirty="0">
                  <a:solidFill>
                    <a:schemeClr val="bg1"/>
                  </a:solidFill>
                </a:rPr>
                <a:t>: </a:t>
              </a:r>
              <a:r>
                <a:rPr lang="en-GB" sz="1400" dirty="0" err="1">
                  <a:solidFill>
                    <a:schemeClr val="bg1"/>
                  </a:solidFill>
                </a:rPr>
                <a:t>Centers</a:t>
              </a:r>
              <a:r>
                <a:rPr lang="en-GB" sz="1400" dirty="0">
                  <a:solidFill>
                    <a:schemeClr val="bg1"/>
                  </a:solidFill>
                </a:rPr>
                <a:t> features around the mean with unit variance..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Formula</a:t>
              </a:r>
              <a:r>
                <a:rPr lang="en-GB" sz="1400" dirty="0">
                  <a:solidFill>
                    <a:schemeClr val="bg1"/>
                  </a:solidFill>
                </a:rPr>
                <a:t>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Use Case</a:t>
              </a:r>
              <a:r>
                <a:rPr lang="en-GB" sz="1400" dirty="0">
                  <a:solidFill>
                    <a:schemeClr val="bg1"/>
                  </a:solidFill>
                </a:rPr>
                <a:t>: When features are normally distributed; beneficial for algorithms like logistic regression and neural networks.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A2CF0A3-E085-ECE2-8D64-84D0BB77DE4D}"/>
                  </a:ext>
                </a:extLst>
              </p:cNvPr>
              <p:cNvSpPr txBox="1"/>
              <p:nvPr/>
            </p:nvSpPr>
            <p:spPr>
              <a:xfrm>
                <a:off x="4608697" y="4509591"/>
                <a:ext cx="2382457" cy="472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0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A2CF0A3-E085-ECE2-8D64-84D0BB77D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697" y="4509591"/>
                <a:ext cx="2382457" cy="472565"/>
              </a:xfrm>
              <a:prstGeom prst="rect">
                <a:avLst/>
              </a:prstGeom>
              <a:blipFill>
                <a:blip r:embed="rId3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3EE73C8-4E7A-CFA7-64AA-22638B62BADA}"/>
              </a:ext>
            </a:extLst>
          </p:cNvPr>
          <p:cNvGrpSpPr/>
          <p:nvPr/>
        </p:nvGrpSpPr>
        <p:grpSpPr>
          <a:xfrm>
            <a:off x="7852450" y="432258"/>
            <a:ext cx="3390580" cy="2945580"/>
            <a:chOff x="823195" y="2711512"/>
            <a:chExt cx="3332374" cy="38215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A8DAB8C-BF83-748A-EF67-A3FF989A0CAC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46" name="Rectangle: Rounded Corners 3">
                <a:extLst>
                  <a:ext uri="{FF2B5EF4-FFF2-40B4-BE49-F238E27FC236}">
                    <a16:creationId xmlns:a16="http://schemas.microsoft.com/office/drawing/2014/main" id="{687FC951-950B-3A4F-257B-8C04D436BD45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FFC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47" name="Rectangle: Rounded Corners 3">
                <a:extLst>
                  <a:ext uri="{FF2B5EF4-FFF2-40B4-BE49-F238E27FC236}">
                    <a16:creationId xmlns:a16="http://schemas.microsoft.com/office/drawing/2014/main" id="{60F06555-1412-757F-B7B3-34911C6A9D5B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198DABD-5DF4-92F8-6F39-6CD75E47FAFD}"/>
                </a:ext>
              </a:extLst>
            </p:cNvPr>
            <p:cNvSpPr txBox="1"/>
            <p:nvPr/>
          </p:nvSpPr>
          <p:spPr>
            <a:xfrm>
              <a:off x="1058840" y="2829530"/>
              <a:ext cx="2846765" cy="838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🔠 Encoding Categorical Variables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F4310FC-7FBE-27C5-F5E8-8509D8A1D636}"/>
                </a:ext>
              </a:extLst>
            </p:cNvPr>
            <p:cNvSpPr txBox="1"/>
            <p:nvPr/>
          </p:nvSpPr>
          <p:spPr>
            <a:xfrm>
              <a:off x="1000259" y="3645459"/>
              <a:ext cx="3061283" cy="2635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One-Hot Encoding</a:t>
              </a:r>
            </a:p>
            <a:p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Purpose</a:t>
              </a:r>
              <a:r>
                <a:rPr lang="en-GB" sz="1400" dirty="0">
                  <a:solidFill>
                    <a:schemeClr val="bg1"/>
                  </a:solidFill>
                </a:rPr>
                <a:t>: Converts categorical variables into a binary matrix.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Method</a:t>
              </a:r>
              <a:r>
                <a:rPr lang="en-GB" sz="1400" dirty="0">
                  <a:solidFill>
                    <a:schemeClr val="bg1"/>
                  </a:solidFill>
                </a:rPr>
                <a:t>: Creates a new binary column for each category.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Use</a:t>
              </a:r>
              <a:r>
                <a:rPr lang="en-GB" sz="1400" dirty="0">
                  <a:solidFill>
                    <a:schemeClr val="bg1"/>
                  </a:solidFill>
                </a:rPr>
                <a:t> </a:t>
              </a:r>
              <a:r>
                <a:rPr lang="en-GB" sz="1400" b="1" dirty="0">
                  <a:solidFill>
                    <a:schemeClr val="bg1"/>
                  </a:solidFill>
                </a:rPr>
                <a:t>Case</a:t>
              </a:r>
              <a:r>
                <a:rPr lang="en-GB" sz="1400" dirty="0">
                  <a:solidFill>
                    <a:schemeClr val="bg1"/>
                  </a:solidFill>
                </a:rPr>
                <a:t>: When categorical variables are nominal (no intrinsic order).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459BE9A-2326-D5E9-5A8C-99A721D9B3E9}"/>
              </a:ext>
            </a:extLst>
          </p:cNvPr>
          <p:cNvGrpSpPr/>
          <p:nvPr/>
        </p:nvGrpSpPr>
        <p:grpSpPr>
          <a:xfrm>
            <a:off x="7864508" y="3597588"/>
            <a:ext cx="3390580" cy="2945580"/>
            <a:chOff x="823195" y="2711512"/>
            <a:chExt cx="3332374" cy="382159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5C38745-C88F-3A61-7881-E6DD025BF34B}"/>
                </a:ext>
              </a:extLst>
            </p:cNvPr>
            <p:cNvGrpSpPr/>
            <p:nvPr/>
          </p:nvGrpSpPr>
          <p:grpSpPr>
            <a:xfrm>
              <a:off x="823195" y="2711512"/>
              <a:ext cx="3332374" cy="3821599"/>
              <a:chOff x="700645" y="2654159"/>
              <a:chExt cx="2949297" cy="3738402"/>
            </a:xfrm>
          </p:grpSpPr>
          <p:sp>
            <p:nvSpPr>
              <p:cNvPr id="52" name="Rectangle: Rounded Corners 3">
                <a:extLst>
                  <a:ext uri="{FF2B5EF4-FFF2-40B4-BE49-F238E27FC236}">
                    <a16:creationId xmlns:a16="http://schemas.microsoft.com/office/drawing/2014/main" id="{BE878467-A3A1-AF8F-16BC-E4A1F5C2F885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A084FD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53" name="Rectangle: Rounded Corners 3">
                <a:extLst>
                  <a:ext uri="{FF2B5EF4-FFF2-40B4-BE49-F238E27FC236}">
                    <a16:creationId xmlns:a16="http://schemas.microsoft.com/office/drawing/2014/main" id="{8380D7E2-0BD9-E038-2BA6-81281D9FBD0B}"/>
                  </a:ext>
                </a:extLst>
              </p:cNvPr>
              <p:cNvSpPr/>
              <p:nvPr/>
            </p:nvSpPr>
            <p:spPr>
              <a:xfrm>
                <a:off x="761588" y="2654159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FD31CA1-33F3-E064-447C-421C05C28177}"/>
                </a:ext>
              </a:extLst>
            </p:cNvPr>
            <p:cNvSpPr txBox="1"/>
            <p:nvPr/>
          </p:nvSpPr>
          <p:spPr>
            <a:xfrm>
              <a:off x="1058840" y="2829530"/>
              <a:ext cx="2846765" cy="479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✅ Best Practices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6DC5E58-B49E-551E-1828-C3F79A674087}"/>
                </a:ext>
              </a:extLst>
            </p:cNvPr>
            <p:cNvSpPr txBox="1"/>
            <p:nvPr/>
          </p:nvSpPr>
          <p:spPr>
            <a:xfrm>
              <a:off x="981318" y="3476312"/>
              <a:ext cx="3061283" cy="29149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Normalization is sensitive to outliers; use when the distribution is unknown.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Standardization is robust to outliers; use when data is normally distributed.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One-Hot Encoding can lead to high dimensionality; consider dimensionality reduction techniques if necessary.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" name="Picture 2" descr="IIT Mandi Logo">
            <a:extLst>
              <a:ext uri="{FF2B5EF4-FFF2-40B4-BE49-F238E27FC236}">
                <a16:creationId xmlns:a16="http://schemas.microsoft.com/office/drawing/2014/main" id="{CB156A3C-A69A-5437-3CE1-DFEAD7A7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4528" y="105259"/>
            <a:ext cx="585386" cy="55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030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6933-511D-6A59-CAA3-1995305C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E773D5-F1B4-C07A-0B5D-A0176329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184666"/>
            <a:ext cx="10360152" cy="1179576"/>
          </a:xfrm>
        </p:spPr>
        <p:txBody>
          <a:bodyPr/>
          <a:lstStyle/>
          <a:p>
            <a:r>
              <a:rPr lang="en-GB" b="1" u="none" dirty="0">
                <a:solidFill>
                  <a:srgbClr val="FF0000"/>
                </a:solidFill>
              </a:rPr>
              <a:t>3. </a:t>
            </a:r>
            <a:r>
              <a:rPr lang="en-US" b="1" dirty="0">
                <a:solidFill>
                  <a:srgbClr val="FF0000"/>
                </a:solidFill>
                <a:latin typeface="Segoe UI" panose="020B0502040204020203" pitchFamily="34" charset="0"/>
                <a:ea typeface="Noto Sans" panose="020B0502040504020204" pitchFamily="34"/>
                <a:cs typeface="Segoe UI" panose="020B0502040204020203" pitchFamily="34" charset="0"/>
              </a:rPr>
              <a:t>Exploratory Data Analysis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722A8-2408-D57B-642C-81D1F654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9E4B26-01F9-72F1-3DDC-BBD6C01209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242" y="1645015"/>
            <a:ext cx="11113516" cy="494385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the process of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to summarize their main characteristics, often using visual methods. It helps in uncovering patterns, spotting anomalies, testing hypotheses, and checking assumptions through statistical summaries and graphical representations. </a:t>
            </a:r>
          </a:p>
          <a:p>
            <a:pPr marL="0" indent="0">
              <a:lnSpc>
                <a:spcPct val="150000"/>
              </a:lnSpc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Objectives of EDA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Structure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Gain insights into the data's distribution and features.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Patterns and Relationships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 correlations and trends among variables.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 Anomalies or Outliers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Discover data points that deviate significantly from others.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Hypotheses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Formulate and validate assumptions about the data before formal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B6A912EB-D49F-D8E1-8706-3D323C63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F261D4FF-A369-1C10-2C18-F57D56322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446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AC4E-DB74-A0E4-CFEF-2BCB8B19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BF50E1-4D00-7F75-9BB5-BE5F3F9C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13164"/>
            <a:ext cx="10360152" cy="1179576"/>
          </a:xfrm>
        </p:spPr>
        <p:txBody>
          <a:bodyPr/>
          <a:lstStyle/>
          <a:p>
            <a:r>
              <a:rPr lang="en-GB" sz="1800" b="1" u="none" dirty="0"/>
              <a:t> </a:t>
            </a:r>
            <a:r>
              <a:rPr lang="en-GB" sz="1800" b="1" dirty="0"/>
              <a:t>Exploratory data analysis</a:t>
            </a:r>
            <a:br>
              <a:rPr lang="en-GB" b="1" dirty="0"/>
            </a:br>
            <a:r>
              <a:rPr lang="en-GB" b="1" u="none" dirty="0">
                <a:solidFill>
                  <a:srgbClr val="FF0000"/>
                </a:solidFill>
              </a:rPr>
              <a:t>3.1 </a:t>
            </a:r>
            <a:r>
              <a:rPr lang="en-GB" b="1" dirty="0">
                <a:solidFill>
                  <a:srgbClr val="FF0000"/>
                </a:solidFill>
              </a:rPr>
              <a:t>Common </a:t>
            </a:r>
            <a:r>
              <a:rPr lang="en-GB" b="1" dirty="0" err="1">
                <a:solidFill>
                  <a:srgbClr val="FF0000"/>
                </a:solidFill>
              </a:rPr>
              <a:t>eda</a:t>
            </a:r>
            <a:r>
              <a:rPr lang="en-GB" b="1" dirty="0">
                <a:solidFill>
                  <a:srgbClr val="FF0000"/>
                </a:solidFill>
              </a:rPr>
              <a:t> techniques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0D25B2-13B4-6A85-4C89-7182C42A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12EA74B-C124-856E-8348-68053CA37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A41A50-8E0B-724C-08DD-37A5C2B81BD4}"/>
              </a:ext>
            </a:extLst>
          </p:cNvPr>
          <p:cNvGrpSpPr/>
          <p:nvPr/>
        </p:nvGrpSpPr>
        <p:grpSpPr>
          <a:xfrm>
            <a:off x="1059361" y="5103364"/>
            <a:ext cx="5036639" cy="1270258"/>
            <a:chOff x="4709158" y="2178003"/>
            <a:chExt cx="2968755" cy="3676980"/>
          </a:xfrm>
          <a:effectLst/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0813B7B-0C13-DD95-C595-9DC327841982}"/>
                </a:ext>
              </a:extLst>
            </p:cNvPr>
            <p:cNvSpPr/>
            <p:nvPr/>
          </p:nvSpPr>
          <p:spPr>
            <a:xfrm>
              <a:off x="4709159" y="2178003"/>
              <a:ext cx="2968754" cy="3676980"/>
            </a:xfrm>
            <a:prstGeom prst="roundRect">
              <a:avLst>
                <a:gd name="adj" fmla="val 4141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00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67CF84-EC7A-08E7-3F86-74DB4A5B2586}"/>
                </a:ext>
              </a:extLst>
            </p:cNvPr>
            <p:cNvSpPr txBox="1"/>
            <p:nvPr/>
          </p:nvSpPr>
          <p:spPr>
            <a:xfrm>
              <a:off x="4709158" y="2670563"/>
              <a:ext cx="666877" cy="26727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🛠️ Tools &amp; Libraries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105324-CE59-27DD-36A1-2628F7601397}"/>
              </a:ext>
            </a:extLst>
          </p:cNvPr>
          <p:cNvGrpSpPr/>
          <p:nvPr/>
        </p:nvGrpSpPr>
        <p:grpSpPr>
          <a:xfrm>
            <a:off x="6433530" y="5103364"/>
            <a:ext cx="4989033" cy="1270258"/>
            <a:chOff x="4709159" y="2178001"/>
            <a:chExt cx="2968754" cy="3676979"/>
          </a:xfrm>
          <a:effectLst/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CD40244-B747-075F-3383-9FA711351431}"/>
                </a:ext>
              </a:extLst>
            </p:cNvPr>
            <p:cNvSpPr/>
            <p:nvPr/>
          </p:nvSpPr>
          <p:spPr>
            <a:xfrm>
              <a:off x="4709159" y="2178001"/>
              <a:ext cx="2968754" cy="3676979"/>
            </a:xfrm>
            <a:prstGeom prst="roundRect">
              <a:avLst>
                <a:gd name="adj" fmla="val 4141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00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47084B7-0750-8697-E241-2FE2D13B9365}"/>
                </a:ext>
              </a:extLst>
            </p:cNvPr>
            <p:cNvSpPr txBox="1"/>
            <p:nvPr/>
          </p:nvSpPr>
          <p:spPr>
            <a:xfrm>
              <a:off x="4714754" y="2415619"/>
              <a:ext cx="2645666" cy="10690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🌐 Real-World Applications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33C2CB7-9842-16B3-E400-D7B80857C8BB}"/>
                </a:ext>
              </a:extLst>
            </p:cNvPr>
            <p:cNvSpPr txBox="1"/>
            <p:nvPr/>
          </p:nvSpPr>
          <p:spPr>
            <a:xfrm>
              <a:off x="4709159" y="3722331"/>
              <a:ext cx="2930584" cy="1870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Healthcare: </a:t>
              </a:r>
              <a:r>
                <a:rPr lang="en-GB" sz="1200" dirty="0" err="1">
                  <a:solidFill>
                    <a:schemeClr val="bg1"/>
                  </a:solidFill>
                </a:rPr>
                <a:t>Analyzing</a:t>
              </a:r>
              <a:r>
                <a:rPr lang="en-GB" sz="1200" dirty="0">
                  <a:solidFill>
                    <a:schemeClr val="bg1"/>
                  </a:solidFill>
                </a:rPr>
                <a:t> patient data to identify risk factors.</a:t>
              </a:r>
            </a:p>
            <a:p>
              <a:r>
                <a:rPr lang="en-GB" sz="1200" dirty="0">
                  <a:solidFill>
                    <a:schemeClr val="bg1"/>
                  </a:solidFill>
                </a:rPr>
                <a:t>Finance: Detecting fraudulent transactions through pattern recognition.</a:t>
              </a:r>
            </a:p>
            <a:p>
              <a:r>
                <a:rPr lang="en-GB" sz="1200" dirty="0">
                  <a:solidFill>
                    <a:schemeClr val="bg1"/>
                  </a:solidFill>
                </a:rPr>
                <a:t>Retail: Understanding customer purchasing </a:t>
              </a:r>
              <a:r>
                <a:rPr lang="en-GB" sz="1200" dirty="0" err="1">
                  <a:solidFill>
                    <a:schemeClr val="bg1"/>
                  </a:solidFill>
                </a:rPr>
                <a:t>behavior</a:t>
              </a:r>
              <a:r>
                <a:rPr lang="en-GB" sz="1200" dirty="0">
                  <a:solidFill>
                    <a:schemeClr val="bg1"/>
                  </a:solidFill>
                </a:rPr>
                <a:t> to optimize inventory.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CFF6668-C887-D295-536B-B031187A1DCD}"/>
              </a:ext>
            </a:extLst>
          </p:cNvPr>
          <p:cNvGraphicFramePr>
            <a:graphicFrameLocks noGrp="1"/>
          </p:cNvGraphicFramePr>
          <p:nvPr/>
        </p:nvGraphicFramePr>
        <p:xfrm>
          <a:off x="2186254" y="5144133"/>
          <a:ext cx="3878832" cy="12039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39416">
                  <a:extLst>
                    <a:ext uri="{9D8B030D-6E8A-4147-A177-3AD203B41FA5}">
                      <a16:colId xmlns:a16="http://schemas.microsoft.com/office/drawing/2014/main" val="1678783087"/>
                    </a:ext>
                  </a:extLst>
                </a:gridCol>
                <a:gridCol w="1939416">
                  <a:extLst>
                    <a:ext uri="{9D8B030D-6E8A-4147-A177-3AD203B41FA5}">
                      <a16:colId xmlns:a16="http://schemas.microsoft.com/office/drawing/2014/main" val="1127797700"/>
                    </a:ext>
                  </a:extLst>
                </a:gridCol>
              </a:tblGrid>
              <a:tr h="195971">
                <a:tc>
                  <a:txBody>
                    <a:bodyPr/>
                    <a:lstStyle/>
                    <a:p>
                      <a:r>
                        <a:rPr lang="en-US" sz="1000" dirty="0"/>
                        <a:t>Python</a:t>
                      </a:r>
                      <a:endParaRPr lang="en-001" sz="10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</a:t>
                      </a:r>
                      <a:endParaRPr lang="en-001" sz="10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78710"/>
                  </a:ext>
                </a:extLst>
              </a:tr>
              <a:tr h="195971">
                <a:tc>
                  <a:txBody>
                    <a:bodyPr/>
                    <a:lstStyle/>
                    <a:p>
                      <a:r>
                        <a:rPr lang="en-US" sz="900" dirty="0"/>
                        <a:t>pandas: Data manipulation and analysis.</a:t>
                      </a:r>
                      <a:endParaRPr lang="en-001" sz="9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ggplot2: Advanced plotting system.</a:t>
                      </a:r>
                      <a:endParaRPr lang="en-001" sz="9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56888"/>
                  </a:ext>
                </a:extLst>
              </a:tr>
              <a:tr h="195971">
                <a:tc>
                  <a:txBody>
                    <a:bodyPr/>
                    <a:lstStyle/>
                    <a:p>
                      <a:r>
                        <a:rPr lang="en-US" sz="900" dirty="0"/>
                        <a:t>matplotlib &amp; seaborn: Data visualization.</a:t>
                      </a:r>
                      <a:endParaRPr lang="en-001" sz="9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dplyr</a:t>
                      </a:r>
                      <a:r>
                        <a:rPr lang="en-US" sz="900" dirty="0"/>
                        <a:t>: Data manipulation.</a:t>
                      </a:r>
                      <a:endParaRPr lang="en-001" sz="9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613238"/>
                  </a:ext>
                </a:extLst>
              </a:tr>
              <a:tr h="195971">
                <a:tc>
                  <a:txBody>
                    <a:bodyPr/>
                    <a:lstStyle/>
                    <a:p>
                      <a:r>
                        <a:rPr lang="en-US" sz="900" dirty="0" err="1"/>
                        <a:t>plotly</a:t>
                      </a:r>
                      <a:r>
                        <a:rPr lang="en-US" sz="900" dirty="0"/>
                        <a:t>: Interactive visualizations.</a:t>
                      </a:r>
                      <a:endParaRPr lang="en-001" sz="9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SmartEDA</a:t>
                      </a:r>
                      <a:r>
                        <a:rPr lang="en-US" sz="900" dirty="0"/>
                        <a:t>: Automated EDA</a:t>
                      </a:r>
                      <a:endParaRPr lang="en-001" sz="9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442029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8697FF7-5FC3-C3B3-BCB7-E74F0D9535B4}"/>
              </a:ext>
            </a:extLst>
          </p:cNvPr>
          <p:cNvGrpSpPr/>
          <p:nvPr/>
        </p:nvGrpSpPr>
        <p:grpSpPr>
          <a:xfrm>
            <a:off x="784671" y="2071433"/>
            <a:ext cx="3390580" cy="2681717"/>
            <a:chOff x="823195" y="2711513"/>
            <a:chExt cx="3332374" cy="382159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AFB305-B4C2-A0F2-4009-98F2A4E4E7AA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13" name="Rectangle: Rounded Corners 3">
                <a:extLst>
                  <a:ext uri="{FF2B5EF4-FFF2-40B4-BE49-F238E27FC236}">
                    <a16:creationId xmlns:a16="http://schemas.microsoft.com/office/drawing/2014/main" id="{740F35D6-278D-0D1A-8E56-27AB2B4FF938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A084FD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4" name="Rectangle: Rounded Corners 3">
                <a:extLst>
                  <a:ext uri="{FF2B5EF4-FFF2-40B4-BE49-F238E27FC236}">
                    <a16:creationId xmlns:a16="http://schemas.microsoft.com/office/drawing/2014/main" id="{02596D05-754D-94AB-63D1-05DA295E55A3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ED5C3E-609A-CE2F-0D9B-66BF74AAA6C3}"/>
                </a:ext>
              </a:extLst>
            </p:cNvPr>
            <p:cNvSpPr txBox="1"/>
            <p:nvPr/>
          </p:nvSpPr>
          <p:spPr>
            <a:xfrm>
              <a:off x="985808" y="2851637"/>
              <a:ext cx="2846765" cy="526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Univariate Analysis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C02F1B-A044-5667-170E-EDD76329EBBD}"/>
                </a:ext>
              </a:extLst>
            </p:cNvPr>
            <p:cNvSpPr txBox="1"/>
            <p:nvPr/>
          </p:nvSpPr>
          <p:spPr>
            <a:xfrm>
              <a:off x="949860" y="3483332"/>
              <a:ext cx="3125099" cy="2894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Purpose</a:t>
              </a:r>
              <a:r>
                <a:rPr lang="en-GB" sz="1400" dirty="0">
                  <a:solidFill>
                    <a:schemeClr val="bg1"/>
                  </a:solidFill>
                </a:rPr>
                <a:t>: </a:t>
              </a:r>
              <a:r>
                <a:rPr lang="en-GB" sz="1400" dirty="0" err="1">
                  <a:solidFill>
                    <a:schemeClr val="bg1"/>
                  </a:solidFill>
                </a:rPr>
                <a:t>Analyze</a:t>
              </a:r>
              <a:r>
                <a:rPr lang="en-GB" sz="1400" dirty="0">
                  <a:solidFill>
                    <a:schemeClr val="bg1"/>
                  </a:solidFill>
                </a:rPr>
                <a:t> individual variables to understand their distribution.</a:t>
              </a:r>
            </a:p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Methods</a:t>
              </a:r>
              <a:r>
                <a:rPr lang="en-GB" sz="1400" dirty="0">
                  <a:solidFill>
                    <a:schemeClr val="bg1"/>
                  </a:solidFill>
                </a:rPr>
                <a:t>:</a:t>
              </a:r>
            </a:p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Histograms</a:t>
              </a:r>
              <a:r>
                <a:rPr lang="en-GB" sz="1400" dirty="0">
                  <a:solidFill>
                    <a:schemeClr val="bg1"/>
                  </a:solidFill>
                </a:rPr>
                <a:t>: Visualize the frequency distribution of a variable.</a:t>
              </a:r>
            </a:p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Box Plots</a:t>
              </a:r>
              <a:r>
                <a:rPr lang="en-GB" sz="1400" dirty="0">
                  <a:solidFill>
                    <a:schemeClr val="bg1"/>
                  </a:solidFill>
                </a:rPr>
                <a:t>: Identify the median, quartiles, and potential outliers.</a:t>
              </a:r>
            </a:p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Summary Statistics</a:t>
              </a:r>
              <a:r>
                <a:rPr lang="en-GB" sz="1400" dirty="0">
                  <a:solidFill>
                    <a:schemeClr val="bg1"/>
                  </a:solidFill>
                </a:rPr>
                <a:t>: Compute mean, median, mode, variance, etc.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EA4E690-1BF7-FA89-BEA4-805D13D03CC5}"/>
              </a:ext>
            </a:extLst>
          </p:cNvPr>
          <p:cNvGrpSpPr/>
          <p:nvPr/>
        </p:nvGrpSpPr>
        <p:grpSpPr>
          <a:xfrm>
            <a:off x="4450974" y="2055074"/>
            <a:ext cx="3390580" cy="2681717"/>
            <a:chOff x="823195" y="2711513"/>
            <a:chExt cx="3332374" cy="382159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F1F1A14-2173-0017-0BDB-57B658F06CF7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34" name="Rectangle: Rounded Corners 3">
                <a:extLst>
                  <a:ext uri="{FF2B5EF4-FFF2-40B4-BE49-F238E27FC236}">
                    <a16:creationId xmlns:a16="http://schemas.microsoft.com/office/drawing/2014/main" id="{D2EAD17A-5420-F283-36D2-C351AE5712DB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FFFF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36" name="Rectangle: Rounded Corners 3">
                <a:extLst>
                  <a:ext uri="{FF2B5EF4-FFF2-40B4-BE49-F238E27FC236}">
                    <a16:creationId xmlns:a16="http://schemas.microsoft.com/office/drawing/2014/main" id="{D836CBCB-33F9-F250-6583-AC2D1A0A6EA5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2D0D66-DBDC-E187-AEE3-CB942C5ADA24}"/>
                </a:ext>
              </a:extLst>
            </p:cNvPr>
            <p:cNvSpPr txBox="1"/>
            <p:nvPr/>
          </p:nvSpPr>
          <p:spPr>
            <a:xfrm>
              <a:off x="985808" y="2851637"/>
              <a:ext cx="2846765" cy="526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Bivariate Analysis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815C745-5EC6-7F1E-69D0-F6183100CC15}"/>
                </a:ext>
              </a:extLst>
            </p:cNvPr>
            <p:cNvSpPr txBox="1"/>
            <p:nvPr/>
          </p:nvSpPr>
          <p:spPr>
            <a:xfrm>
              <a:off x="949860" y="3483332"/>
              <a:ext cx="3125099" cy="2894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Purpose</a:t>
              </a:r>
              <a:r>
                <a:rPr lang="en-GB" sz="1400" dirty="0">
                  <a:solidFill>
                    <a:schemeClr val="bg1"/>
                  </a:solidFill>
                </a:rPr>
                <a:t>: Explore relationships between two variables.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Methods</a:t>
              </a:r>
              <a:r>
                <a:rPr lang="en-GB" sz="1400" dirty="0">
                  <a:solidFill>
                    <a:schemeClr val="bg1"/>
                  </a:solidFill>
                </a:rPr>
                <a:t>: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Scatter Plots</a:t>
              </a:r>
              <a:r>
                <a:rPr lang="en-GB" sz="1400" dirty="0">
                  <a:solidFill>
                    <a:schemeClr val="bg1"/>
                  </a:solidFill>
                </a:rPr>
                <a:t>: Assess the correlation between two continuous variables.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Bar Charts</a:t>
              </a:r>
              <a:r>
                <a:rPr lang="en-GB" sz="1400" dirty="0">
                  <a:solidFill>
                    <a:schemeClr val="bg1"/>
                  </a:solidFill>
                </a:rPr>
                <a:t>: Compare categorical variables.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Correlation Coefficients</a:t>
              </a:r>
              <a:r>
                <a:rPr lang="en-GB" sz="1400" dirty="0">
                  <a:solidFill>
                    <a:schemeClr val="bg1"/>
                  </a:solidFill>
                </a:rPr>
                <a:t>: Quantify the strength and direction of relationships.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9D3747-8BE3-28AA-097D-4212FDAFF73F}"/>
              </a:ext>
            </a:extLst>
          </p:cNvPr>
          <p:cNvGrpSpPr/>
          <p:nvPr/>
        </p:nvGrpSpPr>
        <p:grpSpPr>
          <a:xfrm>
            <a:off x="8094284" y="2043585"/>
            <a:ext cx="3390580" cy="2681717"/>
            <a:chOff x="823195" y="2711513"/>
            <a:chExt cx="3332374" cy="3821598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D668764-2B3D-1E6B-7B80-374FC744C95F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41" name="Rectangle: Rounded Corners 3">
                <a:extLst>
                  <a:ext uri="{FF2B5EF4-FFF2-40B4-BE49-F238E27FC236}">
                    <a16:creationId xmlns:a16="http://schemas.microsoft.com/office/drawing/2014/main" id="{3965B618-F815-3375-9469-7D4D07C113B7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BF7FB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42" name="Rectangle: Rounded Corners 3">
                <a:extLst>
                  <a:ext uri="{FF2B5EF4-FFF2-40B4-BE49-F238E27FC236}">
                    <a16:creationId xmlns:a16="http://schemas.microsoft.com/office/drawing/2014/main" id="{BA24164C-33E8-326D-5A70-7EB55E877DC9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31E519-F8B4-0FB7-86F8-7CB3ECEE8F1C}"/>
                </a:ext>
              </a:extLst>
            </p:cNvPr>
            <p:cNvSpPr txBox="1"/>
            <p:nvPr/>
          </p:nvSpPr>
          <p:spPr>
            <a:xfrm>
              <a:off x="985808" y="2851637"/>
              <a:ext cx="2846765" cy="526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Multivariate Analysis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1B01C55-166B-C7DE-B100-5DC552BE0F99}"/>
                </a:ext>
              </a:extLst>
            </p:cNvPr>
            <p:cNvSpPr txBox="1"/>
            <p:nvPr/>
          </p:nvSpPr>
          <p:spPr>
            <a:xfrm>
              <a:off x="949860" y="3483332"/>
              <a:ext cx="3125099" cy="2894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Purpose</a:t>
              </a:r>
              <a:r>
                <a:rPr lang="en-GB" sz="1400" dirty="0">
                  <a:solidFill>
                    <a:schemeClr val="bg1"/>
                  </a:solidFill>
                </a:rPr>
                <a:t>: Examine interactions among more than two variables.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Methods</a:t>
              </a:r>
              <a:r>
                <a:rPr lang="en-GB" sz="1400" dirty="0">
                  <a:solidFill>
                    <a:schemeClr val="bg1"/>
                  </a:solidFill>
                </a:rPr>
                <a:t>: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Heatmaps</a:t>
              </a:r>
              <a:r>
                <a:rPr lang="en-GB" sz="1400" dirty="0">
                  <a:solidFill>
                    <a:schemeClr val="bg1"/>
                  </a:solidFill>
                </a:rPr>
                <a:t>: Visualize correlation matrices.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Pair Plots</a:t>
              </a:r>
              <a:r>
                <a:rPr lang="en-GB" sz="1400" dirty="0">
                  <a:solidFill>
                    <a:schemeClr val="bg1"/>
                  </a:solidFill>
                </a:rPr>
                <a:t>: Display pairwise relationships between variables.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Dimensionality Reduction</a:t>
              </a:r>
              <a:r>
                <a:rPr lang="en-GB" sz="1400" dirty="0">
                  <a:solidFill>
                    <a:schemeClr val="bg1"/>
                  </a:solidFill>
                </a:rPr>
                <a:t>: Techniques like PCA to reduce complexity.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Picture 2" descr="IIT Mandi Logo">
            <a:extLst>
              <a:ext uri="{FF2B5EF4-FFF2-40B4-BE49-F238E27FC236}">
                <a16:creationId xmlns:a16="http://schemas.microsoft.com/office/drawing/2014/main" id="{3F28E372-D8AD-554E-D520-6EF756617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89" y="140570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744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CC3AC-47E6-DCE2-EE78-AFA2B5DCB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6FBFCB-1FA1-F3BA-53B4-441D85BA8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13164"/>
            <a:ext cx="10360152" cy="1179576"/>
          </a:xfrm>
        </p:spPr>
        <p:txBody>
          <a:bodyPr/>
          <a:lstStyle/>
          <a:p>
            <a:r>
              <a:rPr lang="en-GB" b="1" u="none" dirty="0">
                <a:solidFill>
                  <a:srgbClr val="FF0000"/>
                </a:solidFill>
              </a:rPr>
              <a:t>4. </a:t>
            </a:r>
            <a:r>
              <a:rPr lang="en-US" b="1" dirty="0">
                <a:solidFill>
                  <a:srgbClr val="FF0000"/>
                </a:solidFill>
                <a:latin typeface="Segoe UI" panose="020B0502040204020203" pitchFamily="34" charset="0"/>
                <a:ea typeface="Noto Sans" panose="020B0502040504020204" pitchFamily="34"/>
                <a:cs typeface="Segoe UI" panose="020B0502040204020203" pitchFamily="34" charset="0"/>
              </a:rPr>
              <a:t>Model building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BAEF29-53A0-2BB8-C008-9CCDCC0A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63D14B-AEB2-A6F8-56BC-BEF9A328C5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5923" y="1706880"/>
            <a:ext cx="10709188" cy="1179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Model building involves applying statistical or machine learning algorithms to processed data to extract insights, identify patterns, or make predictions. This step transforms data into actionable intelligence that supports decision-making.</a:t>
            </a:r>
            <a:endParaRPr lang="en-GB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95CBE4B-24C5-B465-9BDC-007B1D291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BAEFDD5-AB49-9019-0780-0B4E14F8630E}"/>
              </a:ext>
            </a:extLst>
          </p:cNvPr>
          <p:cNvGrpSpPr/>
          <p:nvPr/>
        </p:nvGrpSpPr>
        <p:grpSpPr>
          <a:xfrm>
            <a:off x="931231" y="5361958"/>
            <a:ext cx="5036639" cy="1270258"/>
            <a:chOff x="4709158" y="2178003"/>
            <a:chExt cx="2968755" cy="3676980"/>
          </a:xfrm>
          <a:effectLst/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0833A77-5FCD-BE75-DA7F-E221477C0B9B}"/>
                </a:ext>
              </a:extLst>
            </p:cNvPr>
            <p:cNvSpPr/>
            <p:nvPr/>
          </p:nvSpPr>
          <p:spPr>
            <a:xfrm>
              <a:off x="4709159" y="2178003"/>
              <a:ext cx="2968754" cy="3676980"/>
            </a:xfrm>
            <a:prstGeom prst="roundRect">
              <a:avLst>
                <a:gd name="adj" fmla="val 4141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00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8CB47A4-AE17-5359-A57C-E368E7CB91C0}"/>
                </a:ext>
              </a:extLst>
            </p:cNvPr>
            <p:cNvSpPr txBox="1"/>
            <p:nvPr/>
          </p:nvSpPr>
          <p:spPr>
            <a:xfrm>
              <a:off x="4709158" y="2670563"/>
              <a:ext cx="666877" cy="26727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🛠️ Tools &amp; Libraries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3E6DFA4-16D1-720A-71C7-C419CCF31A6A}"/>
              </a:ext>
            </a:extLst>
          </p:cNvPr>
          <p:cNvGrpSpPr/>
          <p:nvPr/>
        </p:nvGrpSpPr>
        <p:grpSpPr>
          <a:xfrm>
            <a:off x="6305400" y="5361958"/>
            <a:ext cx="4989033" cy="1270258"/>
            <a:chOff x="4709159" y="2178001"/>
            <a:chExt cx="2968754" cy="3676979"/>
          </a:xfrm>
          <a:effectLst/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B4650E7-A8E7-074D-CA38-A83E796E8ED7}"/>
                </a:ext>
              </a:extLst>
            </p:cNvPr>
            <p:cNvSpPr/>
            <p:nvPr/>
          </p:nvSpPr>
          <p:spPr>
            <a:xfrm>
              <a:off x="4709159" y="2178001"/>
              <a:ext cx="2968754" cy="3676979"/>
            </a:xfrm>
            <a:prstGeom prst="roundRect">
              <a:avLst>
                <a:gd name="adj" fmla="val 4141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00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672800C-482A-A344-3180-10E7534B679D}"/>
                </a:ext>
              </a:extLst>
            </p:cNvPr>
            <p:cNvSpPr txBox="1"/>
            <p:nvPr/>
          </p:nvSpPr>
          <p:spPr>
            <a:xfrm>
              <a:off x="4741807" y="2670561"/>
              <a:ext cx="879483" cy="26727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🌐 Real-World Applications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86D5463-D500-BF13-3AC3-6EACBDCAE257}"/>
                </a:ext>
              </a:extLst>
            </p:cNvPr>
            <p:cNvSpPr txBox="1"/>
            <p:nvPr/>
          </p:nvSpPr>
          <p:spPr>
            <a:xfrm>
              <a:off x="5605085" y="2266723"/>
              <a:ext cx="2052796" cy="34745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Finance: Credit scoring, fraud detection.</a:t>
              </a:r>
            </a:p>
            <a:p>
              <a:r>
                <a:rPr lang="en-GB" sz="1200" dirty="0">
                  <a:solidFill>
                    <a:schemeClr val="bg1"/>
                  </a:solidFill>
                </a:rPr>
                <a:t>Healthcare: Disease prediction</a:t>
              </a:r>
            </a:p>
            <a:p>
              <a:r>
                <a:rPr lang="en-GB" sz="1200" dirty="0">
                  <a:solidFill>
                    <a:schemeClr val="bg1"/>
                  </a:solidFill>
                </a:rPr>
                <a:t>Retail: Inventory management, customer churn prediction.</a:t>
              </a:r>
            </a:p>
            <a:p>
              <a:r>
                <a:rPr lang="en-GB" sz="1200" dirty="0">
                  <a:solidFill>
                    <a:schemeClr val="bg1"/>
                  </a:solidFill>
                </a:rPr>
                <a:t>Marketing: Customer segmentation, campaign response </a:t>
              </a:r>
              <a:r>
                <a:rPr lang="en-GB" sz="1200" dirty="0" err="1">
                  <a:solidFill>
                    <a:schemeClr val="bg1"/>
                  </a:solidFill>
                </a:rPr>
                <a:t>modeling</a:t>
              </a:r>
              <a:r>
                <a:rPr lang="en-GB" sz="1200" dirty="0">
                  <a:solidFill>
                    <a:schemeClr val="bg1"/>
                  </a:solidFill>
                </a:rPr>
                <a:t>.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325876B-7ED1-5317-3168-8F875CBD1337}"/>
              </a:ext>
            </a:extLst>
          </p:cNvPr>
          <p:cNvSpPr txBox="1"/>
          <p:nvPr/>
        </p:nvSpPr>
        <p:spPr>
          <a:xfrm>
            <a:off x="2100271" y="5425808"/>
            <a:ext cx="3829949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Python</a:t>
            </a:r>
            <a:r>
              <a:rPr lang="en-GB" sz="1400" dirty="0">
                <a:solidFill>
                  <a:schemeClr val="bg1"/>
                </a:solidFill>
              </a:rPr>
              <a:t>: scikit-learn, </a:t>
            </a:r>
            <a:r>
              <a:rPr lang="en-GB" sz="1400" dirty="0" err="1">
                <a:solidFill>
                  <a:schemeClr val="bg1"/>
                </a:solidFill>
              </a:rPr>
              <a:t>statsmodels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xgboost</a:t>
            </a:r>
            <a:r>
              <a:rPr lang="en-GB" sz="1400" dirty="0">
                <a:solidFill>
                  <a:schemeClr val="bg1"/>
                </a:solidFill>
              </a:rPr>
              <a:t>, prophet.</a:t>
            </a:r>
          </a:p>
          <a:p>
            <a:r>
              <a:rPr lang="en-GB" sz="1400" b="1" dirty="0">
                <a:solidFill>
                  <a:schemeClr val="bg1"/>
                </a:solidFill>
              </a:rPr>
              <a:t>R</a:t>
            </a:r>
            <a:r>
              <a:rPr lang="en-GB" sz="1400" dirty="0">
                <a:solidFill>
                  <a:schemeClr val="bg1"/>
                </a:solidFill>
              </a:rPr>
              <a:t>: caret, forecast, </a:t>
            </a:r>
            <a:r>
              <a:rPr lang="en-GB" sz="1400" dirty="0" err="1">
                <a:solidFill>
                  <a:schemeClr val="bg1"/>
                </a:solidFill>
              </a:rPr>
              <a:t>randomForest</a:t>
            </a:r>
            <a:r>
              <a:rPr lang="en-GB" sz="1400" dirty="0">
                <a:solidFill>
                  <a:schemeClr val="bg1"/>
                </a:solidFill>
              </a:rPr>
              <a:t>.</a:t>
            </a:r>
          </a:p>
          <a:p>
            <a:r>
              <a:rPr lang="en-GB" sz="1400" b="1" dirty="0">
                <a:solidFill>
                  <a:schemeClr val="bg1"/>
                </a:solidFill>
              </a:rPr>
              <a:t>Platforms</a:t>
            </a:r>
            <a:r>
              <a:rPr lang="en-GB" sz="1400" dirty="0">
                <a:solidFill>
                  <a:schemeClr val="bg1"/>
                </a:solidFill>
              </a:rPr>
              <a:t>: Azure Machine Learning, Google Cloud AI Platform, Amazon SageMaker.</a:t>
            </a:r>
            <a:endParaRPr lang="en-001" sz="14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32ACB0D-A128-3F97-3EA3-91940C4A034D}"/>
              </a:ext>
            </a:extLst>
          </p:cNvPr>
          <p:cNvGrpSpPr/>
          <p:nvPr/>
        </p:nvGrpSpPr>
        <p:grpSpPr>
          <a:xfrm>
            <a:off x="737577" y="2660587"/>
            <a:ext cx="2476970" cy="2515390"/>
            <a:chOff x="823195" y="2711513"/>
            <a:chExt cx="3332374" cy="382159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DC71B0F-CB7B-5CDF-AF93-EFB8D3D7844E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14" name="Rectangle: Rounded Corners 3">
                <a:extLst>
                  <a:ext uri="{FF2B5EF4-FFF2-40B4-BE49-F238E27FC236}">
                    <a16:creationId xmlns:a16="http://schemas.microsoft.com/office/drawing/2014/main" id="{3E3B7885-5825-0A4B-131A-4EFE93561FD7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5" name="Rectangle: Rounded Corners 3">
                <a:extLst>
                  <a:ext uri="{FF2B5EF4-FFF2-40B4-BE49-F238E27FC236}">
                    <a16:creationId xmlns:a16="http://schemas.microsoft.com/office/drawing/2014/main" id="{64282081-B3C2-CDF4-A63D-AC4E6D54DFF5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CDF6F7-2FB5-D30C-5D63-956960C097ED}"/>
                </a:ext>
              </a:extLst>
            </p:cNvPr>
            <p:cNvSpPr txBox="1"/>
            <p:nvPr/>
          </p:nvSpPr>
          <p:spPr>
            <a:xfrm>
              <a:off x="979816" y="2834263"/>
              <a:ext cx="284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Regression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00C2DB-1EF5-C3A0-270C-1BDEA9761829}"/>
                </a:ext>
              </a:extLst>
            </p:cNvPr>
            <p:cNvSpPr txBox="1"/>
            <p:nvPr/>
          </p:nvSpPr>
          <p:spPr>
            <a:xfrm>
              <a:off x="991448" y="3404254"/>
              <a:ext cx="3050200" cy="29458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Purpose</a:t>
              </a:r>
              <a:r>
                <a:rPr lang="en-GB" sz="1200" dirty="0">
                  <a:solidFill>
                    <a:schemeClr val="bg1"/>
                  </a:solidFill>
                </a:rPr>
                <a:t>: Predict continuous numerical outcomes.</a:t>
              </a: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Examples</a:t>
              </a:r>
              <a:r>
                <a:rPr lang="en-GB" sz="1200" dirty="0">
                  <a:solidFill>
                    <a:schemeClr val="bg1"/>
                  </a:solidFill>
                </a:rPr>
                <a:t>: Predicting housing prices based on features like size and location.</a:t>
              </a:r>
            </a:p>
            <a:p>
              <a:pPr algn="just"/>
              <a:r>
                <a:rPr lang="en-GB" sz="1200" dirty="0">
                  <a:solidFill>
                    <a:schemeClr val="bg1"/>
                  </a:solidFill>
                </a:rPr>
                <a:t>Estimating sales revenue based on advertising spend.</a:t>
              </a: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Algorithms</a:t>
              </a:r>
              <a:r>
                <a:rPr lang="en-GB" sz="1200" dirty="0">
                  <a:solidFill>
                    <a:schemeClr val="bg1"/>
                  </a:solidFill>
                </a:rPr>
                <a:t>: Linear Regression, Ridge Regression, Lasso Regression.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49DB04B-84A1-BE01-56CA-3B9B79C29CD8}"/>
              </a:ext>
            </a:extLst>
          </p:cNvPr>
          <p:cNvGrpSpPr/>
          <p:nvPr/>
        </p:nvGrpSpPr>
        <p:grpSpPr>
          <a:xfrm>
            <a:off x="3512398" y="2660587"/>
            <a:ext cx="2476970" cy="2515390"/>
            <a:chOff x="823195" y="2711513"/>
            <a:chExt cx="3332374" cy="382159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1DE2FBE-13C6-0067-B05C-35CFAAD0A341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20" name="Rectangle: Rounded Corners 3">
                <a:extLst>
                  <a:ext uri="{FF2B5EF4-FFF2-40B4-BE49-F238E27FC236}">
                    <a16:creationId xmlns:a16="http://schemas.microsoft.com/office/drawing/2014/main" id="{CD344A65-205B-9801-0A8C-05366EC11BC8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21" name="Rectangle: Rounded Corners 3">
                <a:extLst>
                  <a:ext uri="{FF2B5EF4-FFF2-40B4-BE49-F238E27FC236}">
                    <a16:creationId xmlns:a16="http://schemas.microsoft.com/office/drawing/2014/main" id="{0C3C7B01-8A2B-4DC1-E6CB-2C6DFDD0CA70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F2F790-3D9F-67E3-C8D7-3D381418666F}"/>
                </a:ext>
              </a:extLst>
            </p:cNvPr>
            <p:cNvSpPr txBox="1"/>
            <p:nvPr/>
          </p:nvSpPr>
          <p:spPr>
            <a:xfrm>
              <a:off x="979816" y="2834264"/>
              <a:ext cx="2846764" cy="5611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Classification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24D7DFE-B584-EF31-A9E8-235D0D6A1B8C}"/>
                </a:ext>
              </a:extLst>
            </p:cNvPr>
            <p:cNvSpPr txBox="1"/>
            <p:nvPr/>
          </p:nvSpPr>
          <p:spPr>
            <a:xfrm>
              <a:off x="991448" y="3394993"/>
              <a:ext cx="3050200" cy="2665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Purpose</a:t>
              </a:r>
              <a:r>
                <a:rPr lang="en-GB" sz="1200" dirty="0">
                  <a:solidFill>
                    <a:schemeClr val="bg1"/>
                  </a:solidFill>
                </a:rPr>
                <a:t>: Categorize data into predefined classes or labels.</a:t>
              </a: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Examples</a:t>
              </a:r>
              <a:r>
                <a:rPr lang="en-GB" sz="1200" dirty="0">
                  <a:solidFill>
                    <a:schemeClr val="bg1"/>
                  </a:solidFill>
                </a:rPr>
                <a:t>: Email spam detection (spam vs. not spam).</a:t>
              </a:r>
            </a:p>
            <a:p>
              <a:pPr algn="just"/>
              <a:r>
                <a:rPr lang="en-GB" sz="1200" dirty="0">
                  <a:solidFill>
                    <a:schemeClr val="bg1"/>
                  </a:solidFill>
                </a:rPr>
                <a:t>Diagnosing diseases based on patient symptoms.</a:t>
              </a: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Algorithms</a:t>
              </a:r>
              <a:r>
                <a:rPr lang="en-GB" sz="1200" dirty="0">
                  <a:solidFill>
                    <a:schemeClr val="bg1"/>
                  </a:solidFill>
                </a:rPr>
                <a:t>: Logistic Regression, Decision Trees, Support Vector Machines.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A1734F-82E5-1145-6A9A-6E661505BCBC}"/>
              </a:ext>
            </a:extLst>
          </p:cNvPr>
          <p:cNvGrpSpPr/>
          <p:nvPr/>
        </p:nvGrpSpPr>
        <p:grpSpPr>
          <a:xfrm>
            <a:off x="6290500" y="2652915"/>
            <a:ext cx="2476970" cy="2515390"/>
            <a:chOff x="823195" y="2711513"/>
            <a:chExt cx="3332374" cy="382159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ABE0E51-08C4-C6C5-DEED-EB465CD5A456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46" name="Rectangle: Rounded Corners 3">
                <a:extLst>
                  <a:ext uri="{FF2B5EF4-FFF2-40B4-BE49-F238E27FC236}">
                    <a16:creationId xmlns:a16="http://schemas.microsoft.com/office/drawing/2014/main" id="{01EC3B3E-C0EF-E463-1E9B-6F80BC978FE8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>
                  <a:lumMod val="5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47" name="Rectangle: Rounded Corners 3">
                <a:extLst>
                  <a:ext uri="{FF2B5EF4-FFF2-40B4-BE49-F238E27FC236}">
                    <a16:creationId xmlns:a16="http://schemas.microsoft.com/office/drawing/2014/main" id="{20EDC112-626B-8351-8D38-CCA8738CF4C1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8DE9C14-4E8C-0DD3-36C4-C39529597147}"/>
                </a:ext>
              </a:extLst>
            </p:cNvPr>
            <p:cNvSpPr txBox="1"/>
            <p:nvPr/>
          </p:nvSpPr>
          <p:spPr>
            <a:xfrm>
              <a:off x="979816" y="2834264"/>
              <a:ext cx="2846764" cy="5611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Clustering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5605D0D-5528-FE9E-CF39-8D05F685E0F6}"/>
                </a:ext>
              </a:extLst>
            </p:cNvPr>
            <p:cNvSpPr txBox="1"/>
            <p:nvPr/>
          </p:nvSpPr>
          <p:spPr>
            <a:xfrm>
              <a:off x="998710" y="3418274"/>
              <a:ext cx="3050200" cy="23847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Purpose</a:t>
              </a:r>
              <a:r>
                <a:rPr lang="en-GB" sz="1200" dirty="0">
                  <a:solidFill>
                    <a:schemeClr val="bg1"/>
                  </a:solidFill>
                </a:rPr>
                <a:t>: Group similar data points without predefined labels.</a:t>
              </a: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Examples</a:t>
              </a:r>
              <a:r>
                <a:rPr lang="en-GB" sz="1200" dirty="0">
                  <a:solidFill>
                    <a:schemeClr val="bg1"/>
                  </a:solidFill>
                </a:rPr>
                <a:t>: Customer segmentation in marketing. Grouping news articles by topic.</a:t>
              </a: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Algorithms</a:t>
              </a:r>
              <a:r>
                <a:rPr lang="en-GB" sz="1200" dirty="0">
                  <a:solidFill>
                    <a:schemeClr val="bg1"/>
                  </a:solidFill>
                </a:rPr>
                <a:t>: K-Means, Hierarchical Clustering, DBSCAN.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D71CFD7-A0F2-9EB4-FC6B-24B7EED468E6}"/>
              </a:ext>
            </a:extLst>
          </p:cNvPr>
          <p:cNvGrpSpPr/>
          <p:nvPr/>
        </p:nvGrpSpPr>
        <p:grpSpPr>
          <a:xfrm>
            <a:off x="9057039" y="2660587"/>
            <a:ext cx="2476970" cy="2515390"/>
            <a:chOff x="823195" y="2711513"/>
            <a:chExt cx="3332374" cy="3821598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C77F8F8-8365-CFC7-BB58-EC09266334F0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53" name="Rectangle: Rounded Corners 3">
                <a:extLst>
                  <a:ext uri="{FF2B5EF4-FFF2-40B4-BE49-F238E27FC236}">
                    <a16:creationId xmlns:a16="http://schemas.microsoft.com/office/drawing/2014/main" id="{ADA0BB40-6741-62CA-B836-C47713822660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54" name="Rectangle: Rounded Corners 3">
                <a:extLst>
                  <a:ext uri="{FF2B5EF4-FFF2-40B4-BE49-F238E27FC236}">
                    <a16:creationId xmlns:a16="http://schemas.microsoft.com/office/drawing/2014/main" id="{F7589CC7-D9E3-7F60-ABC2-F9EBBAC0BECB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7D84EAC-528E-C3FA-A11C-001CA2599536}"/>
                </a:ext>
              </a:extLst>
            </p:cNvPr>
            <p:cNvSpPr txBox="1"/>
            <p:nvPr/>
          </p:nvSpPr>
          <p:spPr>
            <a:xfrm>
              <a:off x="979816" y="2834264"/>
              <a:ext cx="2846764" cy="5611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Forecasting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7D94C25-01D8-A7B7-3E53-030DF5D75FB6}"/>
                </a:ext>
              </a:extLst>
            </p:cNvPr>
            <p:cNvSpPr txBox="1"/>
            <p:nvPr/>
          </p:nvSpPr>
          <p:spPr>
            <a:xfrm>
              <a:off x="979816" y="3436690"/>
              <a:ext cx="3050200" cy="2104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Purpose</a:t>
              </a:r>
              <a:r>
                <a:rPr lang="en-GB" sz="1200" dirty="0">
                  <a:solidFill>
                    <a:schemeClr val="bg1"/>
                  </a:solidFill>
                </a:rPr>
                <a:t>: Predict future data points based on historical trends.</a:t>
              </a: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Examples</a:t>
              </a:r>
              <a:r>
                <a:rPr lang="en-GB" sz="1200" dirty="0">
                  <a:solidFill>
                    <a:schemeClr val="bg1"/>
                  </a:solidFill>
                </a:rPr>
                <a:t>: Forecasting monthly sales figures. </a:t>
              </a:r>
            </a:p>
            <a:p>
              <a:pPr algn="just"/>
              <a:r>
                <a:rPr lang="en-GB" sz="1200" dirty="0">
                  <a:solidFill>
                    <a:schemeClr val="bg1"/>
                  </a:solidFill>
                </a:rPr>
                <a:t>Predicting stock market trends.</a:t>
              </a: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Algorithms</a:t>
              </a:r>
              <a:r>
                <a:rPr lang="en-GB" sz="1200" dirty="0">
                  <a:solidFill>
                    <a:schemeClr val="bg1"/>
                  </a:solidFill>
                </a:rPr>
                <a:t>: ARIMA, Prophet, Exponential Smoothing.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F2D6A947-C2BB-7181-CF93-E50068D36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695" y="269063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64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086C7-4786-64DB-B937-50B61594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8710D5-3F94-7662-58CF-7D643219C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13164"/>
            <a:ext cx="10360152" cy="1179576"/>
          </a:xfrm>
        </p:spPr>
        <p:txBody>
          <a:bodyPr/>
          <a:lstStyle/>
          <a:p>
            <a:r>
              <a:rPr lang="en-GB" b="1" u="none" dirty="0">
                <a:solidFill>
                  <a:srgbClr val="FF0000"/>
                </a:solidFill>
              </a:rPr>
              <a:t>5. </a:t>
            </a:r>
            <a:r>
              <a:rPr lang="en-US" b="1" dirty="0">
                <a:solidFill>
                  <a:srgbClr val="FF0000"/>
                </a:solidFill>
                <a:latin typeface="Segoe UI" panose="020B0502040204020203" pitchFamily="34" charset="0"/>
                <a:ea typeface="Noto Sans" panose="020B0502040504020204" pitchFamily="34"/>
                <a:cs typeface="Segoe UI" panose="020B0502040204020203" pitchFamily="34" charset="0"/>
              </a:rPr>
              <a:t>Model evaluation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365DBC-66C6-C994-997A-6B2104D9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C05839-3E99-5667-CC90-085AB28C15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5924" y="1706880"/>
            <a:ext cx="7169363" cy="1179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Model evaluation assesses how well a model performs on unseen data. It helps in understanding the model's predictive power and generalization capability.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B57F32C6-DA96-A11C-FC1C-365493DC0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DA434A-F784-6A88-7640-D23A4D600303}"/>
              </a:ext>
            </a:extLst>
          </p:cNvPr>
          <p:cNvGrpSpPr/>
          <p:nvPr/>
        </p:nvGrpSpPr>
        <p:grpSpPr>
          <a:xfrm>
            <a:off x="823195" y="2711513"/>
            <a:ext cx="3356839" cy="3829045"/>
            <a:chOff x="823195" y="2711513"/>
            <a:chExt cx="3356839" cy="382904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8BCFCE-387D-A618-D776-C8D29821914D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23" name="Rectangle: Rounded Corners 3">
                <a:extLst>
                  <a:ext uri="{FF2B5EF4-FFF2-40B4-BE49-F238E27FC236}">
                    <a16:creationId xmlns:a16="http://schemas.microsoft.com/office/drawing/2014/main" id="{B50B207E-EE59-A311-D1E0-E36E67B4681A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24" name="Rectangle: Rounded Corners 3">
                <a:extLst>
                  <a:ext uri="{FF2B5EF4-FFF2-40B4-BE49-F238E27FC236}">
                    <a16:creationId xmlns:a16="http://schemas.microsoft.com/office/drawing/2014/main" id="{D1A4041C-1D89-5ADE-A804-A67F5D13A58B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7C1F98-8FC6-A0E9-1CF2-373CC0A82623}"/>
                </a:ext>
              </a:extLst>
            </p:cNvPr>
            <p:cNvSpPr txBox="1"/>
            <p:nvPr/>
          </p:nvSpPr>
          <p:spPr>
            <a:xfrm>
              <a:off x="979816" y="2834263"/>
              <a:ext cx="2846765" cy="3858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📏 Key Evaluation Metrics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172E7F-8FD4-94C8-954A-65CB0C5C2608}"/>
                </a:ext>
              </a:extLst>
            </p:cNvPr>
            <p:cNvSpPr txBox="1"/>
            <p:nvPr/>
          </p:nvSpPr>
          <p:spPr>
            <a:xfrm>
              <a:off x="991447" y="3293115"/>
              <a:ext cx="3188587" cy="3247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For Regression Models:</a:t>
              </a:r>
            </a:p>
            <a:p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Root Mean Squared Error (RMSE): </a:t>
              </a:r>
              <a:r>
                <a:rPr lang="en-GB" sz="1400" dirty="0">
                  <a:solidFill>
                    <a:schemeClr val="bg1"/>
                  </a:solidFill>
                </a:rPr>
                <a:t>Measures the average magnitude of the errors between predicted and actual values.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Mean Absolute Error (MAE): </a:t>
              </a:r>
              <a:r>
                <a:rPr lang="en-GB" sz="1400" dirty="0">
                  <a:solidFill>
                    <a:schemeClr val="bg1"/>
                  </a:solidFill>
                </a:rPr>
                <a:t>Average of absolute differences between predicted and actual values.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R-squared (R²)</a:t>
              </a:r>
              <a:r>
                <a:rPr lang="en-GB" sz="1400" dirty="0">
                  <a:solidFill>
                    <a:schemeClr val="bg1"/>
                  </a:solidFill>
                </a:rPr>
                <a:t>: Proportion of variance in the dependent variable predictable from the independent variables.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96907F-7790-E923-A861-92030CD8ACED}"/>
              </a:ext>
            </a:extLst>
          </p:cNvPr>
          <p:cNvGrpSpPr/>
          <p:nvPr/>
        </p:nvGrpSpPr>
        <p:grpSpPr>
          <a:xfrm>
            <a:off x="4441379" y="2711513"/>
            <a:ext cx="3351571" cy="3821598"/>
            <a:chOff x="823195" y="2711513"/>
            <a:chExt cx="3351571" cy="382159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CEEA91C-1A5B-2CCD-40E5-A02D636D5200}"/>
                </a:ext>
              </a:extLst>
            </p:cNvPr>
            <p:cNvGrpSpPr/>
            <p:nvPr/>
          </p:nvGrpSpPr>
          <p:grpSpPr>
            <a:xfrm>
              <a:off x="823195" y="2711513"/>
              <a:ext cx="3332374" cy="3821598"/>
              <a:chOff x="700645" y="2654160"/>
              <a:chExt cx="2949297" cy="3738401"/>
            </a:xfrm>
          </p:grpSpPr>
          <p:sp>
            <p:nvSpPr>
              <p:cNvPr id="30" name="Rectangle: Rounded Corners 3">
                <a:extLst>
                  <a:ext uri="{FF2B5EF4-FFF2-40B4-BE49-F238E27FC236}">
                    <a16:creationId xmlns:a16="http://schemas.microsoft.com/office/drawing/2014/main" id="{D5655C48-2EEC-0B66-4B1D-1ED7A0208C79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>
                  <a:lumMod val="65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31" name="Rectangle: Rounded Corners 3">
                <a:extLst>
                  <a:ext uri="{FF2B5EF4-FFF2-40B4-BE49-F238E27FC236}">
                    <a16:creationId xmlns:a16="http://schemas.microsoft.com/office/drawing/2014/main" id="{A21FFD84-69FA-1F12-7CA8-C7653D142884}"/>
                  </a:ext>
                </a:extLst>
              </p:cNvPr>
              <p:cNvSpPr/>
              <p:nvPr/>
            </p:nvSpPr>
            <p:spPr>
              <a:xfrm>
                <a:off x="761588" y="2654160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7B99D5-0090-516A-CA69-51A88CB3F172}"/>
                </a:ext>
              </a:extLst>
            </p:cNvPr>
            <p:cNvSpPr txBox="1"/>
            <p:nvPr/>
          </p:nvSpPr>
          <p:spPr>
            <a:xfrm>
              <a:off x="979816" y="2834263"/>
              <a:ext cx="2846765" cy="3858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📏 Key Evaluation Metrics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F824E6-2E22-FD99-ED6B-9CCFA08C1BF1}"/>
                </a:ext>
              </a:extLst>
            </p:cNvPr>
            <p:cNvSpPr txBox="1"/>
            <p:nvPr/>
          </p:nvSpPr>
          <p:spPr>
            <a:xfrm>
              <a:off x="986179" y="3293115"/>
              <a:ext cx="3188587" cy="31085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For Classification Models:</a:t>
              </a:r>
            </a:p>
            <a:p>
              <a:endParaRPr lang="en-GB" sz="14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Accuracy</a:t>
              </a:r>
              <a:r>
                <a:rPr lang="en-GB" sz="1400" dirty="0">
                  <a:solidFill>
                    <a:schemeClr val="bg1"/>
                  </a:solidFill>
                </a:rPr>
                <a:t>: Proportion of correct predictions over total predictions.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Precision</a:t>
              </a:r>
              <a:r>
                <a:rPr lang="en-GB" sz="1400" dirty="0">
                  <a:solidFill>
                    <a:schemeClr val="bg1"/>
                  </a:solidFill>
                </a:rPr>
                <a:t>: Proportion of true positives over total predicted positives.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Recall (Sensitivity)</a:t>
              </a:r>
              <a:r>
                <a:rPr lang="en-GB" sz="1400" dirty="0">
                  <a:solidFill>
                    <a:schemeClr val="bg1"/>
                  </a:solidFill>
                </a:rPr>
                <a:t>: Proportion of true positives over total actual positives.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F1-Score</a:t>
              </a:r>
              <a:r>
                <a:rPr lang="en-GB" sz="1400" dirty="0">
                  <a:solidFill>
                    <a:schemeClr val="bg1"/>
                  </a:solidFill>
                </a:rPr>
                <a:t>: Harmonic mean of precision and recall.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Confusion Matrix</a:t>
              </a:r>
              <a:r>
                <a:rPr lang="en-GB" sz="1400" dirty="0">
                  <a:solidFill>
                    <a:schemeClr val="bg1"/>
                  </a:solidFill>
                </a:rPr>
                <a:t>: Table showing true vs. predicted classifications.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48641A-E4C1-4E96-E83C-3F9579E70541}"/>
              </a:ext>
            </a:extLst>
          </p:cNvPr>
          <p:cNvGrpSpPr/>
          <p:nvPr/>
        </p:nvGrpSpPr>
        <p:grpSpPr>
          <a:xfrm>
            <a:off x="8202341" y="675806"/>
            <a:ext cx="3378869" cy="3239959"/>
            <a:chOff x="8266248" y="675608"/>
            <a:chExt cx="3228627" cy="323995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97C6D2A-F933-86E6-536C-DF4C5078647B}"/>
                </a:ext>
              </a:extLst>
            </p:cNvPr>
            <p:cNvGrpSpPr/>
            <p:nvPr/>
          </p:nvGrpSpPr>
          <p:grpSpPr>
            <a:xfrm>
              <a:off x="8266248" y="675608"/>
              <a:ext cx="3228627" cy="3239959"/>
              <a:chOff x="8266248" y="675608"/>
              <a:chExt cx="3228627" cy="3239959"/>
            </a:xfrm>
          </p:grpSpPr>
          <p:sp>
            <p:nvSpPr>
              <p:cNvPr id="36" name="Rectangle: Rounded Corners 3">
                <a:extLst>
                  <a:ext uri="{FF2B5EF4-FFF2-40B4-BE49-F238E27FC236}">
                    <a16:creationId xmlns:a16="http://schemas.microsoft.com/office/drawing/2014/main" id="{D2684DD2-22BB-D1C4-B8F7-058653668E4C}"/>
                  </a:ext>
                </a:extLst>
              </p:cNvPr>
              <p:cNvSpPr/>
              <p:nvPr/>
            </p:nvSpPr>
            <p:spPr>
              <a:xfrm rot="21375581">
                <a:off x="8266248" y="695372"/>
                <a:ext cx="3201223" cy="3220195"/>
              </a:xfrm>
              <a:prstGeom prst="roundRect">
                <a:avLst>
                  <a:gd name="adj" fmla="val 10302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37" name="Rectangle: Rounded Corners 3">
                <a:extLst>
                  <a:ext uri="{FF2B5EF4-FFF2-40B4-BE49-F238E27FC236}">
                    <a16:creationId xmlns:a16="http://schemas.microsoft.com/office/drawing/2014/main" id="{493FD847-0BA5-255B-28FB-A7383BB6027D}"/>
                  </a:ext>
                </a:extLst>
              </p:cNvPr>
              <p:cNvSpPr/>
              <p:nvPr/>
            </p:nvSpPr>
            <p:spPr>
              <a:xfrm>
                <a:off x="8293652" y="675608"/>
                <a:ext cx="3201223" cy="3220195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05586F-192D-34B5-EBD4-06D5DF6B02DE}"/>
                </a:ext>
              </a:extLst>
            </p:cNvPr>
            <p:cNvSpPr txBox="1"/>
            <p:nvPr/>
          </p:nvSpPr>
          <p:spPr>
            <a:xfrm>
              <a:off x="8445656" y="765104"/>
              <a:ext cx="2792428" cy="397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🔄 Validation Techniques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961AFB-31A2-101E-316E-930B2C2539A7}"/>
                </a:ext>
              </a:extLst>
            </p:cNvPr>
            <p:cNvSpPr txBox="1"/>
            <p:nvPr/>
          </p:nvSpPr>
          <p:spPr>
            <a:xfrm>
              <a:off x="8344175" y="1193375"/>
              <a:ext cx="3127727" cy="2677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Train-Test Split</a:t>
              </a:r>
              <a:r>
                <a:rPr lang="en-GB" sz="1400" dirty="0">
                  <a:solidFill>
                    <a:schemeClr val="bg1"/>
                  </a:solidFill>
                </a:rPr>
                <a:t>: Dividing the dataset into separate training and testing sets (e.g., 80/20 split) to evaluate model performance.</a:t>
              </a:r>
            </a:p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K-Fold Cross-Validation</a:t>
              </a:r>
              <a:r>
                <a:rPr lang="en-GB" sz="1400" dirty="0">
                  <a:solidFill>
                    <a:schemeClr val="bg1"/>
                  </a:solidFill>
                </a:rPr>
                <a:t>: Partitioning the data into 'k' subsets and training/testing the model 'k' times, each time using a different subset as the test set and the remaining as the training set. This technique provides a more robust estimate of model performance.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3FCD73A-E040-3F1B-5FF9-83B90B81758D}"/>
              </a:ext>
            </a:extLst>
          </p:cNvPr>
          <p:cNvGrpSpPr/>
          <p:nvPr/>
        </p:nvGrpSpPr>
        <p:grpSpPr>
          <a:xfrm>
            <a:off x="8202340" y="4097973"/>
            <a:ext cx="3388797" cy="2485262"/>
            <a:chOff x="8266248" y="675608"/>
            <a:chExt cx="3238113" cy="323995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6A42BB6-0450-F2AF-C03B-A52F1676BFAD}"/>
                </a:ext>
              </a:extLst>
            </p:cNvPr>
            <p:cNvGrpSpPr/>
            <p:nvPr/>
          </p:nvGrpSpPr>
          <p:grpSpPr>
            <a:xfrm>
              <a:off x="8266248" y="675608"/>
              <a:ext cx="3228627" cy="3239959"/>
              <a:chOff x="8266248" y="675608"/>
              <a:chExt cx="3228627" cy="3239959"/>
            </a:xfrm>
          </p:grpSpPr>
          <p:sp>
            <p:nvSpPr>
              <p:cNvPr id="48" name="Rectangle: Rounded Corners 3">
                <a:extLst>
                  <a:ext uri="{FF2B5EF4-FFF2-40B4-BE49-F238E27FC236}">
                    <a16:creationId xmlns:a16="http://schemas.microsoft.com/office/drawing/2014/main" id="{D272B3C1-9332-9B8F-8614-41150EAC274F}"/>
                  </a:ext>
                </a:extLst>
              </p:cNvPr>
              <p:cNvSpPr/>
              <p:nvPr/>
            </p:nvSpPr>
            <p:spPr>
              <a:xfrm rot="21375581">
                <a:off x="8266248" y="695372"/>
                <a:ext cx="3201223" cy="3220195"/>
              </a:xfrm>
              <a:prstGeom prst="roundRect">
                <a:avLst>
                  <a:gd name="adj" fmla="val 10302"/>
                </a:avLst>
              </a:prstGeom>
              <a:solidFill>
                <a:srgbClr val="0070C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49" name="Rectangle: Rounded Corners 3">
                <a:extLst>
                  <a:ext uri="{FF2B5EF4-FFF2-40B4-BE49-F238E27FC236}">
                    <a16:creationId xmlns:a16="http://schemas.microsoft.com/office/drawing/2014/main" id="{083FE543-6CB8-2A22-F2B5-E3BC494AEE09}"/>
                  </a:ext>
                </a:extLst>
              </p:cNvPr>
              <p:cNvSpPr/>
              <p:nvPr/>
            </p:nvSpPr>
            <p:spPr>
              <a:xfrm>
                <a:off x="8293652" y="675608"/>
                <a:ext cx="3201223" cy="3220195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948C3B8-8B84-CA81-8513-2AF3DD4E4AC5}"/>
                </a:ext>
              </a:extLst>
            </p:cNvPr>
            <p:cNvSpPr txBox="1"/>
            <p:nvPr/>
          </p:nvSpPr>
          <p:spPr>
            <a:xfrm>
              <a:off x="8470645" y="738084"/>
              <a:ext cx="2792428" cy="8426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⚠️ Avoiding Overfitting and Underfitting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18AAD71-D6EE-E43B-9EAE-0FF36D8202CC}"/>
                </a:ext>
              </a:extLst>
            </p:cNvPr>
            <p:cNvSpPr txBox="1"/>
            <p:nvPr/>
          </p:nvSpPr>
          <p:spPr>
            <a:xfrm>
              <a:off x="8311716" y="1534091"/>
              <a:ext cx="3192645" cy="23673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Overfitting</a:t>
              </a:r>
              <a:r>
                <a:rPr lang="en-GB" sz="1400" dirty="0">
                  <a:solidFill>
                    <a:schemeClr val="bg1"/>
                  </a:solidFill>
                </a:rPr>
                <a:t>: Model performs well on training data but poorly on unseen data.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Underfitting</a:t>
              </a:r>
              <a:r>
                <a:rPr lang="en-GB" sz="1400" dirty="0">
                  <a:solidFill>
                    <a:schemeClr val="bg1"/>
                  </a:solidFill>
                </a:rPr>
                <a:t>: Model performs poorly on both training and unseen data.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>
                  <a:solidFill>
                    <a:schemeClr val="bg1"/>
                  </a:solidFill>
                </a:rPr>
                <a:t>Solution</a:t>
              </a:r>
              <a:r>
                <a:rPr lang="en-GB" sz="1400" dirty="0">
                  <a:solidFill>
                    <a:schemeClr val="bg1"/>
                  </a:solidFill>
                </a:rPr>
                <a:t>: Use cross-validation and regularization techniques to balance model complexity.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7651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D4D-FD0D-AF61-B690-3B77829E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AE4E64-3AE3-CB18-C0F2-CA32DCD2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49" y="416431"/>
            <a:ext cx="11112252" cy="1179576"/>
          </a:xfrm>
        </p:spPr>
        <p:txBody>
          <a:bodyPr>
            <a:normAutofit/>
          </a:bodyPr>
          <a:lstStyle/>
          <a:p>
            <a:r>
              <a:rPr lang="en-GB" b="1" u="none" dirty="0">
                <a:solidFill>
                  <a:srgbClr val="FF0000"/>
                </a:solidFill>
              </a:rPr>
              <a:t>6. </a:t>
            </a:r>
            <a:r>
              <a:rPr lang="en-GB" b="1" dirty="0">
                <a:solidFill>
                  <a:srgbClr val="FF0000"/>
                </a:solidFill>
              </a:rPr>
              <a:t>Interpretation &amp; Deployment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025ED0-99FB-F638-0523-76C0346C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C01C26A-8DF6-7CF0-FEFA-49ABD46E4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FF287D-58F8-764E-AD34-CC1776D22646}"/>
              </a:ext>
            </a:extLst>
          </p:cNvPr>
          <p:cNvGrpSpPr/>
          <p:nvPr/>
        </p:nvGrpSpPr>
        <p:grpSpPr>
          <a:xfrm>
            <a:off x="669142" y="5708138"/>
            <a:ext cx="10525907" cy="907178"/>
            <a:chOff x="4709159" y="2178003"/>
            <a:chExt cx="2968754" cy="367698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FBA3BC0-7CC1-6170-F358-8481A5F47990}"/>
                </a:ext>
              </a:extLst>
            </p:cNvPr>
            <p:cNvSpPr/>
            <p:nvPr/>
          </p:nvSpPr>
          <p:spPr>
            <a:xfrm>
              <a:off x="4709159" y="2178003"/>
              <a:ext cx="2968754" cy="3676980"/>
            </a:xfrm>
            <a:prstGeom prst="roundRect">
              <a:avLst>
                <a:gd name="adj" fmla="val 414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7F711B-C21E-B1FF-DC0B-07776BE2DFB9}"/>
                </a:ext>
              </a:extLst>
            </p:cNvPr>
            <p:cNvSpPr txBox="1"/>
            <p:nvPr/>
          </p:nvSpPr>
          <p:spPr>
            <a:xfrm>
              <a:off x="4758184" y="2706634"/>
              <a:ext cx="741456" cy="2619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🛠️ Tools &amp; Platforms for Deployment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0F488A3-B043-42A0-A0B0-166AADF3D25B}"/>
                </a:ext>
              </a:extLst>
            </p:cNvPr>
            <p:cNvSpPr txBox="1"/>
            <p:nvPr/>
          </p:nvSpPr>
          <p:spPr>
            <a:xfrm>
              <a:off x="5535523" y="2586538"/>
              <a:ext cx="2129248" cy="2993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Cloud Services: AWS SageMaker, Google Cloud AI Platform, Azure Machine Learning.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bg1"/>
                  </a:solidFill>
                </a:rPr>
                <a:t>MLOps</a:t>
              </a:r>
              <a:r>
                <a:rPr lang="en-GB" sz="1400" dirty="0">
                  <a:solidFill>
                    <a:schemeClr val="bg1"/>
                  </a:solidFill>
                </a:rPr>
                <a:t> Frameworks: Kubeflow, </a:t>
              </a:r>
              <a:r>
                <a:rPr lang="en-GB" sz="1400" dirty="0" err="1">
                  <a:solidFill>
                    <a:schemeClr val="bg1"/>
                  </a:solidFill>
                </a:rPr>
                <a:t>MLflow</a:t>
              </a:r>
              <a:r>
                <a:rPr lang="en-GB" sz="1400" dirty="0">
                  <a:solidFill>
                    <a:schemeClr val="bg1"/>
                  </a:solidFill>
                </a:rPr>
                <a:t>, TensorFlow Serving.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/>
                  </a:solidFill>
                </a:rPr>
                <a:t>Visualization Tools: Tableau, Power BI, </a:t>
              </a:r>
              <a:r>
                <a:rPr lang="en-GB" sz="1400" dirty="0" err="1">
                  <a:solidFill>
                    <a:schemeClr val="bg1"/>
                  </a:solidFill>
                </a:rPr>
                <a:t>Streamlit</a:t>
              </a:r>
              <a:r>
                <a:rPr lang="en-GB" sz="1400" dirty="0">
                  <a:solidFill>
                    <a:schemeClr val="bg1"/>
                  </a:solidFill>
                </a:rPr>
                <a:t> for creating interactive dashboards.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9F743A3-FBD3-EE45-06B8-CEFAC9957661}"/>
              </a:ext>
            </a:extLst>
          </p:cNvPr>
          <p:cNvGrpSpPr/>
          <p:nvPr/>
        </p:nvGrpSpPr>
        <p:grpSpPr>
          <a:xfrm>
            <a:off x="7955861" y="1831514"/>
            <a:ext cx="3334763" cy="3658139"/>
            <a:chOff x="3955385" y="1785105"/>
            <a:chExt cx="3334763" cy="36581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92AC22D-514A-A506-12AA-B7AFD192CF55}"/>
                </a:ext>
              </a:extLst>
            </p:cNvPr>
            <p:cNvGrpSpPr/>
            <p:nvPr/>
          </p:nvGrpSpPr>
          <p:grpSpPr>
            <a:xfrm>
              <a:off x="3955385" y="1785105"/>
              <a:ext cx="3332374" cy="3658139"/>
              <a:chOff x="700645" y="2654161"/>
              <a:chExt cx="2949297" cy="3738400"/>
            </a:xfrm>
          </p:grpSpPr>
          <p:sp>
            <p:nvSpPr>
              <p:cNvPr id="5" name="Rectangle: Rounded Corners 3">
                <a:extLst>
                  <a:ext uri="{FF2B5EF4-FFF2-40B4-BE49-F238E27FC236}">
                    <a16:creationId xmlns:a16="http://schemas.microsoft.com/office/drawing/2014/main" id="{A942B1C8-53E8-0B50-C745-CF4CC25DE915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D7F6F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22" name="Rectangle: Rounded Corners 3">
                <a:extLst>
                  <a:ext uri="{FF2B5EF4-FFF2-40B4-BE49-F238E27FC236}">
                    <a16:creationId xmlns:a16="http://schemas.microsoft.com/office/drawing/2014/main" id="{EC77D6EC-8D11-EA8C-F585-054E45EA56D9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C63A57-27C2-1978-8151-66EA75A808F4}"/>
                </a:ext>
              </a:extLst>
            </p:cNvPr>
            <p:cNvSpPr txBox="1"/>
            <p:nvPr/>
          </p:nvSpPr>
          <p:spPr>
            <a:xfrm>
              <a:off x="4269560" y="1888091"/>
              <a:ext cx="2846764" cy="702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🚀 Deployment: Bringing Models to Production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2EAB02-7721-DC3D-C4F7-0287565BAE24}"/>
                </a:ext>
              </a:extLst>
            </p:cNvPr>
            <p:cNvSpPr txBox="1"/>
            <p:nvPr/>
          </p:nvSpPr>
          <p:spPr>
            <a:xfrm>
              <a:off x="4095737" y="2630979"/>
              <a:ext cx="319441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Model Packaging</a:t>
              </a:r>
              <a:r>
                <a:rPr lang="en-GB" sz="1400" dirty="0">
                  <a:solidFill>
                    <a:schemeClr val="bg1"/>
                  </a:solidFill>
                </a:rPr>
                <a:t>: Serialize the trained model using formats like Pickle, </a:t>
              </a:r>
              <a:r>
                <a:rPr lang="en-GB" sz="1400" dirty="0" err="1">
                  <a:solidFill>
                    <a:schemeClr val="bg1"/>
                  </a:solidFill>
                </a:rPr>
                <a:t>Joblib</a:t>
              </a:r>
              <a:r>
                <a:rPr lang="en-GB" sz="1400" dirty="0">
                  <a:solidFill>
                    <a:schemeClr val="bg1"/>
                  </a:solidFill>
                </a:rPr>
                <a:t>, or ONNX.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API Development</a:t>
              </a:r>
              <a:r>
                <a:rPr lang="en-GB" sz="1400" dirty="0">
                  <a:solidFill>
                    <a:schemeClr val="bg1"/>
                  </a:solidFill>
                </a:rPr>
                <a:t>: Create RESTful APIs using frameworks like Flask or </a:t>
              </a:r>
              <a:r>
                <a:rPr lang="en-GB" sz="1400" dirty="0" err="1">
                  <a:solidFill>
                    <a:schemeClr val="bg1"/>
                  </a:solidFill>
                </a:rPr>
                <a:t>FastAPI</a:t>
              </a:r>
              <a:r>
                <a:rPr lang="en-GB" sz="1400" dirty="0">
                  <a:solidFill>
                    <a:schemeClr val="bg1"/>
                  </a:solidFill>
                </a:rPr>
                <a:t> to serve model predictions.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Integration</a:t>
              </a:r>
              <a:r>
                <a:rPr lang="en-GB" sz="1400" dirty="0">
                  <a:solidFill>
                    <a:schemeClr val="bg1"/>
                  </a:solidFill>
                </a:rPr>
                <a:t>: Embed the model into existing systems or workflows, ensuring seamless operation.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Monitoring</a:t>
              </a:r>
              <a:r>
                <a:rPr lang="en-GB" sz="1400" dirty="0">
                  <a:solidFill>
                    <a:schemeClr val="bg1"/>
                  </a:solidFill>
                </a:rPr>
                <a:t>: Implement monitoring tools to track model performance and data drift over time.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C3EF16-6A93-90E1-C09A-2598FB3F5682}"/>
              </a:ext>
            </a:extLst>
          </p:cNvPr>
          <p:cNvGrpSpPr/>
          <p:nvPr/>
        </p:nvGrpSpPr>
        <p:grpSpPr>
          <a:xfrm>
            <a:off x="4287583" y="1841683"/>
            <a:ext cx="3332374" cy="3658139"/>
            <a:chOff x="8015074" y="1989738"/>
            <a:chExt cx="3332374" cy="365813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F999523-B53C-BCC7-ABA1-1F409C0C5CAF}"/>
                </a:ext>
              </a:extLst>
            </p:cNvPr>
            <p:cNvGrpSpPr/>
            <p:nvPr/>
          </p:nvGrpSpPr>
          <p:grpSpPr>
            <a:xfrm>
              <a:off x="8015074" y="1989738"/>
              <a:ext cx="3332374" cy="3658139"/>
              <a:chOff x="700645" y="2654161"/>
              <a:chExt cx="2949297" cy="3738400"/>
            </a:xfrm>
          </p:grpSpPr>
          <p:sp>
            <p:nvSpPr>
              <p:cNvPr id="32" name="Rectangle: Rounded Corners 3">
                <a:extLst>
                  <a:ext uri="{FF2B5EF4-FFF2-40B4-BE49-F238E27FC236}">
                    <a16:creationId xmlns:a16="http://schemas.microsoft.com/office/drawing/2014/main" id="{D1EC8E74-5252-C416-CD9E-8D5FA2E89687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FF7E79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33" name="Rectangle: Rounded Corners 3">
                <a:extLst>
                  <a:ext uri="{FF2B5EF4-FFF2-40B4-BE49-F238E27FC236}">
                    <a16:creationId xmlns:a16="http://schemas.microsoft.com/office/drawing/2014/main" id="{BC63FD37-41CB-C9BC-A71A-E4D971E3BBDC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6C44888-C813-1BEA-6C5E-6D18066F9B04}"/>
                </a:ext>
              </a:extLst>
            </p:cNvPr>
            <p:cNvSpPr txBox="1"/>
            <p:nvPr/>
          </p:nvSpPr>
          <p:spPr>
            <a:xfrm>
              <a:off x="8348283" y="2144620"/>
              <a:ext cx="2846765" cy="5338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🗣️ Communicating Findings to Stakeholders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8C47DC-944F-446D-EB31-9DD6321CC30B}"/>
                </a:ext>
              </a:extLst>
            </p:cNvPr>
            <p:cNvSpPr txBox="1"/>
            <p:nvPr/>
          </p:nvSpPr>
          <p:spPr>
            <a:xfrm>
              <a:off x="8128917" y="2923471"/>
              <a:ext cx="3188587" cy="22467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Tailor the Message</a:t>
              </a:r>
              <a:r>
                <a:rPr lang="en-GB" sz="1400" dirty="0">
                  <a:solidFill>
                    <a:schemeClr val="bg1"/>
                  </a:solidFill>
                </a:rPr>
                <a:t>: Adapt explanations to the audience's technical background.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Use Visual Aids</a:t>
              </a:r>
              <a:r>
                <a:rPr lang="en-GB" sz="1400" dirty="0">
                  <a:solidFill>
                    <a:schemeClr val="bg1"/>
                  </a:solidFill>
                </a:rPr>
                <a:t>: Employ charts, graphs, and dashboards to illustrate key insights.</a:t>
              </a:r>
            </a:p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Highlight Impact</a:t>
              </a:r>
              <a:r>
                <a:rPr lang="en-GB" sz="1400" dirty="0">
                  <a:solidFill>
                    <a:schemeClr val="bg1"/>
                  </a:solidFill>
                </a:rPr>
                <a:t>: Emphasize how the model's insights can drive business decisions and outcomes.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Address Limitations</a:t>
              </a:r>
              <a:r>
                <a:rPr lang="en-GB" sz="1400" dirty="0">
                  <a:solidFill>
                    <a:schemeClr val="bg1"/>
                  </a:solidFill>
                </a:rPr>
                <a:t>: Be transparent about the model's constraints and areas of uncertainty.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22FC716-CD93-E759-0568-030392F738E5}"/>
              </a:ext>
            </a:extLst>
          </p:cNvPr>
          <p:cNvGrpSpPr/>
          <p:nvPr/>
        </p:nvGrpSpPr>
        <p:grpSpPr>
          <a:xfrm>
            <a:off x="665561" y="1809200"/>
            <a:ext cx="3332374" cy="3658139"/>
            <a:chOff x="665561" y="1809200"/>
            <a:chExt cx="3332374" cy="365813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B925E99-EB6A-B915-F71D-A3DC7F75BCAC}"/>
                </a:ext>
              </a:extLst>
            </p:cNvPr>
            <p:cNvGrpSpPr/>
            <p:nvPr/>
          </p:nvGrpSpPr>
          <p:grpSpPr>
            <a:xfrm>
              <a:off x="665561" y="1809200"/>
              <a:ext cx="3332374" cy="3658139"/>
              <a:chOff x="700645" y="2654161"/>
              <a:chExt cx="2949297" cy="3738400"/>
            </a:xfrm>
          </p:grpSpPr>
          <p:sp>
            <p:nvSpPr>
              <p:cNvPr id="49" name="Rectangle: Rounded Corners 3">
                <a:extLst>
                  <a:ext uri="{FF2B5EF4-FFF2-40B4-BE49-F238E27FC236}">
                    <a16:creationId xmlns:a16="http://schemas.microsoft.com/office/drawing/2014/main" id="{93E244BE-7530-23A8-DCE6-F8A983B2A09D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A084FD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50" name="Rectangle: Rounded Corners 3">
                <a:extLst>
                  <a:ext uri="{FF2B5EF4-FFF2-40B4-BE49-F238E27FC236}">
                    <a16:creationId xmlns:a16="http://schemas.microsoft.com/office/drawing/2014/main" id="{67DAE156-BECB-027E-68DF-00973873F164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A5CECC0-D33C-63A4-8619-5E04261628B5}"/>
                </a:ext>
              </a:extLst>
            </p:cNvPr>
            <p:cNvSpPr txBox="1"/>
            <p:nvPr/>
          </p:nvSpPr>
          <p:spPr>
            <a:xfrm>
              <a:off x="950314" y="1987983"/>
              <a:ext cx="2846765" cy="5423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🧠 Interpretation: From Predictions to Insights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AC71EFD-0A4B-4490-50DC-859E86724470}"/>
                </a:ext>
              </a:extLst>
            </p:cNvPr>
            <p:cNvSpPr txBox="1"/>
            <p:nvPr/>
          </p:nvSpPr>
          <p:spPr>
            <a:xfrm>
              <a:off x="779402" y="2775416"/>
              <a:ext cx="3188587" cy="24819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Understand Model Outputs</a:t>
              </a:r>
              <a:r>
                <a:rPr lang="en-GB" sz="1400" dirty="0">
                  <a:solidFill>
                    <a:schemeClr val="bg1"/>
                  </a:solidFill>
                </a:rPr>
                <a:t>: </a:t>
              </a:r>
              <a:r>
                <a:rPr lang="en-GB" sz="1400" dirty="0" err="1">
                  <a:solidFill>
                    <a:schemeClr val="bg1"/>
                  </a:solidFill>
                </a:rPr>
                <a:t>Analyze</a:t>
              </a:r>
              <a:r>
                <a:rPr lang="en-GB" sz="1400" dirty="0">
                  <a:solidFill>
                    <a:schemeClr val="bg1"/>
                  </a:solidFill>
                </a:rPr>
                <a:t> feature importance, decision boundaries, and prediction confidence to comprehend model </a:t>
              </a:r>
              <a:r>
                <a:rPr lang="en-GB" sz="1400" dirty="0" err="1">
                  <a:solidFill>
                    <a:schemeClr val="bg1"/>
                  </a:solidFill>
                </a:rPr>
                <a:t>behavior</a:t>
              </a:r>
              <a:r>
                <a:rPr lang="en-GB" sz="1400" dirty="0">
                  <a:solidFill>
                    <a:schemeClr val="bg1"/>
                  </a:solidFill>
                </a:rPr>
                <a:t>.</a:t>
              </a:r>
            </a:p>
            <a:p>
              <a:pPr algn="just"/>
              <a:r>
                <a:rPr lang="en-GB" sz="1400" b="1" dirty="0">
                  <a:solidFill>
                    <a:schemeClr val="bg1"/>
                  </a:solidFill>
                </a:rPr>
                <a:t>Contextualize Findings</a:t>
              </a:r>
              <a:r>
                <a:rPr lang="en-GB" sz="1400" dirty="0">
                  <a:solidFill>
                    <a:schemeClr val="bg1"/>
                  </a:solidFill>
                </a:rPr>
                <a:t>: Relate model results to business objectives and real-world implications.</a:t>
              </a:r>
            </a:p>
            <a:p>
              <a:r>
                <a:rPr lang="en-GB" sz="1400" b="1" dirty="0">
                  <a:solidFill>
                    <a:schemeClr val="bg1"/>
                  </a:solidFill>
                </a:rPr>
                <a:t>Validate Assumptions</a:t>
              </a:r>
              <a:r>
                <a:rPr lang="en-GB" sz="1400" dirty="0">
                  <a:solidFill>
                    <a:schemeClr val="bg1"/>
                  </a:solidFill>
                </a:rPr>
                <a:t>: Ensure that the model's assumptions align with domain knowledge and data characteristics.</a:t>
              </a:r>
              <a:endParaRPr lang="en-001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9412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2E65-3339-C9EF-0188-156FC621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EFB3F9-B5A7-FD0F-B344-27BD13F2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24" y="132571"/>
            <a:ext cx="10360152" cy="1179576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Tools &amp; Applications of Data Analytics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8E61FB-FC40-39B5-9679-1E4CB464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67FB04-FFA6-EF95-F67F-C2AFD1674AA9}"/>
              </a:ext>
            </a:extLst>
          </p:cNvPr>
          <p:cNvGrpSpPr/>
          <p:nvPr/>
        </p:nvGrpSpPr>
        <p:grpSpPr>
          <a:xfrm>
            <a:off x="316830" y="2318954"/>
            <a:ext cx="3218848" cy="1015663"/>
            <a:chOff x="1351762" y="2965179"/>
            <a:chExt cx="3089631" cy="1015663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C28B9C4-23CD-DC58-4779-6BDC8CAC3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652760">
              <a:off x="1351762" y="3037201"/>
              <a:ext cx="913980" cy="913980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43057B-ECBD-F4F6-D235-195379394AB8}"/>
                </a:ext>
              </a:extLst>
            </p:cNvPr>
            <p:cNvSpPr txBox="1"/>
            <p:nvPr/>
          </p:nvSpPr>
          <p:spPr>
            <a:xfrm>
              <a:off x="2183237" y="2965179"/>
              <a:ext cx="225815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Segoe UI" panose="020B0502040204020203" pitchFamily="34" charset="0"/>
                  <a:ea typeface="Noto Sans" panose="020B0502040504020204" pitchFamily="34"/>
                  <a:cs typeface="Segoe UI" panose="020B0502040204020203" pitchFamily="34" charset="0"/>
                </a:rPr>
                <a:t>Tools</a:t>
              </a:r>
              <a:endParaRPr lang="en-001" sz="6000" b="1" dirty="0">
                <a:solidFill>
                  <a:schemeClr val="bg1"/>
                </a:solidFill>
                <a:latin typeface="Segoe UI" panose="020B0502040204020203" pitchFamily="34" charset="0"/>
                <a:ea typeface="Noto Sans" panose="020B0502040504020204" pitchFamily="34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9B8634F-82C6-A524-0FA6-F2E96313F620}"/>
              </a:ext>
            </a:extLst>
          </p:cNvPr>
          <p:cNvGraphicFramePr>
            <a:graphicFrameLocks noGrp="1"/>
          </p:cNvGraphicFramePr>
          <p:nvPr/>
        </p:nvGraphicFramePr>
        <p:xfrm>
          <a:off x="649478" y="3460386"/>
          <a:ext cx="4882160" cy="25603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02068">
                  <a:extLst>
                    <a:ext uri="{9D8B030D-6E8A-4147-A177-3AD203B41FA5}">
                      <a16:colId xmlns:a16="http://schemas.microsoft.com/office/drawing/2014/main" val="2526098987"/>
                    </a:ext>
                  </a:extLst>
                </a:gridCol>
                <a:gridCol w="3580092">
                  <a:extLst>
                    <a:ext uri="{9D8B030D-6E8A-4147-A177-3AD203B41FA5}">
                      <a16:colId xmlns:a16="http://schemas.microsoft.com/office/drawing/2014/main" val="2797154388"/>
                    </a:ext>
                  </a:extLst>
                </a:gridCol>
              </a:tblGrid>
              <a:tr h="4452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Languages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Python, R, SQL, and many more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05979"/>
                  </a:ext>
                </a:extLst>
              </a:tr>
              <a:tr h="211504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Libraries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pandas – data manipulation, </a:t>
                      </a:r>
                    </a:p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numpy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– numerical ops 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matplotlib, seaborn – visualizations </a:t>
                      </a:r>
                    </a:p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jupyter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– notebooks for hands-on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1054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F3707A5D-B9F8-8CED-623D-A37A26848D7B}"/>
              </a:ext>
            </a:extLst>
          </p:cNvPr>
          <p:cNvGrpSpPr/>
          <p:nvPr/>
        </p:nvGrpSpPr>
        <p:grpSpPr>
          <a:xfrm>
            <a:off x="8788724" y="2283565"/>
            <a:ext cx="2784859" cy="1015663"/>
            <a:chOff x="7463812" y="2592596"/>
            <a:chExt cx="2811323" cy="101566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C33FBE-DEE3-F338-B8F0-7EF122FF46AB}"/>
                </a:ext>
              </a:extLst>
            </p:cNvPr>
            <p:cNvSpPr txBox="1"/>
            <p:nvPr/>
          </p:nvSpPr>
          <p:spPr>
            <a:xfrm>
              <a:off x="7463812" y="2592596"/>
              <a:ext cx="22466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Segoe UI" panose="020B0502040204020203" pitchFamily="34" charset="0"/>
                  <a:ea typeface="Noto Sans" panose="020B0502040504020204" pitchFamily="34"/>
                  <a:cs typeface="Segoe UI" panose="020B0502040204020203" pitchFamily="34" charset="0"/>
                </a:rPr>
                <a:t>Uses</a:t>
              </a:r>
              <a:endParaRPr lang="en-001" sz="6600" b="1" dirty="0">
                <a:solidFill>
                  <a:schemeClr val="bg1"/>
                </a:solidFill>
                <a:latin typeface="Segoe UI" panose="020B0502040204020203" pitchFamily="34" charset="0"/>
                <a:ea typeface="Noto Sans" panose="020B0502040504020204" pitchFamily="34"/>
                <a:cs typeface="Segoe UI" panose="020B0502040204020203" pitchFamily="34" charset="0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B374713F-AB04-0076-7585-DC219197D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57686" y="2690810"/>
              <a:ext cx="917449" cy="91744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FD885CD-6044-081C-5258-473F418478EB}"/>
              </a:ext>
            </a:extLst>
          </p:cNvPr>
          <p:cNvGraphicFramePr>
            <a:graphicFrameLocks noGrp="1"/>
          </p:cNvGraphicFramePr>
          <p:nvPr/>
        </p:nvGraphicFramePr>
        <p:xfrm>
          <a:off x="6580378" y="3460385"/>
          <a:ext cx="5075174" cy="25603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820036">
                  <a:extLst>
                    <a:ext uri="{9D8B030D-6E8A-4147-A177-3AD203B41FA5}">
                      <a16:colId xmlns:a16="http://schemas.microsoft.com/office/drawing/2014/main" val="866155604"/>
                    </a:ext>
                  </a:extLst>
                </a:gridCol>
                <a:gridCol w="3255138">
                  <a:extLst>
                    <a:ext uri="{9D8B030D-6E8A-4147-A177-3AD203B41FA5}">
                      <a16:colId xmlns:a16="http://schemas.microsoft.com/office/drawing/2014/main" val="1604407431"/>
                    </a:ext>
                  </a:extLst>
                </a:gridCol>
              </a:tblGrid>
              <a:tr h="512118">
                <a:tc>
                  <a:txBody>
                    <a:bodyPr/>
                    <a:lstStyle/>
                    <a:p>
                      <a:r>
                        <a:rPr lang="en-US" b="1" dirty="0"/>
                        <a:t>Climate Science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Predict rainfall and monitor climate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723782"/>
                  </a:ext>
                </a:extLst>
              </a:tr>
              <a:tr h="512118">
                <a:tc>
                  <a:txBody>
                    <a:bodyPr/>
                    <a:lstStyle/>
                    <a:p>
                      <a:r>
                        <a:rPr lang="en-US" b="1" dirty="0"/>
                        <a:t>Finance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Risk assessment, fraud detection, stock forecasting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622336"/>
                  </a:ext>
                </a:extLst>
              </a:tr>
              <a:tr h="512118">
                <a:tc>
                  <a:txBody>
                    <a:bodyPr/>
                    <a:lstStyle/>
                    <a:p>
                      <a:r>
                        <a:rPr lang="en-US" b="1" dirty="0"/>
                        <a:t>Healthcare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Disease trend tracking, patient risk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424914"/>
                  </a:ext>
                </a:extLst>
              </a:tr>
              <a:tr h="512118">
                <a:tc>
                  <a:txBody>
                    <a:bodyPr/>
                    <a:lstStyle/>
                    <a:p>
                      <a:r>
                        <a:rPr lang="en-US" b="1" dirty="0"/>
                        <a:t>Retail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segmentation, demand forecasting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795168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E97B850-7339-0FF2-10C6-D40558651281}"/>
              </a:ext>
            </a:extLst>
          </p:cNvPr>
          <p:cNvSpPr txBox="1"/>
          <p:nvPr/>
        </p:nvSpPr>
        <p:spPr>
          <a:xfrm>
            <a:off x="1846357" y="6406896"/>
            <a:ext cx="8496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Master the tools and you'll unlock insights across any domain—from weather to wallets!</a:t>
            </a:r>
            <a:endParaRPr lang="en-001" dirty="0">
              <a:solidFill>
                <a:schemeClr val="bg1"/>
              </a:solidFill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86717D89-57DC-441F-534B-6D5A42B1D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0" y="232719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036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0F77-8B4E-28E5-BB39-841D280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1DA7-CD6F-4B10-67A7-62E94ED83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114" y="2482566"/>
            <a:ext cx="5002991" cy="2300561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u="none" dirty="0"/>
              <a:t>Summarizing</a:t>
            </a:r>
            <a:br>
              <a:rPr lang="en-US" sz="2400" dirty="0"/>
            </a:br>
            <a:br>
              <a:rPr lang="en-US" sz="4800" dirty="0"/>
            </a:br>
            <a:r>
              <a:rPr lang="en-US" sz="4800" dirty="0"/>
              <a:t>Introduction </a:t>
            </a:r>
            <a:br>
              <a:rPr lang="en-US" sz="4800" dirty="0"/>
            </a:br>
            <a:r>
              <a:rPr lang="en-US" sz="4800" dirty="0"/>
              <a:t>to </a:t>
            </a:r>
            <a:br>
              <a:rPr lang="en-US" sz="4800" dirty="0"/>
            </a:br>
            <a:r>
              <a:rPr lang="en-US" sz="4800" dirty="0"/>
              <a:t>data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A64F3-C4E2-7FDB-E9AA-3175E2E44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8897" y="2482566"/>
            <a:ext cx="5078703" cy="2352978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Data alone isn't magic—but used wisely, it solves real-world problems.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Data analytics helps turn raw data into actionable insights. Knowing the type and lifecycle of data is key.</a:t>
            </a:r>
          </a:p>
        </p:txBody>
      </p:sp>
      <p:pic>
        <p:nvPicPr>
          <p:cNvPr id="4" name="Picture 2" descr="IIT Mandi Logo">
            <a:extLst>
              <a:ext uri="{FF2B5EF4-FFF2-40B4-BE49-F238E27FC236}">
                <a16:creationId xmlns:a16="http://schemas.microsoft.com/office/drawing/2014/main" id="{DEB18BAB-ED4E-68DD-F98D-8BFACE394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890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AFCA5-B9CE-14A7-A77F-087D4945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81963C-B28B-702C-43D6-223B9F7E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Before We Dive Into Statistics</a:t>
            </a:r>
            <a:r>
              <a:rPr lang="en-GB" b="1" u="none" dirty="0">
                <a:solidFill>
                  <a:srgbClr val="FF0000"/>
                </a:solidFill>
              </a:rPr>
              <a:t>…</a:t>
            </a:r>
            <a:endParaRPr lang="en-US" b="1" u="non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A428A1-11E2-2D66-BC13-D614C656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388529-C98C-B8BF-F04D-82A0DD6637B0}"/>
              </a:ext>
            </a:extLst>
          </p:cNvPr>
          <p:cNvGrpSpPr/>
          <p:nvPr/>
        </p:nvGrpSpPr>
        <p:grpSpPr>
          <a:xfrm>
            <a:off x="497840" y="2600961"/>
            <a:ext cx="3572827" cy="3213652"/>
            <a:chOff x="823195" y="2734825"/>
            <a:chExt cx="3332373" cy="391516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4BE8E55-0D7F-DC61-5403-0373B29B055C}"/>
                </a:ext>
              </a:extLst>
            </p:cNvPr>
            <p:cNvGrpSpPr/>
            <p:nvPr/>
          </p:nvGrpSpPr>
          <p:grpSpPr>
            <a:xfrm>
              <a:off x="823195" y="2734825"/>
              <a:ext cx="3332373" cy="3798287"/>
              <a:chOff x="700645" y="2676964"/>
              <a:chExt cx="2949296" cy="3715597"/>
            </a:xfrm>
          </p:grpSpPr>
          <p:sp>
            <p:nvSpPr>
              <p:cNvPr id="11" name="Rectangle: Rounded Corners 3">
                <a:extLst>
                  <a:ext uri="{FF2B5EF4-FFF2-40B4-BE49-F238E27FC236}">
                    <a16:creationId xmlns:a16="http://schemas.microsoft.com/office/drawing/2014/main" id="{FDCD5146-91B7-81F8-80A0-A61081334232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>
                  <a:lumMod val="65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2" name="Rectangle: Rounded Corners 3">
                <a:extLst>
                  <a:ext uri="{FF2B5EF4-FFF2-40B4-BE49-F238E27FC236}">
                    <a16:creationId xmlns:a16="http://schemas.microsoft.com/office/drawing/2014/main" id="{6F17783A-9061-0165-1001-1500FA410057}"/>
                  </a:ext>
                </a:extLst>
              </p:cNvPr>
              <p:cNvSpPr/>
              <p:nvPr/>
            </p:nvSpPr>
            <p:spPr>
              <a:xfrm>
                <a:off x="761586" y="2676964"/>
                <a:ext cx="2888355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609DBA-A7F2-B772-7275-53CAC37EC639}"/>
                </a:ext>
              </a:extLst>
            </p:cNvPr>
            <p:cNvSpPr txBox="1"/>
            <p:nvPr/>
          </p:nvSpPr>
          <p:spPr>
            <a:xfrm>
              <a:off x="1031570" y="2947303"/>
              <a:ext cx="284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🎯 Why Statistics?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BB1D3C-97BE-AA56-A36B-4021527F77A4}"/>
                </a:ext>
              </a:extLst>
            </p:cNvPr>
            <p:cNvSpPr txBox="1"/>
            <p:nvPr/>
          </p:nvSpPr>
          <p:spPr>
            <a:xfrm>
              <a:off x="929517" y="3763706"/>
              <a:ext cx="3188587" cy="2886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Once we’ve collected and cleaned our data, we need tools to summarize, </a:t>
              </a:r>
              <a:r>
                <a:rPr lang="en-GB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analyze</a:t>
              </a:r>
              <a:r>
                <a:rPr lang="en-GB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and make decisions from it.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Statistics is the language we use to make sense of our data.</a:t>
              </a:r>
              <a:endParaRPr lang="en-0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23A907D-3512-CFE1-2CBE-6444E2A56F34}"/>
              </a:ext>
            </a:extLst>
          </p:cNvPr>
          <p:cNvGrpSpPr/>
          <p:nvPr/>
        </p:nvGrpSpPr>
        <p:grpSpPr>
          <a:xfrm>
            <a:off x="4419600" y="2490153"/>
            <a:ext cx="4162213" cy="3437557"/>
            <a:chOff x="823195" y="2734825"/>
            <a:chExt cx="3349267" cy="409842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DC180E-89D4-08AE-8989-1E8473B0585B}"/>
                </a:ext>
              </a:extLst>
            </p:cNvPr>
            <p:cNvGrpSpPr/>
            <p:nvPr/>
          </p:nvGrpSpPr>
          <p:grpSpPr>
            <a:xfrm>
              <a:off x="823195" y="2734825"/>
              <a:ext cx="3332372" cy="3798287"/>
              <a:chOff x="700645" y="2676964"/>
              <a:chExt cx="2949295" cy="3715597"/>
            </a:xfrm>
          </p:grpSpPr>
          <p:sp>
            <p:nvSpPr>
              <p:cNvPr id="17" name="Rectangle: Rounded Corners 3">
                <a:extLst>
                  <a:ext uri="{FF2B5EF4-FFF2-40B4-BE49-F238E27FC236}">
                    <a16:creationId xmlns:a16="http://schemas.microsoft.com/office/drawing/2014/main" id="{6727A995-B684-D807-BD91-DEE5FD0654F1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>
                  <a:lumMod val="65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8" name="Rectangle: Rounded Corners 3">
                <a:extLst>
                  <a:ext uri="{FF2B5EF4-FFF2-40B4-BE49-F238E27FC236}">
                    <a16:creationId xmlns:a16="http://schemas.microsoft.com/office/drawing/2014/main" id="{C87B84B8-B45E-7A44-7540-02E50107DAA1}"/>
                  </a:ext>
                </a:extLst>
              </p:cNvPr>
              <p:cNvSpPr/>
              <p:nvPr/>
            </p:nvSpPr>
            <p:spPr>
              <a:xfrm>
                <a:off x="761586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9927C7-2958-582C-A0B6-42120C022359}"/>
                </a:ext>
              </a:extLst>
            </p:cNvPr>
            <p:cNvSpPr txBox="1"/>
            <p:nvPr/>
          </p:nvSpPr>
          <p:spPr>
            <a:xfrm>
              <a:off x="1058487" y="2897295"/>
              <a:ext cx="3005572" cy="754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📌 Two Fundamental Questions in Data Analysis: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A32D1C-E173-0870-AB18-EC21A360A1C4}"/>
                </a:ext>
              </a:extLst>
            </p:cNvPr>
            <p:cNvSpPr txBox="1"/>
            <p:nvPr/>
          </p:nvSpPr>
          <p:spPr>
            <a:xfrm>
              <a:off x="983875" y="3814306"/>
              <a:ext cx="3188587" cy="3018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do we know about the data we have?</a:t>
              </a:r>
            </a:p>
            <a:p>
              <a:r>
                <a:rPr lang="en-GB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This is where Descriptive Statistics helps.</a:t>
              </a:r>
            </a:p>
            <a:p>
              <a:r>
                <a:rPr lang="en-GB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can we infer about a bigger picture from this data?</a:t>
              </a:r>
            </a:p>
            <a:p>
              <a:r>
                <a:rPr lang="en-GB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This is the job of Inferential Statistics.</a:t>
              </a:r>
              <a:endParaRPr lang="en-00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EE5284B9-797A-F89D-6B11-9A622AEEF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9585" y="3892196"/>
            <a:ext cx="756921" cy="75692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D86D316-E455-64D2-C120-4A82C1287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15878" y="3231008"/>
            <a:ext cx="756921" cy="756921"/>
          </a:xfrm>
          <a:prstGeom prst="rect">
            <a:avLst/>
          </a:prstGeom>
        </p:spPr>
      </p:pic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FA372892-3F70-D3A9-82C9-464FC7A071DA}"/>
              </a:ext>
            </a:extLst>
          </p:cNvPr>
          <p:cNvCxnSpPr>
            <a:endCxn id="22" idx="1"/>
          </p:cNvCxnSpPr>
          <p:nvPr/>
        </p:nvCxnSpPr>
        <p:spPr>
          <a:xfrm rot="5400000" flipH="1" flipV="1">
            <a:off x="9642327" y="3693649"/>
            <a:ext cx="657731" cy="489372"/>
          </a:xfrm>
          <a:prstGeom prst="curvedConnector2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8F241A-E22D-09E5-0DA8-5A23E90BA5AB}"/>
              </a:ext>
            </a:extLst>
          </p:cNvPr>
          <p:cNvSpPr txBox="1"/>
          <p:nvPr/>
        </p:nvSpPr>
        <p:spPr>
          <a:xfrm>
            <a:off x="8775698" y="4645662"/>
            <a:ext cx="1144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Raw Data</a:t>
            </a:r>
            <a:endParaRPr lang="en-00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538EA0-4A10-A45E-74C4-E8CBD546BBF0}"/>
              </a:ext>
            </a:extLst>
          </p:cNvPr>
          <p:cNvSpPr txBox="1"/>
          <p:nvPr/>
        </p:nvSpPr>
        <p:spPr>
          <a:xfrm>
            <a:off x="10021991" y="2879327"/>
            <a:ext cx="122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Prediction</a:t>
            </a:r>
            <a:endParaRPr lang="en-00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D27E0F-B39F-C585-8E73-FC8D9D99700C}"/>
              </a:ext>
            </a:extLst>
          </p:cNvPr>
          <p:cNvSpPr txBox="1"/>
          <p:nvPr/>
        </p:nvSpPr>
        <p:spPr>
          <a:xfrm>
            <a:off x="807150" y="6214414"/>
            <a:ext cx="10127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Let’s now explore the two core pillars of statistical thinking — Descriptive and Inferential Statistics.</a:t>
            </a:r>
            <a:endParaRPr lang="en-001" dirty="0">
              <a:solidFill>
                <a:schemeClr val="bg1"/>
              </a:solidFill>
            </a:endParaRPr>
          </a:p>
        </p:txBody>
      </p:sp>
      <p:pic>
        <p:nvPicPr>
          <p:cNvPr id="2" name="Picture 2" descr="IIT Mandi Logo">
            <a:extLst>
              <a:ext uri="{FF2B5EF4-FFF2-40B4-BE49-F238E27FC236}">
                <a16:creationId xmlns:a16="http://schemas.microsoft.com/office/drawing/2014/main" id="{4041E793-9CB0-0B87-347B-50ADDD583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46" y="5786765"/>
            <a:ext cx="971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674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5DA2-5404-D99B-D51C-8FEC62A4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8672A0-A8FD-C026-D8B6-B4900A347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7256" y="914400"/>
            <a:ext cx="5806440" cy="5129784"/>
          </a:xfrm>
        </p:spPr>
        <p:txBody>
          <a:bodyPr/>
          <a:lstStyle/>
          <a:p>
            <a:r>
              <a:rPr lang="en-US" b="1" dirty="0"/>
              <a:t>Descriptive </a:t>
            </a:r>
            <a:br>
              <a:rPr lang="en-US" b="1" dirty="0"/>
            </a:br>
            <a:r>
              <a:rPr lang="en-US" b="1" dirty="0"/>
              <a:t>vs. </a:t>
            </a:r>
            <a:br>
              <a:rPr lang="en-US" b="1" dirty="0"/>
            </a:br>
            <a:r>
              <a:rPr lang="en-US" b="1" dirty="0"/>
              <a:t>Inferential Statistics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55AD270-9C0D-A85A-BDA4-90AEAD112900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" r="636"/>
          <a:stretch>
            <a:fillRect/>
          </a:stretch>
        </p:blipFill>
        <p:spPr bwMode="auto">
          <a:xfrm>
            <a:off x="0" y="1053085"/>
            <a:ext cx="4927249" cy="499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246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58982B5-8F68-402F-A2C4-E7F957CA8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48075" y="-339725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sz="4000"/>
              <a:t>A Taxonomy of Statistics</a:t>
            </a:r>
          </a:p>
        </p:txBody>
      </p:sp>
      <p:pic>
        <p:nvPicPr>
          <p:cNvPr id="12291" name="Picture 4">
            <a:extLst>
              <a:ext uri="{FF2B5EF4-FFF2-40B4-BE49-F238E27FC236}">
                <a16:creationId xmlns:a16="http://schemas.microsoft.com/office/drawing/2014/main" id="{648E2C2E-4399-A32A-9755-A9DE12777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782638"/>
            <a:ext cx="8569325" cy="642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6519-FB66-90B7-F88F-595897B7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39AAD5-DF81-CBD1-ABF6-B4943481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Descriptive Statistics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EB4B6-4F23-CEB2-1C72-8C9DF4F2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63EFF8-D53F-3D6D-600A-7D3699935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040" y="2300004"/>
            <a:ext cx="7020560" cy="407031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and describe features of a dataset.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are broken down into measures of central tendency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(Mean, Median, Mode)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measures of variability 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(Range, Variance, Std Dev, IQR).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"The average temperature in June was 24°C.“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GB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Descriptive statistics helps explore what the data says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9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pandas.DataFrame.describe</a:t>
            </a:r>
            <a:r>
              <a:rPr lang="en-GB" sz="19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Generate descriptive statistics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3BDFDB-3D4B-8028-CDDD-D1251C915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732" y="3429000"/>
            <a:ext cx="4096591" cy="174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01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40800-81F8-38C2-787C-C4DA8BD7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24384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Descriptive Statistics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7ACED5-F0C1-5147-3208-967F2778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89D1A1-24FA-080B-BD2F-FFC827B603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45" y="2428239"/>
            <a:ext cx="4323448" cy="365830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0D34B1-AAD2-198E-2DE4-32E241A08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271" y="2255181"/>
            <a:ext cx="4323449" cy="3889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17B344-0098-9CA1-D3BD-D5A0D120A611}"/>
              </a:ext>
            </a:extLst>
          </p:cNvPr>
          <p:cNvSpPr txBox="1"/>
          <p:nvPr/>
        </p:nvSpPr>
        <p:spPr>
          <a:xfrm>
            <a:off x="3159760" y="1602662"/>
            <a:ext cx="645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Mean and Standard Deviations of Temperature over Himalayas </a:t>
            </a:r>
            <a:endParaRPr lang="en-I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67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C16A5FC-991E-DD24-9C4E-A3963AFDF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3760" y="-171450"/>
            <a:ext cx="994029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Statistical Description of Data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72EA2DF-FFDB-A1D8-AE13-A9B5A677F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190" y="1766659"/>
            <a:ext cx="6191250" cy="2094141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describes a numeric set of data by its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19A09-DFED-2D7C-B802-629B203AA1C0}"/>
              </a:ext>
            </a:extLst>
          </p:cNvPr>
          <p:cNvSpPr txBox="1"/>
          <p:nvPr/>
        </p:nvSpPr>
        <p:spPr>
          <a:xfrm>
            <a:off x="715010" y="3981539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Tx/>
              <a:buChar char="•"/>
              <a:defRPr/>
            </a:pPr>
            <a:r>
              <a:rPr lang="en-US" altLang="en-US" sz="1800" dirty="0">
                <a:solidFill>
                  <a:srgbClr val="0000FF"/>
                </a:solidFill>
              </a:rPr>
              <a:t>When we gather data, we want to uncover the “information” in it. One easy way to do that is to think of: “Shape –Center- Spread”</a:t>
            </a:r>
          </a:p>
          <a:p>
            <a:pPr algn="just">
              <a:lnSpc>
                <a:spcPct val="150000"/>
              </a:lnSpc>
              <a:buFontTx/>
              <a:buChar char="•"/>
              <a:defRPr/>
            </a:pPr>
            <a:r>
              <a:rPr lang="en-US" altLang="en-US" sz="1800" b="1" i="1" dirty="0">
                <a:solidFill>
                  <a:srgbClr val="0000FF"/>
                </a:solidFill>
              </a:rPr>
              <a:t>Shape</a:t>
            </a:r>
            <a:r>
              <a:rPr lang="en-US" altLang="en-US" sz="1800" dirty="0">
                <a:solidFill>
                  <a:srgbClr val="0000FF"/>
                </a:solidFill>
              </a:rPr>
              <a:t> – What is the shape of the histogram?</a:t>
            </a:r>
          </a:p>
          <a:p>
            <a:pPr algn="just">
              <a:lnSpc>
                <a:spcPct val="150000"/>
              </a:lnSpc>
              <a:buFontTx/>
              <a:buChar char="•"/>
              <a:defRPr/>
            </a:pPr>
            <a:r>
              <a:rPr lang="en-US" altLang="en-US" sz="1800" b="1" i="1" dirty="0">
                <a:solidFill>
                  <a:srgbClr val="0000FF"/>
                </a:solidFill>
              </a:rPr>
              <a:t>Center </a:t>
            </a:r>
            <a:r>
              <a:rPr lang="en-US" altLang="en-US" sz="1800" dirty="0">
                <a:solidFill>
                  <a:srgbClr val="0000FF"/>
                </a:solidFill>
              </a:rPr>
              <a:t>– What is the mean or median?</a:t>
            </a:r>
          </a:p>
          <a:p>
            <a:pPr algn="just">
              <a:lnSpc>
                <a:spcPct val="150000"/>
              </a:lnSpc>
              <a:buFontTx/>
              <a:buChar char="•"/>
              <a:defRPr/>
            </a:pPr>
            <a:r>
              <a:rPr lang="en-US" altLang="en-US" sz="1800" b="1" i="1" dirty="0">
                <a:solidFill>
                  <a:srgbClr val="0000FF"/>
                </a:solidFill>
              </a:rPr>
              <a:t>Spread</a:t>
            </a:r>
            <a:r>
              <a:rPr lang="en-US" altLang="en-US" sz="1800" dirty="0">
                <a:solidFill>
                  <a:srgbClr val="0000FF"/>
                </a:solidFill>
              </a:rPr>
              <a:t> – What is the range or standard deviation?</a:t>
            </a:r>
            <a:endParaRPr lang="en-IN" dirty="0">
              <a:solidFill>
                <a:srgbClr val="0000FF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6C53CF-5E8E-1BFF-60D7-181ABEBE6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102" y="2077085"/>
            <a:ext cx="5053888" cy="2703830"/>
          </a:xfrm>
          <a:prstGeom prst="rect">
            <a:avLst/>
          </a:prstGeom>
        </p:spPr>
      </p:pic>
      <p:sp>
        <p:nvSpPr>
          <p:cNvPr id="32" name="Rectangle 2">
            <a:extLst>
              <a:ext uri="{FF2B5EF4-FFF2-40B4-BE49-F238E27FC236}">
                <a16:creationId xmlns:a16="http://schemas.microsoft.com/office/drawing/2014/main" id="{BE5CE12A-4CC5-4E12-83AD-574AD7A56042}"/>
              </a:ext>
            </a:extLst>
          </p:cNvPr>
          <p:cNvSpPr txBox="1">
            <a:spLocks noChangeArrowheads="1"/>
          </p:cNvSpPr>
          <p:nvPr/>
        </p:nvSpPr>
        <p:spPr>
          <a:xfrm>
            <a:off x="5277739" y="1548930"/>
            <a:ext cx="7616952" cy="40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u="sng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olidFill>
                  <a:srgbClr val="0000FF"/>
                </a:solidFill>
              </a:rPr>
              <a:t>Shape – Center - Spread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F0C9791-801E-1903-C3C6-C9C179D27B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71464"/>
            <a:ext cx="9829800" cy="125253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Shape: The “shape” of the data is called its “distribution”?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41FECED-0D3C-02BE-BD0C-B246E190F1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889760"/>
            <a:ext cx="11043920" cy="427736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mean = median = mode, the shape of the distribution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mode &lt; median &lt; mean, the shape of the distribution trails to the right,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positively skewed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mean &lt; median &lt; mode, the shape of the distribution trails to the left,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negatively skewed.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 of various “shapes” have different properties and names such as the “normal” distribution, which is also known as the “bell curve” (among mathematicians it is called the Gaussian Distribution). </a:t>
            </a:r>
          </a:p>
        </p:txBody>
      </p:sp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0" name="Object 4">
            <a:extLst>
              <a:ext uri="{FF2B5EF4-FFF2-40B4-BE49-F238E27FC236}">
                <a16:creationId xmlns:a16="http://schemas.microsoft.com/office/drawing/2014/main" id="{38C66477-2FF2-D522-E4C3-06F53E537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557059"/>
              </p:ext>
            </p:extLst>
          </p:nvPr>
        </p:nvGraphicFramePr>
        <p:xfrm>
          <a:off x="1895474" y="384127"/>
          <a:ext cx="8834120" cy="608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8.0 Graph" r:id="rId2" imgW="6377760" imgH="4870800" progId="SigmaPlotGraphicObject.7">
                  <p:embed/>
                </p:oleObj>
              </mc:Choice>
              <mc:Fallback>
                <p:oleObj name="SPW 8.0 Graph" r:id="rId2" imgW="6377760" imgH="4870800" progId="SigmaPlotGraphicObject.7">
                  <p:embed/>
                  <p:pic>
                    <p:nvPicPr>
                      <p:cNvPr id="94210" name="Object 4">
                        <a:extLst>
                          <a:ext uri="{FF2B5EF4-FFF2-40B4-BE49-F238E27FC236}">
                            <a16:creationId xmlns:a16="http://schemas.microsoft.com/office/drawing/2014/main" id="{38C66477-2FF2-D522-E4C3-06F53E537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4" y="384127"/>
                        <a:ext cx="8834120" cy="6089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3" name="Rectangle 10">
            <a:extLst>
              <a:ext uri="{FF2B5EF4-FFF2-40B4-BE49-F238E27FC236}">
                <a16:creationId xmlns:a16="http://schemas.microsoft.com/office/drawing/2014/main" id="{0253D2F1-AEE5-B4FC-BB2B-32AC53AA7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-1619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Normal Distribution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24BED3-E86E-929D-E60C-38EA55674410}"/>
              </a:ext>
            </a:extLst>
          </p:cNvPr>
          <p:cNvGrpSpPr/>
          <p:nvPr/>
        </p:nvGrpSpPr>
        <p:grpSpPr>
          <a:xfrm>
            <a:off x="3276601" y="784226"/>
            <a:ext cx="7019925" cy="4397375"/>
            <a:chOff x="1752600" y="784225"/>
            <a:chExt cx="7019925" cy="4397375"/>
          </a:xfrm>
        </p:grpSpPr>
        <p:sp>
          <p:nvSpPr>
            <p:cNvPr id="94211" name="Freeform 6">
              <a:extLst>
                <a:ext uri="{FF2B5EF4-FFF2-40B4-BE49-F238E27FC236}">
                  <a16:creationId xmlns:a16="http://schemas.microsoft.com/office/drawing/2014/main" id="{9ABBFCDB-A650-875E-AC2F-61DE593C4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0" y="990600"/>
              <a:ext cx="6781800" cy="4102100"/>
            </a:xfrm>
            <a:custGeom>
              <a:avLst/>
              <a:gdLst>
                <a:gd name="T0" fmla="*/ 0 w 4272"/>
                <a:gd name="T1" fmla="*/ 2147483646 h 2584"/>
                <a:gd name="T2" fmla="*/ 2147483646 w 4272"/>
                <a:gd name="T3" fmla="*/ 2147483646 h 2584"/>
                <a:gd name="T4" fmla="*/ 2147483646 w 4272"/>
                <a:gd name="T5" fmla="*/ 0 h 2584"/>
                <a:gd name="T6" fmla="*/ 2147483646 w 4272"/>
                <a:gd name="T7" fmla="*/ 2147483646 h 2584"/>
                <a:gd name="T8" fmla="*/ 2147483646 w 4272"/>
                <a:gd name="T9" fmla="*/ 2147483646 h 25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72" h="2584">
                  <a:moveTo>
                    <a:pt x="0" y="2544"/>
                  </a:moveTo>
                  <a:cubicBezTo>
                    <a:pt x="160" y="2564"/>
                    <a:pt x="320" y="2584"/>
                    <a:pt x="672" y="2160"/>
                  </a:cubicBezTo>
                  <a:cubicBezTo>
                    <a:pt x="1024" y="1736"/>
                    <a:pt x="1632" y="0"/>
                    <a:pt x="2112" y="0"/>
                  </a:cubicBezTo>
                  <a:cubicBezTo>
                    <a:pt x="2592" y="0"/>
                    <a:pt x="3192" y="1736"/>
                    <a:pt x="3552" y="2160"/>
                  </a:cubicBezTo>
                  <a:cubicBezTo>
                    <a:pt x="3912" y="2584"/>
                    <a:pt x="4092" y="2564"/>
                    <a:pt x="4272" y="2544"/>
                  </a:cubicBezTo>
                </a:path>
              </a:pathLst>
            </a:cu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27" name="Line 7">
              <a:extLst>
                <a:ext uri="{FF2B5EF4-FFF2-40B4-BE49-F238E27FC236}">
                  <a16:creationId xmlns:a16="http://schemas.microsoft.com/office/drawing/2014/main" id="{6B6BFD3B-6DEF-0CD2-3E58-F45CB168E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990600"/>
              <a:ext cx="0" cy="419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1" name="Line 11">
              <a:extLst>
                <a:ext uri="{FF2B5EF4-FFF2-40B4-BE49-F238E27FC236}">
                  <a16:creationId xmlns:a16="http://schemas.microsoft.com/office/drawing/2014/main" id="{60AE84CC-B030-CBAE-CD42-059F2297A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784225"/>
              <a:ext cx="12239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2" name="Line 12">
              <a:extLst>
                <a:ext uri="{FF2B5EF4-FFF2-40B4-BE49-F238E27FC236}">
                  <a16:creationId xmlns:a16="http://schemas.microsoft.com/office/drawing/2014/main" id="{CC83037D-F138-45C2-CF77-6AF465FC6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400" y="784225"/>
              <a:ext cx="0" cy="1444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3" name="Line 13">
              <a:extLst>
                <a:ext uri="{FF2B5EF4-FFF2-40B4-BE49-F238E27FC236}">
                  <a16:creationId xmlns:a16="http://schemas.microsoft.com/office/drawing/2014/main" id="{14610362-1B98-3D1D-7459-8FBF2C200A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9363" y="784225"/>
              <a:ext cx="0" cy="5762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4" name="Line 14">
              <a:extLst>
                <a:ext uri="{FF2B5EF4-FFF2-40B4-BE49-F238E27FC236}">
                  <a16:creationId xmlns:a16="http://schemas.microsoft.com/office/drawing/2014/main" id="{9DAC3D74-8E47-B047-8025-F4C907359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9363" y="1360488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5" name="Line 15">
              <a:extLst>
                <a:ext uri="{FF2B5EF4-FFF2-40B4-BE49-F238E27FC236}">
                  <a16:creationId xmlns:a16="http://schemas.microsoft.com/office/drawing/2014/main" id="{3D1E592C-EC43-863E-0C0F-EDCA01E92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45263" y="1358900"/>
              <a:ext cx="0" cy="5762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6" name="Line 16">
              <a:extLst>
                <a:ext uri="{FF2B5EF4-FFF2-40B4-BE49-F238E27FC236}">
                  <a16:creationId xmlns:a16="http://schemas.microsoft.com/office/drawing/2014/main" id="{AE12F253-55BE-B25F-E329-F44305765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45263" y="1935163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7" name="Line 17">
              <a:extLst>
                <a:ext uri="{FF2B5EF4-FFF2-40B4-BE49-F238E27FC236}">
                  <a16:creationId xmlns:a16="http://schemas.microsoft.com/office/drawing/2014/main" id="{84C4BDAB-3189-6DDC-1483-16C554A73B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61163" y="1935163"/>
              <a:ext cx="0" cy="57626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8" name="Line 18">
              <a:extLst>
                <a:ext uri="{FF2B5EF4-FFF2-40B4-BE49-F238E27FC236}">
                  <a16:creationId xmlns:a16="http://schemas.microsoft.com/office/drawing/2014/main" id="{0F40ED0C-B4F9-B66E-5586-4F7F8FC4E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1163" y="2511425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9939" name="Text Box 19">
              <a:extLst>
                <a:ext uri="{FF2B5EF4-FFF2-40B4-BE49-F238E27FC236}">
                  <a16:creationId xmlns:a16="http://schemas.microsoft.com/office/drawing/2014/main" id="{B9DF4040-8074-FF2B-CC2C-5D087E800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9725" y="1109663"/>
              <a:ext cx="16557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rPr>
                <a:t>Mode</a:t>
              </a:r>
            </a:p>
          </p:txBody>
        </p:sp>
        <p:sp>
          <p:nvSpPr>
            <p:cNvPr id="209940" name="Text Box 20">
              <a:extLst>
                <a:ext uri="{FF2B5EF4-FFF2-40B4-BE49-F238E27FC236}">
                  <a16:creationId xmlns:a16="http://schemas.microsoft.com/office/drawing/2014/main" id="{46716993-CFEE-0824-C74A-B2CBDC6D8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5150" y="1689100"/>
              <a:ext cx="16557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rPr>
                <a:t>Median</a:t>
              </a:r>
            </a:p>
          </p:txBody>
        </p:sp>
        <p:sp>
          <p:nvSpPr>
            <p:cNvPr id="209941" name="Text Box 21">
              <a:extLst>
                <a:ext uri="{FF2B5EF4-FFF2-40B4-BE49-F238E27FC236}">
                  <a16:creationId xmlns:a16="http://schemas.microsoft.com/office/drawing/2014/main" id="{6D70BBA6-6BD5-23A0-39FA-234A3577B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6763" y="2262188"/>
              <a:ext cx="16557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rPr>
                <a:t>Mean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2">
            <a:extLst>
              <a:ext uri="{FF2B5EF4-FFF2-40B4-BE49-F238E27FC236}">
                <a16:creationId xmlns:a16="http://schemas.microsoft.com/office/drawing/2014/main" id="{4CEFB4FA-7225-3FE1-8024-7C19B28E20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486955"/>
              </p:ext>
            </p:extLst>
          </p:nvPr>
        </p:nvGraphicFramePr>
        <p:xfrm>
          <a:off x="1779589" y="595313"/>
          <a:ext cx="8610600" cy="593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8.0 Graph" r:id="rId3" imgW="6377760" imgH="4870800" progId="SigmaPlotGraphicObject.7">
                  <p:embed/>
                </p:oleObj>
              </mc:Choice>
              <mc:Fallback>
                <p:oleObj name="SPW 8.0 Graph" r:id="rId3" imgW="6377760" imgH="4870800" progId="SigmaPlotGraphicObject.7">
                  <p:embed/>
                  <p:pic>
                    <p:nvPicPr>
                      <p:cNvPr id="95234" name="Object 2">
                        <a:extLst>
                          <a:ext uri="{FF2B5EF4-FFF2-40B4-BE49-F238E27FC236}">
                            <a16:creationId xmlns:a16="http://schemas.microsoft.com/office/drawing/2014/main" id="{4CEFB4FA-7225-3FE1-8024-7C19B28E20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9" y="595313"/>
                        <a:ext cx="8610600" cy="593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5" name="Rectangle 3">
            <a:extLst>
              <a:ext uri="{FF2B5EF4-FFF2-40B4-BE49-F238E27FC236}">
                <a16:creationId xmlns:a16="http://schemas.microsoft.com/office/drawing/2014/main" id="{1190AF39-24E0-06E4-F6C9-26F6C630F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-1619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Non-Normal Distribution</a:t>
            </a:r>
          </a:p>
        </p:txBody>
      </p:sp>
      <p:grpSp>
        <p:nvGrpSpPr>
          <p:cNvPr id="221188" name="Group 4">
            <a:extLst>
              <a:ext uri="{FF2B5EF4-FFF2-40B4-BE49-F238E27FC236}">
                <a16:creationId xmlns:a16="http://schemas.microsoft.com/office/drawing/2014/main" id="{99873623-392E-5C03-7893-4B687F7345E7}"/>
              </a:ext>
            </a:extLst>
          </p:cNvPr>
          <p:cNvGrpSpPr>
            <a:grpSpLocks/>
          </p:cNvGrpSpPr>
          <p:nvPr/>
        </p:nvGrpSpPr>
        <p:grpSpPr bwMode="auto">
          <a:xfrm>
            <a:off x="7593014" y="936626"/>
            <a:ext cx="428625" cy="4124325"/>
            <a:chOff x="3096" y="624"/>
            <a:chExt cx="270" cy="2598"/>
          </a:xfrm>
        </p:grpSpPr>
        <p:graphicFrame>
          <p:nvGraphicFramePr>
            <p:cNvPr id="95261" name="Object 5">
              <a:extLst>
                <a:ext uri="{FF2B5EF4-FFF2-40B4-BE49-F238E27FC236}">
                  <a16:creationId xmlns:a16="http://schemas.microsoft.com/office/drawing/2014/main" id="{F517F95C-16A3-6CA9-37A9-AC74E453AA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96" y="2784"/>
            <a:ext cx="270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5" imgW="428798" imgH="695238" progId="Paint.Picture">
                    <p:embed/>
                  </p:oleObj>
                </mc:Choice>
                <mc:Fallback>
                  <p:oleObj name="Bitmap Image" r:id="rId5" imgW="428798" imgH="695238" progId="Paint.Picture">
                    <p:embed/>
                    <p:pic>
                      <p:nvPicPr>
                        <p:cNvPr id="95261" name="Object 5">
                          <a:extLst>
                            <a:ext uri="{FF2B5EF4-FFF2-40B4-BE49-F238E27FC236}">
                              <a16:creationId xmlns:a16="http://schemas.microsoft.com/office/drawing/2014/main" id="{F517F95C-16A3-6CA9-37A9-AC74E453AA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2784"/>
                          <a:ext cx="270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5262" name="Group 6">
              <a:extLst>
                <a:ext uri="{FF2B5EF4-FFF2-40B4-BE49-F238E27FC236}">
                  <a16:creationId xmlns:a16="http://schemas.microsoft.com/office/drawing/2014/main" id="{8606ECFE-D6FC-17C4-B275-156025ED4A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6" y="624"/>
              <a:ext cx="270" cy="2166"/>
              <a:chOff x="3096" y="624"/>
              <a:chExt cx="270" cy="2166"/>
            </a:xfrm>
          </p:grpSpPr>
          <p:graphicFrame>
            <p:nvGraphicFramePr>
              <p:cNvPr id="95263" name="Object 7">
                <a:extLst>
                  <a:ext uri="{FF2B5EF4-FFF2-40B4-BE49-F238E27FC236}">
                    <a16:creationId xmlns:a16="http://schemas.microsoft.com/office/drawing/2014/main" id="{BB8D749A-0EBA-B240-4160-A4C03FA2A33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2352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7" imgW="428798" imgH="695238" progId="Paint.Picture">
                      <p:embed/>
                    </p:oleObj>
                  </mc:Choice>
                  <mc:Fallback>
                    <p:oleObj name="Bitmap Image" r:id="rId7" imgW="428798" imgH="695238" progId="Paint.Picture">
                      <p:embed/>
                      <p:pic>
                        <p:nvPicPr>
                          <p:cNvPr id="95263" name="Object 7">
                            <a:extLst>
                              <a:ext uri="{FF2B5EF4-FFF2-40B4-BE49-F238E27FC236}">
                                <a16:creationId xmlns:a16="http://schemas.microsoft.com/office/drawing/2014/main" id="{BB8D749A-0EBA-B240-4160-A4C03FA2A33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2352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64" name="Object 8">
                <a:extLst>
                  <a:ext uri="{FF2B5EF4-FFF2-40B4-BE49-F238E27FC236}">
                    <a16:creationId xmlns:a16="http://schemas.microsoft.com/office/drawing/2014/main" id="{0C1468BA-08CA-38B5-0FED-58D2006E5D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1920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8" imgW="428798" imgH="695238" progId="Paint.Picture">
                      <p:embed/>
                    </p:oleObj>
                  </mc:Choice>
                  <mc:Fallback>
                    <p:oleObj name="Bitmap Image" r:id="rId8" imgW="428798" imgH="695238" progId="Paint.Picture">
                      <p:embed/>
                      <p:pic>
                        <p:nvPicPr>
                          <p:cNvPr id="95264" name="Object 8">
                            <a:extLst>
                              <a:ext uri="{FF2B5EF4-FFF2-40B4-BE49-F238E27FC236}">
                                <a16:creationId xmlns:a16="http://schemas.microsoft.com/office/drawing/2014/main" id="{0C1468BA-08CA-38B5-0FED-58D2006E5D0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1920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65" name="Object 9">
                <a:extLst>
                  <a:ext uri="{FF2B5EF4-FFF2-40B4-BE49-F238E27FC236}">
                    <a16:creationId xmlns:a16="http://schemas.microsoft.com/office/drawing/2014/main" id="{85BBDFA8-A301-5C0A-1C8E-F70ABE34C1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1488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8" imgW="428798" imgH="695238" progId="Paint.Picture">
                      <p:embed/>
                    </p:oleObj>
                  </mc:Choice>
                  <mc:Fallback>
                    <p:oleObj name="Bitmap Image" r:id="rId8" imgW="428798" imgH="695238" progId="Paint.Picture">
                      <p:embed/>
                      <p:pic>
                        <p:nvPicPr>
                          <p:cNvPr id="95265" name="Object 9">
                            <a:extLst>
                              <a:ext uri="{FF2B5EF4-FFF2-40B4-BE49-F238E27FC236}">
                                <a16:creationId xmlns:a16="http://schemas.microsoft.com/office/drawing/2014/main" id="{85BBDFA8-A301-5C0A-1C8E-F70ABE34C14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1488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66" name="Object 10">
                <a:extLst>
                  <a:ext uri="{FF2B5EF4-FFF2-40B4-BE49-F238E27FC236}">
                    <a16:creationId xmlns:a16="http://schemas.microsoft.com/office/drawing/2014/main" id="{7E2EB9EF-CF2E-9684-66CD-612CFF4D7C9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1056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8" imgW="428798" imgH="695238" progId="Paint.Picture">
                      <p:embed/>
                    </p:oleObj>
                  </mc:Choice>
                  <mc:Fallback>
                    <p:oleObj name="Bitmap Image" r:id="rId8" imgW="428798" imgH="695238" progId="Paint.Picture">
                      <p:embed/>
                      <p:pic>
                        <p:nvPicPr>
                          <p:cNvPr id="95266" name="Object 10">
                            <a:extLst>
                              <a:ext uri="{FF2B5EF4-FFF2-40B4-BE49-F238E27FC236}">
                                <a16:creationId xmlns:a16="http://schemas.microsoft.com/office/drawing/2014/main" id="{7E2EB9EF-CF2E-9684-66CD-612CFF4D7C9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1056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67" name="Object 11">
                <a:extLst>
                  <a:ext uri="{FF2B5EF4-FFF2-40B4-BE49-F238E27FC236}">
                    <a16:creationId xmlns:a16="http://schemas.microsoft.com/office/drawing/2014/main" id="{36B8368E-8381-9C26-5848-3D097F047C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624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8" imgW="428798" imgH="695238" progId="Paint.Picture">
                      <p:embed/>
                    </p:oleObj>
                  </mc:Choice>
                  <mc:Fallback>
                    <p:oleObj name="Bitmap Image" r:id="rId8" imgW="428798" imgH="695238" progId="Paint.Picture">
                      <p:embed/>
                      <p:pic>
                        <p:nvPicPr>
                          <p:cNvPr id="95267" name="Object 11">
                            <a:extLst>
                              <a:ext uri="{FF2B5EF4-FFF2-40B4-BE49-F238E27FC236}">
                                <a16:creationId xmlns:a16="http://schemas.microsoft.com/office/drawing/2014/main" id="{36B8368E-8381-9C26-5848-3D097F047C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624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21201" name="Group 17">
            <a:extLst>
              <a:ext uri="{FF2B5EF4-FFF2-40B4-BE49-F238E27FC236}">
                <a16:creationId xmlns:a16="http://schemas.microsoft.com/office/drawing/2014/main" id="{E678400C-3A11-2244-BE8B-0FD0721FDCD2}"/>
              </a:ext>
            </a:extLst>
          </p:cNvPr>
          <p:cNvGrpSpPr>
            <a:grpSpLocks/>
          </p:cNvGrpSpPr>
          <p:nvPr/>
        </p:nvGrpSpPr>
        <p:grpSpPr bwMode="auto">
          <a:xfrm>
            <a:off x="6440489" y="2276476"/>
            <a:ext cx="428625" cy="2752725"/>
            <a:chOff x="3792" y="1488"/>
            <a:chExt cx="270" cy="1734"/>
          </a:xfrm>
        </p:grpSpPr>
        <p:graphicFrame>
          <p:nvGraphicFramePr>
            <p:cNvPr id="95255" name="Object 18">
              <a:extLst>
                <a:ext uri="{FF2B5EF4-FFF2-40B4-BE49-F238E27FC236}">
                  <a16:creationId xmlns:a16="http://schemas.microsoft.com/office/drawing/2014/main" id="{D4408375-A285-5CF9-5A3F-2A8E7DD535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2784"/>
            <a:ext cx="270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5" imgW="428798" imgH="695238" progId="Paint.Picture">
                    <p:embed/>
                  </p:oleObj>
                </mc:Choice>
                <mc:Fallback>
                  <p:oleObj name="Bitmap Image" r:id="rId5" imgW="428798" imgH="695238" progId="Paint.Picture">
                    <p:embed/>
                    <p:pic>
                      <p:nvPicPr>
                        <p:cNvPr id="95255" name="Object 18">
                          <a:extLst>
                            <a:ext uri="{FF2B5EF4-FFF2-40B4-BE49-F238E27FC236}">
                              <a16:creationId xmlns:a16="http://schemas.microsoft.com/office/drawing/2014/main" id="{D4408375-A285-5CF9-5A3F-2A8E7DD535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784"/>
                          <a:ext cx="270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5256" name="Group 19">
              <a:extLst>
                <a:ext uri="{FF2B5EF4-FFF2-40B4-BE49-F238E27FC236}">
                  <a16:creationId xmlns:a16="http://schemas.microsoft.com/office/drawing/2014/main" id="{A7D95019-5B19-F903-CDB1-EAEA1DF2F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488"/>
              <a:ext cx="270" cy="1734"/>
              <a:chOff x="2400" y="1488"/>
              <a:chExt cx="270" cy="1734"/>
            </a:xfrm>
          </p:grpSpPr>
          <p:graphicFrame>
            <p:nvGraphicFramePr>
              <p:cNvPr id="95257" name="Object 20">
                <a:extLst>
                  <a:ext uri="{FF2B5EF4-FFF2-40B4-BE49-F238E27FC236}">
                    <a16:creationId xmlns:a16="http://schemas.microsoft.com/office/drawing/2014/main" id="{7E27940C-F5D3-D7B2-466E-718E626D40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2784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9" imgW="428798" imgH="695238" progId="Paint.Picture">
                      <p:embed/>
                    </p:oleObj>
                  </mc:Choice>
                  <mc:Fallback>
                    <p:oleObj name="Bitmap Image" r:id="rId9" imgW="428798" imgH="695238" progId="Paint.Picture">
                      <p:embed/>
                      <p:pic>
                        <p:nvPicPr>
                          <p:cNvPr id="95257" name="Object 20">
                            <a:extLst>
                              <a:ext uri="{FF2B5EF4-FFF2-40B4-BE49-F238E27FC236}">
                                <a16:creationId xmlns:a16="http://schemas.microsoft.com/office/drawing/2014/main" id="{7E27940C-F5D3-D7B2-466E-718E626D400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2784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58" name="Object 21">
                <a:extLst>
                  <a:ext uri="{FF2B5EF4-FFF2-40B4-BE49-F238E27FC236}">
                    <a16:creationId xmlns:a16="http://schemas.microsoft.com/office/drawing/2014/main" id="{19B12E6B-4CB5-0B26-34D4-54B9CB76AD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2352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10" imgW="428798" imgH="695238" progId="Paint.Picture">
                      <p:embed/>
                    </p:oleObj>
                  </mc:Choice>
                  <mc:Fallback>
                    <p:oleObj name="Bitmap Image" r:id="rId10" imgW="428798" imgH="695238" progId="Paint.Picture">
                      <p:embed/>
                      <p:pic>
                        <p:nvPicPr>
                          <p:cNvPr id="95258" name="Object 21">
                            <a:extLst>
                              <a:ext uri="{FF2B5EF4-FFF2-40B4-BE49-F238E27FC236}">
                                <a16:creationId xmlns:a16="http://schemas.microsoft.com/office/drawing/2014/main" id="{19B12E6B-4CB5-0B26-34D4-54B9CB76ADD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2352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59" name="Object 22">
                <a:extLst>
                  <a:ext uri="{FF2B5EF4-FFF2-40B4-BE49-F238E27FC236}">
                    <a16:creationId xmlns:a16="http://schemas.microsoft.com/office/drawing/2014/main" id="{535124EA-97C9-BA09-1790-43DB9F02E4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1920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10" imgW="428798" imgH="695238" progId="Paint.Picture">
                      <p:embed/>
                    </p:oleObj>
                  </mc:Choice>
                  <mc:Fallback>
                    <p:oleObj name="Bitmap Image" r:id="rId10" imgW="428798" imgH="695238" progId="Paint.Picture">
                      <p:embed/>
                      <p:pic>
                        <p:nvPicPr>
                          <p:cNvPr id="95259" name="Object 22">
                            <a:extLst>
                              <a:ext uri="{FF2B5EF4-FFF2-40B4-BE49-F238E27FC236}">
                                <a16:creationId xmlns:a16="http://schemas.microsoft.com/office/drawing/2014/main" id="{535124EA-97C9-BA09-1790-43DB9F02E40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1920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60" name="Object 23">
                <a:extLst>
                  <a:ext uri="{FF2B5EF4-FFF2-40B4-BE49-F238E27FC236}">
                    <a16:creationId xmlns:a16="http://schemas.microsoft.com/office/drawing/2014/main" id="{B3D9C4CC-26FD-63C5-DA73-695BFFC7DD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1488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10" imgW="428798" imgH="695238" progId="Paint.Picture">
                      <p:embed/>
                    </p:oleObj>
                  </mc:Choice>
                  <mc:Fallback>
                    <p:oleObj name="Bitmap Image" r:id="rId10" imgW="428798" imgH="695238" progId="Paint.Picture">
                      <p:embed/>
                      <p:pic>
                        <p:nvPicPr>
                          <p:cNvPr id="95260" name="Object 23">
                            <a:extLst>
                              <a:ext uri="{FF2B5EF4-FFF2-40B4-BE49-F238E27FC236}">
                                <a16:creationId xmlns:a16="http://schemas.microsoft.com/office/drawing/2014/main" id="{B3D9C4CC-26FD-63C5-DA73-695BFFC7DD5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1488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221209" name="Picture 25">
            <a:extLst>
              <a:ext uri="{FF2B5EF4-FFF2-40B4-BE49-F238E27FC236}">
                <a16:creationId xmlns:a16="http://schemas.microsoft.com/office/drawing/2014/main" id="{03F7076A-4402-529D-9B25-2AC639C0F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4371976"/>
            <a:ext cx="4286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1210" name="Picture 26">
            <a:extLst>
              <a:ext uri="{FF2B5EF4-FFF2-40B4-BE49-F238E27FC236}">
                <a16:creationId xmlns:a16="http://schemas.microsoft.com/office/drawing/2014/main" id="{A6652694-3A2F-A7BD-B9D6-AA58195FF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1" y="4371976"/>
            <a:ext cx="4286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1211" name="Line 27">
            <a:extLst>
              <a:ext uri="{FF2B5EF4-FFF2-40B4-BE49-F238E27FC236}">
                <a16:creationId xmlns:a16="http://schemas.microsoft.com/office/drawing/2014/main" id="{28110B7E-9FAA-3747-25DE-608147F5B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9388" y="884238"/>
            <a:ext cx="0" cy="419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21233" name="Group 49">
            <a:extLst>
              <a:ext uri="{FF2B5EF4-FFF2-40B4-BE49-F238E27FC236}">
                <a16:creationId xmlns:a16="http://schemas.microsoft.com/office/drawing/2014/main" id="{76545406-AFB6-BD83-3181-D11766FCF6B8}"/>
              </a:ext>
            </a:extLst>
          </p:cNvPr>
          <p:cNvGrpSpPr>
            <a:grpSpLocks/>
          </p:cNvGrpSpPr>
          <p:nvPr/>
        </p:nvGrpSpPr>
        <p:grpSpPr bwMode="auto">
          <a:xfrm>
            <a:off x="5303839" y="2997200"/>
            <a:ext cx="428625" cy="2063750"/>
            <a:chOff x="2381" y="1888"/>
            <a:chExt cx="270" cy="1300"/>
          </a:xfrm>
        </p:grpSpPr>
        <p:pic>
          <p:nvPicPr>
            <p:cNvPr id="95252" name="Picture 37">
              <a:extLst>
                <a:ext uri="{FF2B5EF4-FFF2-40B4-BE49-F238E27FC236}">
                  <a16:creationId xmlns:a16="http://schemas.microsoft.com/office/drawing/2014/main" id="{CA4F8011-9915-F030-02DE-669036F140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1" y="2750"/>
              <a:ext cx="27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253" name="Picture 38">
              <a:extLst>
                <a:ext uri="{FF2B5EF4-FFF2-40B4-BE49-F238E27FC236}">
                  <a16:creationId xmlns:a16="http://schemas.microsoft.com/office/drawing/2014/main" id="{F0D8AAC8-E596-4B24-4261-86DBC849CB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1" y="2314"/>
              <a:ext cx="27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254" name="Picture 39">
              <a:extLst>
                <a:ext uri="{FF2B5EF4-FFF2-40B4-BE49-F238E27FC236}">
                  <a16:creationId xmlns:a16="http://schemas.microsoft.com/office/drawing/2014/main" id="{A891BB4D-46B7-87D1-D16F-639F6B2F60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1" y="1888"/>
              <a:ext cx="27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1220" name="Freeform 36">
            <a:extLst>
              <a:ext uri="{FF2B5EF4-FFF2-40B4-BE49-F238E27FC236}">
                <a16:creationId xmlns:a16="http://schemas.microsoft.com/office/drawing/2014/main" id="{E60C219F-0509-83DA-79B1-968B36C9A509}"/>
              </a:ext>
            </a:extLst>
          </p:cNvPr>
          <p:cNvSpPr>
            <a:spLocks/>
          </p:cNvSpPr>
          <p:nvPr/>
        </p:nvSpPr>
        <p:spPr bwMode="auto">
          <a:xfrm>
            <a:off x="3684588" y="574675"/>
            <a:ext cx="5688012" cy="4021138"/>
          </a:xfrm>
          <a:custGeom>
            <a:avLst/>
            <a:gdLst>
              <a:gd name="T0" fmla="*/ 0 w 3583"/>
              <a:gd name="T1" fmla="*/ 2147483646 h 2533"/>
              <a:gd name="T2" fmla="*/ 2147483646 w 3583"/>
              <a:gd name="T3" fmla="*/ 2147483646 h 2533"/>
              <a:gd name="T4" fmla="*/ 2147483646 w 3583"/>
              <a:gd name="T5" fmla="*/ 2147483646 h 2533"/>
              <a:gd name="T6" fmla="*/ 2147483646 w 3583"/>
              <a:gd name="T7" fmla="*/ 2147483646 h 253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583" h="2533">
                <a:moveTo>
                  <a:pt x="0" y="2533"/>
                </a:moveTo>
                <a:cubicBezTo>
                  <a:pt x="412" y="2208"/>
                  <a:pt x="824" y="1883"/>
                  <a:pt x="1270" y="1490"/>
                </a:cubicBezTo>
                <a:cubicBezTo>
                  <a:pt x="1716" y="1097"/>
                  <a:pt x="2291" y="0"/>
                  <a:pt x="2676" y="174"/>
                </a:cubicBezTo>
                <a:cubicBezTo>
                  <a:pt x="3061" y="348"/>
                  <a:pt x="3322" y="1440"/>
                  <a:pt x="3583" y="2533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1224" name="Text Box 40">
            <a:extLst>
              <a:ext uri="{FF2B5EF4-FFF2-40B4-BE49-F238E27FC236}">
                <a16:creationId xmlns:a16="http://schemas.microsoft.com/office/drawing/2014/main" id="{E7DE3A80-3763-4CBA-B57E-C0D422BC1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9676" y="908050"/>
            <a:ext cx="324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Negative Skew</a:t>
            </a:r>
          </a:p>
        </p:txBody>
      </p:sp>
      <p:sp>
        <p:nvSpPr>
          <p:cNvPr id="221225" name="Line 41">
            <a:extLst>
              <a:ext uri="{FF2B5EF4-FFF2-40B4-BE49-F238E27FC236}">
                <a16:creationId xmlns:a16="http://schemas.microsoft.com/office/drawing/2014/main" id="{8970D625-010F-0D98-BA92-385C48E6F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822325"/>
            <a:ext cx="10080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1226" name="Text Box 42">
            <a:extLst>
              <a:ext uri="{FF2B5EF4-FFF2-40B4-BE49-F238E27FC236}">
                <a16:creationId xmlns:a16="http://schemas.microsoft.com/office/drawing/2014/main" id="{289DE01A-BF0E-DCF4-D09B-151036498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4426" y="595313"/>
            <a:ext cx="165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Mode</a:t>
            </a:r>
          </a:p>
        </p:txBody>
      </p:sp>
      <p:sp>
        <p:nvSpPr>
          <p:cNvPr id="221227" name="Line 43">
            <a:extLst>
              <a:ext uri="{FF2B5EF4-FFF2-40B4-BE49-F238E27FC236}">
                <a16:creationId xmlns:a16="http://schemas.microsoft.com/office/drawing/2014/main" id="{5480BDCE-42F8-6AB3-E6DB-21F28F431B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3213" y="1835151"/>
            <a:ext cx="4762" cy="3254375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1228" name="Line 44">
            <a:extLst>
              <a:ext uri="{FF2B5EF4-FFF2-40B4-BE49-F238E27FC236}">
                <a16:creationId xmlns:a16="http://schemas.microsoft.com/office/drawing/2014/main" id="{D3E2DEB8-8ACE-E0EE-68DF-D93A5DA97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5151" y="1792288"/>
            <a:ext cx="100806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1229" name="Text Box 45">
            <a:extLst>
              <a:ext uri="{FF2B5EF4-FFF2-40B4-BE49-F238E27FC236}">
                <a16:creationId xmlns:a16="http://schemas.microsoft.com/office/drawing/2014/main" id="{EDA9ADCE-0F12-E114-4BAC-48120002F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9464" y="1512888"/>
            <a:ext cx="1146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Median</a:t>
            </a:r>
          </a:p>
        </p:txBody>
      </p:sp>
      <p:sp>
        <p:nvSpPr>
          <p:cNvPr id="221230" name="Line 46">
            <a:extLst>
              <a:ext uri="{FF2B5EF4-FFF2-40B4-BE49-F238E27FC236}">
                <a16:creationId xmlns:a16="http://schemas.microsoft.com/office/drawing/2014/main" id="{4CBAE2AB-AA0E-121D-F9E1-02A9E1EAFA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0463" y="2349500"/>
            <a:ext cx="0" cy="2820988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1231" name="Line 47">
            <a:extLst>
              <a:ext uri="{FF2B5EF4-FFF2-40B4-BE49-F238E27FC236}">
                <a16:creationId xmlns:a16="http://schemas.microsoft.com/office/drawing/2014/main" id="{F40FBF25-2366-0450-DD8B-AB03D329A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6051" y="2324100"/>
            <a:ext cx="100806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1232" name="Text Box 48">
            <a:extLst>
              <a:ext uri="{FF2B5EF4-FFF2-40B4-BE49-F238E27FC236}">
                <a16:creationId xmlns:a16="http://schemas.microsoft.com/office/drawing/2014/main" id="{323D9BA5-096E-6EC8-3C2B-B9481EDB8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1" y="2060575"/>
            <a:ext cx="1146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Mean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2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2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2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2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22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24" grpId="0"/>
      <p:bldP spid="221226" grpId="0"/>
      <p:bldP spid="221229" grpId="0"/>
      <p:bldP spid="22123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2" name="Object 2">
            <a:extLst>
              <a:ext uri="{FF2B5EF4-FFF2-40B4-BE49-F238E27FC236}">
                <a16:creationId xmlns:a16="http://schemas.microsoft.com/office/drawing/2014/main" id="{D9D96A3B-6AC5-E444-3C8F-C6D5B30F68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333172"/>
              </p:ext>
            </p:extLst>
          </p:nvPr>
        </p:nvGraphicFramePr>
        <p:xfrm>
          <a:off x="2047241" y="750072"/>
          <a:ext cx="7772400" cy="535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8.0 Graph" r:id="rId3" imgW="6377760" imgH="4870800" progId="SigmaPlotGraphicObject.7">
                  <p:embed/>
                </p:oleObj>
              </mc:Choice>
              <mc:Fallback>
                <p:oleObj name="SPW 8.0 Graph" r:id="rId3" imgW="6377760" imgH="4870800" progId="SigmaPlotGraphicObject.7">
                  <p:embed/>
                  <p:pic>
                    <p:nvPicPr>
                      <p:cNvPr id="97282" name="Object 2">
                        <a:extLst>
                          <a:ext uri="{FF2B5EF4-FFF2-40B4-BE49-F238E27FC236}">
                            <a16:creationId xmlns:a16="http://schemas.microsoft.com/office/drawing/2014/main" id="{D9D96A3B-6AC5-E444-3C8F-C6D5B30F68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241" y="750072"/>
                        <a:ext cx="7772400" cy="5357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3" name="Rectangle 3">
            <a:extLst>
              <a:ext uri="{FF2B5EF4-FFF2-40B4-BE49-F238E27FC236}">
                <a16:creationId xmlns:a16="http://schemas.microsoft.com/office/drawing/2014/main" id="{A14FB1E5-279A-9008-D19F-5BCDBD30A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-1619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altLang="en-US" sz="4400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Non-Normal Distribution</a:t>
            </a:r>
          </a:p>
        </p:txBody>
      </p:sp>
      <p:grpSp>
        <p:nvGrpSpPr>
          <p:cNvPr id="223236" name="Group 4">
            <a:extLst>
              <a:ext uri="{FF2B5EF4-FFF2-40B4-BE49-F238E27FC236}">
                <a16:creationId xmlns:a16="http://schemas.microsoft.com/office/drawing/2014/main" id="{03EE2A75-29D5-70E3-DA07-43BF6C5205FF}"/>
              </a:ext>
            </a:extLst>
          </p:cNvPr>
          <p:cNvGrpSpPr>
            <a:grpSpLocks/>
          </p:cNvGrpSpPr>
          <p:nvPr/>
        </p:nvGrpSpPr>
        <p:grpSpPr bwMode="auto">
          <a:xfrm>
            <a:off x="5307014" y="936626"/>
            <a:ext cx="428625" cy="4124325"/>
            <a:chOff x="3096" y="624"/>
            <a:chExt cx="270" cy="2598"/>
          </a:xfrm>
        </p:grpSpPr>
        <p:graphicFrame>
          <p:nvGraphicFramePr>
            <p:cNvPr id="97309" name="Object 5">
              <a:extLst>
                <a:ext uri="{FF2B5EF4-FFF2-40B4-BE49-F238E27FC236}">
                  <a16:creationId xmlns:a16="http://schemas.microsoft.com/office/drawing/2014/main" id="{E2D5D8B1-01B8-2D4F-8ACB-E92F669211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96" y="2784"/>
            <a:ext cx="270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5" imgW="428798" imgH="695238" progId="Paint.Picture">
                    <p:embed/>
                  </p:oleObj>
                </mc:Choice>
                <mc:Fallback>
                  <p:oleObj name="Bitmap Image" r:id="rId5" imgW="428798" imgH="695238" progId="Paint.Picture">
                    <p:embed/>
                    <p:pic>
                      <p:nvPicPr>
                        <p:cNvPr id="97309" name="Object 5">
                          <a:extLst>
                            <a:ext uri="{FF2B5EF4-FFF2-40B4-BE49-F238E27FC236}">
                              <a16:creationId xmlns:a16="http://schemas.microsoft.com/office/drawing/2014/main" id="{E2D5D8B1-01B8-2D4F-8ACB-E92F669211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2784"/>
                          <a:ext cx="270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7310" name="Group 6">
              <a:extLst>
                <a:ext uri="{FF2B5EF4-FFF2-40B4-BE49-F238E27FC236}">
                  <a16:creationId xmlns:a16="http://schemas.microsoft.com/office/drawing/2014/main" id="{3F755277-95B8-43F9-35CE-BFD8D043C7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6" y="624"/>
              <a:ext cx="270" cy="2166"/>
              <a:chOff x="3096" y="624"/>
              <a:chExt cx="270" cy="2166"/>
            </a:xfrm>
          </p:grpSpPr>
          <p:graphicFrame>
            <p:nvGraphicFramePr>
              <p:cNvPr id="97311" name="Object 7">
                <a:extLst>
                  <a:ext uri="{FF2B5EF4-FFF2-40B4-BE49-F238E27FC236}">
                    <a16:creationId xmlns:a16="http://schemas.microsoft.com/office/drawing/2014/main" id="{B3A5A244-F36D-E94E-0F18-9D5E483168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2352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7" imgW="428798" imgH="695238" progId="Paint.Picture">
                      <p:embed/>
                    </p:oleObj>
                  </mc:Choice>
                  <mc:Fallback>
                    <p:oleObj name="Bitmap Image" r:id="rId7" imgW="428798" imgH="695238" progId="Paint.Picture">
                      <p:embed/>
                      <p:pic>
                        <p:nvPicPr>
                          <p:cNvPr id="97311" name="Object 7">
                            <a:extLst>
                              <a:ext uri="{FF2B5EF4-FFF2-40B4-BE49-F238E27FC236}">
                                <a16:creationId xmlns:a16="http://schemas.microsoft.com/office/drawing/2014/main" id="{B3A5A244-F36D-E94E-0F18-9D5E483168B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2352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312" name="Object 8">
                <a:extLst>
                  <a:ext uri="{FF2B5EF4-FFF2-40B4-BE49-F238E27FC236}">
                    <a16:creationId xmlns:a16="http://schemas.microsoft.com/office/drawing/2014/main" id="{A98438D0-B8ED-8B32-13D3-ECE902FAF37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1920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8" imgW="428798" imgH="695238" progId="Paint.Picture">
                      <p:embed/>
                    </p:oleObj>
                  </mc:Choice>
                  <mc:Fallback>
                    <p:oleObj name="Bitmap Image" r:id="rId8" imgW="428798" imgH="695238" progId="Paint.Picture">
                      <p:embed/>
                      <p:pic>
                        <p:nvPicPr>
                          <p:cNvPr id="97312" name="Object 8">
                            <a:extLst>
                              <a:ext uri="{FF2B5EF4-FFF2-40B4-BE49-F238E27FC236}">
                                <a16:creationId xmlns:a16="http://schemas.microsoft.com/office/drawing/2014/main" id="{A98438D0-B8ED-8B32-13D3-ECE902FAF37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1920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313" name="Object 9">
                <a:extLst>
                  <a:ext uri="{FF2B5EF4-FFF2-40B4-BE49-F238E27FC236}">
                    <a16:creationId xmlns:a16="http://schemas.microsoft.com/office/drawing/2014/main" id="{57AF987F-735B-5058-EE19-88147A73B0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1488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8" imgW="428798" imgH="695238" progId="Paint.Picture">
                      <p:embed/>
                    </p:oleObj>
                  </mc:Choice>
                  <mc:Fallback>
                    <p:oleObj name="Bitmap Image" r:id="rId8" imgW="428798" imgH="695238" progId="Paint.Picture">
                      <p:embed/>
                      <p:pic>
                        <p:nvPicPr>
                          <p:cNvPr id="97313" name="Object 9">
                            <a:extLst>
                              <a:ext uri="{FF2B5EF4-FFF2-40B4-BE49-F238E27FC236}">
                                <a16:creationId xmlns:a16="http://schemas.microsoft.com/office/drawing/2014/main" id="{57AF987F-735B-5058-EE19-88147A73B0D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1488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314" name="Object 10">
                <a:extLst>
                  <a:ext uri="{FF2B5EF4-FFF2-40B4-BE49-F238E27FC236}">
                    <a16:creationId xmlns:a16="http://schemas.microsoft.com/office/drawing/2014/main" id="{AD45E35E-9A73-C176-B372-B6D986049E7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1056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8" imgW="428798" imgH="695238" progId="Paint.Picture">
                      <p:embed/>
                    </p:oleObj>
                  </mc:Choice>
                  <mc:Fallback>
                    <p:oleObj name="Bitmap Image" r:id="rId8" imgW="428798" imgH="695238" progId="Paint.Picture">
                      <p:embed/>
                      <p:pic>
                        <p:nvPicPr>
                          <p:cNvPr id="97314" name="Object 10">
                            <a:extLst>
                              <a:ext uri="{FF2B5EF4-FFF2-40B4-BE49-F238E27FC236}">
                                <a16:creationId xmlns:a16="http://schemas.microsoft.com/office/drawing/2014/main" id="{AD45E35E-9A73-C176-B372-B6D986049E7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1056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315" name="Object 11">
                <a:extLst>
                  <a:ext uri="{FF2B5EF4-FFF2-40B4-BE49-F238E27FC236}">
                    <a16:creationId xmlns:a16="http://schemas.microsoft.com/office/drawing/2014/main" id="{5F816F53-8D58-CE16-F33E-8B9408C1F2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6" y="624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8" imgW="428798" imgH="695238" progId="Paint.Picture">
                      <p:embed/>
                    </p:oleObj>
                  </mc:Choice>
                  <mc:Fallback>
                    <p:oleObj name="Bitmap Image" r:id="rId8" imgW="428798" imgH="695238" progId="Paint.Picture">
                      <p:embed/>
                      <p:pic>
                        <p:nvPicPr>
                          <p:cNvPr id="97315" name="Object 11">
                            <a:extLst>
                              <a:ext uri="{FF2B5EF4-FFF2-40B4-BE49-F238E27FC236}">
                                <a16:creationId xmlns:a16="http://schemas.microsoft.com/office/drawing/2014/main" id="{5F816F53-8D58-CE16-F33E-8B9408C1F20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6" y="624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23244" name="Group 12">
            <a:extLst>
              <a:ext uri="{FF2B5EF4-FFF2-40B4-BE49-F238E27FC236}">
                <a16:creationId xmlns:a16="http://schemas.microsoft.com/office/drawing/2014/main" id="{EC3CBF40-028D-A894-4B96-215F9EF3A8F5}"/>
              </a:ext>
            </a:extLst>
          </p:cNvPr>
          <p:cNvGrpSpPr>
            <a:grpSpLocks/>
          </p:cNvGrpSpPr>
          <p:nvPr/>
        </p:nvGrpSpPr>
        <p:grpSpPr bwMode="auto">
          <a:xfrm>
            <a:off x="6440489" y="2276476"/>
            <a:ext cx="428625" cy="2752725"/>
            <a:chOff x="3792" y="1488"/>
            <a:chExt cx="270" cy="1734"/>
          </a:xfrm>
        </p:grpSpPr>
        <p:graphicFrame>
          <p:nvGraphicFramePr>
            <p:cNvPr id="97303" name="Object 13">
              <a:extLst>
                <a:ext uri="{FF2B5EF4-FFF2-40B4-BE49-F238E27FC236}">
                  <a16:creationId xmlns:a16="http://schemas.microsoft.com/office/drawing/2014/main" id="{AC2D4DDB-5F1A-70E1-3AE7-603D99F01B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2784"/>
            <a:ext cx="270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5" imgW="428798" imgH="695238" progId="Paint.Picture">
                    <p:embed/>
                  </p:oleObj>
                </mc:Choice>
                <mc:Fallback>
                  <p:oleObj name="Bitmap Image" r:id="rId5" imgW="428798" imgH="695238" progId="Paint.Picture">
                    <p:embed/>
                    <p:pic>
                      <p:nvPicPr>
                        <p:cNvPr id="97303" name="Object 13">
                          <a:extLst>
                            <a:ext uri="{FF2B5EF4-FFF2-40B4-BE49-F238E27FC236}">
                              <a16:creationId xmlns:a16="http://schemas.microsoft.com/office/drawing/2014/main" id="{AC2D4DDB-5F1A-70E1-3AE7-603D99F01B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784"/>
                          <a:ext cx="270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7304" name="Group 14">
              <a:extLst>
                <a:ext uri="{FF2B5EF4-FFF2-40B4-BE49-F238E27FC236}">
                  <a16:creationId xmlns:a16="http://schemas.microsoft.com/office/drawing/2014/main" id="{7CA3FCD2-B1A8-D4B9-BED8-FB9AAD04B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488"/>
              <a:ext cx="270" cy="1734"/>
              <a:chOff x="2400" y="1488"/>
              <a:chExt cx="270" cy="1734"/>
            </a:xfrm>
          </p:grpSpPr>
          <p:graphicFrame>
            <p:nvGraphicFramePr>
              <p:cNvPr id="97305" name="Object 15">
                <a:extLst>
                  <a:ext uri="{FF2B5EF4-FFF2-40B4-BE49-F238E27FC236}">
                    <a16:creationId xmlns:a16="http://schemas.microsoft.com/office/drawing/2014/main" id="{60F44947-DDCF-86FD-F1ED-D0C7E84B345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2784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9" imgW="428798" imgH="695238" progId="Paint.Picture">
                      <p:embed/>
                    </p:oleObj>
                  </mc:Choice>
                  <mc:Fallback>
                    <p:oleObj name="Bitmap Image" r:id="rId9" imgW="428798" imgH="695238" progId="Paint.Picture">
                      <p:embed/>
                      <p:pic>
                        <p:nvPicPr>
                          <p:cNvPr id="97305" name="Object 15">
                            <a:extLst>
                              <a:ext uri="{FF2B5EF4-FFF2-40B4-BE49-F238E27FC236}">
                                <a16:creationId xmlns:a16="http://schemas.microsoft.com/office/drawing/2014/main" id="{60F44947-DDCF-86FD-F1ED-D0C7E84B345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2784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306" name="Object 16">
                <a:extLst>
                  <a:ext uri="{FF2B5EF4-FFF2-40B4-BE49-F238E27FC236}">
                    <a16:creationId xmlns:a16="http://schemas.microsoft.com/office/drawing/2014/main" id="{82D33622-A21F-3FC1-3122-394FE02EF94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2352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10" imgW="428798" imgH="695238" progId="Paint.Picture">
                      <p:embed/>
                    </p:oleObj>
                  </mc:Choice>
                  <mc:Fallback>
                    <p:oleObj name="Bitmap Image" r:id="rId10" imgW="428798" imgH="695238" progId="Paint.Picture">
                      <p:embed/>
                      <p:pic>
                        <p:nvPicPr>
                          <p:cNvPr id="97306" name="Object 16">
                            <a:extLst>
                              <a:ext uri="{FF2B5EF4-FFF2-40B4-BE49-F238E27FC236}">
                                <a16:creationId xmlns:a16="http://schemas.microsoft.com/office/drawing/2014/main" id="{82D33622-A21F-3FC1-3122-394FE02EF9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2352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307" name="Object 17">
                <a:extLst>
                  <a:ext uri="{FF2B5EF4-FFF2-40B4-BE49-F238E27FC236}">
                    <a16:creationId xmlns:a16="http://schemas.microsoft.com/office/drawing/2014/main" id="{0343CF14-C6E5-F504-F486-5CD1127A7B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1920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10" imgW="428798" imgH="695238" progId="Paint.Picture">
                      <p:embed/>
                    </p:oleObj>
                  </mc:Choice>
                  <mc:Fallback>
                    <p:oleObj name="Bitmap Image" r:id="rId10" imgW="428798" imgH="695238" progId="Paint.Picture">
                      <p:embed/>
                      <p:pic>
                        <p:nvPicPr>
                          <p:cNvPr id="97307" name="Object 17">
                            <a:extLst>
                              <a:ext uri="{FF2B5EF4-FFF2-40B4-BE49-F238E27FC236}">
                                <a16:creationId xmlns:a16="http://schemas.microsoft.com/office/drawing/2014/main" id="{0343CF14-C6E5-F504-F486-5CD1127A7B3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1920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308" name="Object 18">
                <a:extLst>
                  <a:ext uri="{FF2B5EF4-FFF2-40B4-BE49-F238E27FC236}">
                    <a16:creationId xmlns:a16="http://schemas.microsoft.com/office/drawing/2014/main" id="{87325378-8DA4-CFFE-1EEE-617D1CD649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1488"/>
              <a:ext cx="270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10" imgW="428798" imgH="695238" progId="Paint.Picture">
                      <p:embed/>
                    </p:oleObj>
                  </mc:Choice>
                  <mc:Fallback>
                    <p:oleObj name="Bitmap Image" r:id="rId10" imgW="428798" imgH="695238" progId="Paint.Picture">
                      <p:embed/>
                      <p:pic>
                        <p:nvPicPr>
                          <p:cNvPr id="97308" name="Object 18">
                            <a:extLst>
                              <a:ext uri="{FF2B5EF4-FFF2-40B4-BE49-F238E27FC236}">
                                <a16:creationId xmlns:a16="http://schemas.microsoft.com/office/drawing/2014/main" id="{87325378-8DA4-CFFE-1EEE-617D1CD649B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1488"/>
                            <a:ext cx="270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223251" name="Picture 19">
            <a:extLst>
              <a:ext uri="{FF2B5EF4-FFF2-40B4-BE49-F238E27FC236}">
                <a16:creationId xmlns:a16="http://schemas.microsoft.com/office/drawing/2014/main" id="{31E25CBE-D89E-A84D-DED9-8F6D18E91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4371976"/>
            <a:ext cx="4286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3252" name="Picture 20">
            <a:extLst>
              <a:ext uri="{FF2B5EF4-FFF2-40B4-BE49-F238E27FC236}">
                <a16:creationId xmlns:a16="http://schemas.microsoft.com/office/drawing/2014/main" id="{566FA737-8710-540A-BC05-ECBFA21E3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1" y="4371976"/>
            <a:ext cx="4286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3253" name="Line 21">
            <a:extLst>
              <a:ext uri="{FF2B5EF4-FFF2-40B4-BE49-F238E27FC236}">
                <a16:creationId xmlns:a16="http://schemas.microsoft.com/office/drawing/2014/main" id="{5C872CC5-AED3-1EB6-7DA4-5061128B1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884238"/>
            <a:ext cx="0" cy="419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23267" name="Group 35">
            <a:extLst>
              <a:ext uri="{FF2B5EF4-FFF2-40B4-BE49-F238E27FC236}">
                <a16:creationId xmlns:a16="http://schemas.microsoft.com/office/drawing/2014/main" id="{1334676E-EC88-308B-199F-74D9BDD06C3D}"/>
              </a:ext>
            </a:extLst>
          </p:cNvPr>
          <p:cNvGrpSpPr>
            <a:grpSpLocks/>
          </p:cNvGrpSpPr>
          <p:nvPr/>
        </p:nvGrpSpPr>
        <p:grpSpPr bwMode="auto">
          <a:xfrm>
            <a:off x="7535863" y="2997200"/>
            <a:ext cx="431800" cy="2063750"/>
            <a:chOff x="3787" y="1888"/>
            <a:chExt cx="272" cy="1300"/>
          </a:xfrm>
        </p:grpSpPr>
        <p:pic>
          <p:nvPicPr>
            <p:cNvPr id="97300" name="Picture 22">
              <a:extLst>
                <a:ext uri="{FF2B5EF4-FFF2-40B4-BE49-F238E27FC236}">
                  <a16:creationId xmlns:a16="http://schemas.microsoft.com/office/drawing/2014/main" id="{4F9A74EF-46A1-38A9-247B-8FA7251434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7" y="2750"/>
              <a:ext cx="27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301" name="Picture 23">
              <a:extLst>
                <a:ext uri="{FF2B5EF4-FFF2-40B4-BE49-F238E27FC236}">
                  <a16:creationId xmlns:a16="http://schemas.microsoft.com/office/drawing/2014/main" id="{972FA117-796A-AF65-DFBB-7E8A2C60F0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9" y="2314"/>
              <a:ext cx="27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302" name="Picture 24">
              <a:extLst>
                <a:ext uri="{FF2B5EF4-FFF2-40B4-BE49-F238E27FC236}">
                  <a16:creationId xmlns:a16="http://schemas.microsoft.com/office/drawing/2014/main" id="{E21B91D6-2E3C-0D09-7D9D-14E2025D2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9" y="1888"/>
              <a:ext cx="27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3257" name="Freeform 25">
            <a:extLst>
              <a:ext uri="{FF2B5EF4-FFF2-40B4-BE49-F238E27FC236}">
                <a16:creationId xmlns:a16="http://schemas.microsoft.com/office/drawing/2014/main" id="{3A8A6948-59C4-0F25-7672-8B0459F9E460}"/>
              </a:ext>
            </a:extLst>
          </p:cNvPr>
          <p:cNvSpPr>
            <a:spLocks/>
          </p:cNvSpPr>
          <p:nvPr/>
        </p:nvSpPr>
        <p:spPr bwMode="auto">
          <a:xfrm flipH="1">
            <a:off x="3902076" y="620714"/>
            <a:ext cx="5794375" cy="3862387"/>
          </a:xfrm>
          <a:custGeom>
            <a:avLst/>
            <a:gdLst>
              <a:gd name="T0" fmla="*/ 0 w 3583"/>
              <a:gd name="T1" fmla="*/ 2147483646 h 2533"/>
              <a:gd name="T2" fmla="*/ 2147483646 w 3583"/>
              <a:gd name="T3" fmla="*/ 2147483646 h 2533"/>
              <a:gd name="T4" fmla="*/ 2147483646 w 3583"/>
              <a:gd name="T5" fmla="*/ 2147483646 h 2533"/>
              <a:gd name="T6" fmla="*/ 2147483646 w 3583"/>
              <a:gd name="T7" fmla="*/ 2147483646 h 253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583" h="2533">
                <a:moveTo>
                  <a:pt x="0" y="2533"/>
                </a:moveTo>
                <a:cubicBezTo>
                  <a:pt x="412" y="2208"/>
                  <a:pt x="824" y="1883"/>
                  <a:pt x="1270" y="1490"/>
                </a:cubicBezTo>
                <a:cubicBezTo>
                  <a:pt x="1716" y="1097"/>
                  <a:pt x="2291" y="0"/>
                  <a:pt x="2676" y="174"/>
                </a:cubicBezTo>
                <a:cubicBezTo>
                  <a:pt x="3061" y="348"/>
                  <a:pt x="3322" y="1440"/>
                  <a:pt x="3583" y="2533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3258" name="Text Box 26">
            <a:extLst>
              <a:ext uri="{FF2B5EF4-FFF2-40B4-BE49-F238E27FC236}">
                <a16:creationId xmlns:a16="http://schemas.microsoft.com/office/drawing/2014/main" id="{C437BB58-3442-1F16-A31B-611773EE3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1925" y="908050"/>
            <a:ext cx="205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Positive Skew</a:t>
            </a:r>
          </a:p>
        </p:txBody>
      </p:sp>
      <p:sp>
        <p:nvSpPr>
          <p:cNvPr id="223259" name="Line 27">
            <a:extLst>
              <a:ext uri="{FF2B5EF4-FFF2-40B4-BE49-F238E27FC236}">
                <a16:creationId xmlns:a16="http://schemas.microsoft.com/office/drawing/2014/main" id="{A28A7350-985B-F936-9A4B-92DCC9476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836613"/>
            <a:ext cx="10080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3260" name="Text Box 28">
            <a:extLst>
              <a:ext uri="{FF2B5EF4-FFF2-40B4-BE49-F238E27FC236}">
                <a16:creationId xmlns:a16="http://schemas.microsoft.com/office/drawing/2014/main" id="{82120C77-87A6-44A4-538C-5F784B1B5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363" y="595313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Mode</a:t>
            </a:r>
          </a:p>
        </p:txBody>
      </p:sp>
      <p:sp>
        <p:nvSpPr>
          <p:cNvPr id="223261" name="Line 29">
            <a:extLst>
              <a:ext uri="{FF2B5EF4-FFF2-40B4-BE49-F238E27FC236}">
                <a16:creationId xmlns:a16="http://schemas.microsoft.com/office/drawing/2014/main" id="{43B7135F-2A0B-782D-9946-7313CF491B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3213" y="1835151"/>
            <a:ext cx="4762" cy="3254375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3262" name="Line 30">
            <a:extLst>
              <a:ext uri="{FF2B5EF4-FFF2-40B4-BE49-F238E27FC236}">
                <a16:creationId xmlns:a16="http://schemas.microsoft.com/office/drawing/2014/main" id="{74356AA3-B57F-499D-F94B-439CC344A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1792288"/>
            <a:ext cx="10080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3263" name="Text Box 31">
            <a:extLst>
              <a:ext uri="{FF2B5EF4-FFF2-40B4-BE49-F238E27FC236}">
                <a16:creationId xmlns:a16="http://schemas.microsoft.com/office/drawing/2014/main" id="{11288A86-6C9F-D471-033E-8D2206A34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1557338"/>
            <a:ext cx="1146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Median</a:t>
            </a:r>
          </a:p>
        </p:txBody>
      </p:sp>
      <p:sp>
        <p:nvSpPr>
          <p:cNvPr id="223264" name="Line 32">
            <a:extLst>
              <a:ext uri="{FF2B5EF4-FFF2-40B4-BE49-F238E27FC236}">
                <a16:creationId xmlns:a16="http://schemas.microsoft.com/office/drawing/2014/main" id="{0F248B8D-C4BA-B98A-9EA1-4085330CA4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75500" y="2349500"/>
            <a:ext cx="0" cy="2820988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3265" name="Line 33">
            <a:extLst>
              <a:ext uri="{FF2B5EF4-FFF2-40B4-BE49-F238E27FC236}">
                <a16:creationId xmlns:a16="http://schemas.microsoft.com/office/drawing/2014/main" id="{A9341471-3FDA-E337-40D8-2B73D8F06D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5501" y="2349500"/>
            <a:ext cx="100806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3266" name="Text Box 34">
            <a:extLst>
              <a:ext uri="{FF2B5EF4-FFF2-40B4-BE49-F238E27FC236}">
                <a16:creationId xmlns:a16="http://schemas.microsoft.com/office/drawing/2014/main" id="{D89C6E46-7823-2913-9390-664FBD124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6" y="2108200"/>
            <a:ext cx="1146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Mean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2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2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22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2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2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2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2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2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2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2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2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2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2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58" grpId="0"/>
      <p:bldP spid="223260" grpId="0"/>
      <p:bldP spid="223263" grpId="0"/>
      <p:bldP spid="22326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733CA36B-E184-F623-FFBC-990530C8C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10360152" cy="1179576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Use of quartiles in research </a:t>
            </a:r>
            <a:endParaRPr lang="en-IN" altLang="en-US" b="1" dirty="0">
              <a:solidFill>
                <a:srgbClr val="FF0000"/>
              </a:solidFill>
            </a:endParaRPr>
          </a:p>
        </p:txBody>
      </p:sp>
      <p:pic>
        <p:nvPicPr>
          <p:cNvPr id="79875" name="image5.png">
            <a:extLst>
              <a:ext uri="{FF2B5EF4-FFF2-40B4-BE49-F238E27FC236}">
                <a16:creationId xmlns:a16="http://schemas.microsoft.com/office/drawing/2014/main" id="{1A42ACAA-1364-8420-C10C-2CFEF2F98046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9701" y="1856104"/>
            <a:ext cx="5999099" cy="4636135"/>
          </a:xfr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E8AB253-17BE-27A0-6591-B1F6F3F605A5}"/>
              </a:ext>
            </a:extLst>
          </p:cNvPr>
          <p:cNvSpPr txBox="1">
            <a:spLocks/>
          </p:cNvSpPr>
          <p:nvPr/>
        </p:nvSpPr>
        <p:spPr>
          <a:xfrm>
            <a:off x="6979920" y="1856104"/>
            <a:ext cx="5212080" cy="4352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GB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the quartile values we -</a:t>
            </a:r>
          </a:p>
          <a:p>
            <a:pPr>
              <a:defRPr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 the data in order</a:t>
            </a:r>
          </a:p>
          <a:p>
            <a:pPr>
              <a:defRPr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 into two equal halves</a:t>
            </a:r>
          </a:p>
          <a:p>
            <a:pPr>
              <a:defRPr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middle value of each half.  These values are the quartiles.</a:t>
            </a:r>
          </a:p>
          <a:p>
            <a:pPr>
              <a:defRPr/>
            </a:pPr>
            <a:endParaRPr lang="en-GB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Interquartile range =  Upper quartile – Lower quartile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1DA277D5-F248-75C4-CB11-BD20C02E6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Problem solving and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FB25A-BC99-B089-67A0-499F3135F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2377440"/>
            <a:ext cx="9875520" cy="35295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ages (in years) of the members of a branch of a football supporters club are given in the table below.</a:t>
            </a:r>
          </a:p>
          <a:p>
            <a:pPr marL="0" indent="0"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180 members in the branch.  How many are aged between 54 and 19 years old?</a:t>
            </a:r>
          </a:p>
          <a:p>
            <a:pPr marL="0" indent="0">
              <a:buNone/>
            </a:pPr>
            <a:r>
              <a:rPr lang="en-GB" alt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0" indent="0">
              <a:buNone/>
            </a:pPr>
            <a:r>
              <a:rPr lang="en-GB" alt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 and 19 are the values of the quartiles.</a:t>
            </a:r>
          </a:p>
          <a:p>
            <a:pPr marL="0" indent="0">
              <a:buNone/>
            </a:pPr>
            <a:r>
              <a:rPr lang="en-GB" alt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50% of the values lying between the quartiles</a:t>
            </a:r>
          </a:p>
          <a:p>
            <a:pPr marL="0" indent="0">
              <a:buNone/>
            </a:pPr>
            <a:r>
              <a:rPr lang="en-GB" alt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 of 180 = 90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2E42EA-5B03-08DA-AEEA-DB0678B21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038769"/>
              </p:ext>
            </p:extLst>
          </p:nvPr>
        </p:nvGraphicFramePr>
        <p:xfrm>
          <a:off x="2621280" y="2878456"/>
          <a:ext cx="6096000" cy="889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Youngest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Lower quartile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Median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Upper quartile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Oldest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19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31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54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74 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3077EAA2-7766-F326-150C-9CDAA8627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8480" y="364236"/>
            <a:ext cx="10360152" cy="1179576"/>
          </a:xfrm>
        </p:spPr>
        <p:txBody>
          <a:bodyPr/>
          <a:lstStyle/>
          <a:p>
            <a:pPr eaLnBrk="1" hangingPunct="1"/>
            <a:r>
              <a:rPr lang="en-US" altLang="en-US"/>
              <a:t>Deciles and Percentiles</a:t>
            </a:r>
          </a:p>
        </p:txBody>
      </p:sp>
      <p:graphicFrame>
        <p:nvGraphicFramePr>
          <p:cNvPr id="111619" name="Object 14">
            <a:extLst>
              <a:ext uri="{FF2B5EF4-FFF2-40B4-BE49-F238E27FC236}">
                <a16:creationId xmlns:a16="http://schemas.microsoft.com/office/drawing/2014/main" id="{FFA6B208-A675-8A18-3163-B2869B17EFA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439691"/>
              </p:ext>
            </p:extLst>
          </p:nvPr>
        </p:nvGraphicFramePr>
        <p:xfrm>
          <a:off x="3992880" y="5749328"/>
          <a:ext cx="1016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7780" imgH="393529" progId="Equation.3">
                  <p:embed/>
                </p:oleObj>
              </mc:Choice>
              <mc:Fallback>
                <p:oleObj name="Equation" r:id="rId3" imgW="507780" imgH="393529" progId="Equation.3">
                  <p:embed/>
                  <p:pic>
                    <p:nvPicPr>
                      <p:cNvPr id="111619" name="Object 14">
                        <a:extLst>
                          <a:ext uri="{FF2B5EF4-FFF2-40B4-BE49-F238E27FC236}">
                            <a16:creationId xmlns:a16="http://schemas.microsoft.com/office/drawing/2014/main" id="{FFA6B208-A675-8A18-3163-B2869B17EFA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880" y="5749328"/>
                        <a:ext cx="1016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0" name="Text Box 4">
            <a:extLst>
              <a:ext uri="{FF2B5EF4-FFF2-40B4-BE49-F238E27FC236}">
                <a16:creationId xmlns:a16="http://schemas.microsoft.com/office/drawing/2014/main" id="{D8F761CC-ABD1-EF0D-33FE-2FD7071C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" y="2727282"/>
            <a:ext cx="11036300" cy="872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Percentiles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data is ordered and divided into 100 parts, then cut points are called Percentiles. 25</a:t>
            </a:r>
            <a:r>
              <a:rPr lang="en-US" altLang="en-US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percentile is the Q1, 50</a:t>
            </a:r>
            <a:r>
              <a:rPr lang="en-US" altLang="en-US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Verdana" panose="020B0604030504040204" pitchFamily="34" charset="0"/>
              </a:rPr>
              <a:t>percentile is the Median (Q2) and the 75</a:t>
            </a:r>
            <a:r>
              <a:rPr lang="en-US" altLang="en-US" baseline="30000" dirty="0">
                <a:solidFill>
                  <a:srgbClr val="0000FF"/>
                </a:solidFill>
                <a:latin typeface="Verdana" panose="020B0604030504040204" pitchFamily="34" charset="0"/>
              </a:rPr>
              <a:t>th</a:t>
            </a:r>
            <a:r>
              <a:rPr lang="en-US" altLang="en-US" dirty="0">
                <a:solidFill>
                  <a:srgbClr val="0000FF"/>
                </a:solidFill>
                <a:latin typeface="Verdana" panose="020B0604030504040204" pitchFamily="34" charset="0"/>
              </a:rPr>
              <a:t> percentile of the data is Q3.</a:t>
            </a:r>
          </a:p>
        </p:txBody>
      </p:sp>
      <p:sp>
        <p:nvSpPr>
          <p:cNvPr id="111621" name="Text Box 5">
            <a:extLst>
              <a:ext uri="{FF2B5EF4-FFF2-40B4-BE49-F238E27FC236}">
                <a16:creationId xmlns:a16="http://schemas.microsoft.com/office/drawing/2014/main" id="{859713DB-7713-1B3A-2051-46804E833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60" y="1828800"/>
            <a:ext cx="971804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0000FF"/>
                </a:solidFill>
                <a:latin typeface="Verdana" panose="020B0604030504040204" pitchFamily="34" charset="0"/>
              </a:rPr>
              <a:t>Deciles</a:t>
            </a:r>
            <a:r>
              <a:rPr lang="en-US" altLang="en-US" dirty="0">
                <a:solidFill>
                  <a:srgbClr val="0000FF"/>
                </a:solidFill>
                <a:latin typeface="Verdana" panose="020B0604030504040204" pitchFamily="34" charset="0"/>
              </a:rPr>
              <a:t>: If data is ordered and divided into 10 parts, then cut points are called Deciles</a:t>
            </a:r>
          </a:p>
        </p:txBody>
      </p:sp>
      <p:sp>
        <p:nvSpPr>
          <p:cNvPr id="111622" name="Text Box 9">
            <a:extLst>
              <a:ext uri="{FF2B5EF4-FFF2-40B4-BE49-F238E27FC236}">
                <a16:creationId xmlns:a16="http://schemas.microsoft.com/office/drawing/2014/main" id="{334F7B0F-A3A2-DAE8-024A-C050EBE8F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06" y="4886393"/>
            <a:ext cx="96901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0000FF"/>
                </a:solidFill>
                <a:latin typeface="Verdana" panose="020B0604030504040204" pitchFamily="34" charset="0"/>
              </a:rPr>
              <a:t>In notations, percentiles of a data is the ((n+1)/100)</a:t>
            </a:r>
            <a:r>
              <a:rPr lang="en-US" altLang="en-US" dirty="0" err="1">
                <a:solidFill>
                  <a:srgbClr val="0000FF"/>
                </a:solidFill>
                <a:latin typeface="Verdana" panose="020B0604030504040204" pitchFamily="34" charset="0"/>
              </a:rPr>
              <a:t>pth</a:t>
            </a:r>
            <a:r>
              <a:rPr lang="en-US" altLang="en-US" dirty="0">
                <a:solidFill>
                  <a:srgbClr val="0000FF"/>
                </a:solidFill>
                <a:latin typeface="Verdana" panose="020B0604030504040204" pitchFamily="34" charset="0"/>
              </a:rPr>
              <a:t> observation of the data, where p is the desired percentile and n is the number of observations of data. </a:t>
            </a:r>
          </a:p>
        </p:txBody>
      </p:sp>
      <p:sp>
        <p:nvSpPr>
          <p:cNvPr id="111623" name="Text Box 13">
            <a:extLst>
              <a:ext uri="{FF2B5EF4-FFF2-40B4-BE49-F238E27FC236}">
                <a16:creationId xmlns:a16="http://schemas.microsoft.com/office/drawing/2014/main" id="{F255F6E8-7414-00BD-4B27-CF8B89973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520" y="4028440"/>
            <a:ext cx="868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b="1" dirty="0">
                <a:solidFill>
                  <a:srgbClr val="0000FF"/>
                </a:solidFill>
                <a:latin typeface="Verdana" panose="020B0604030504040204" pitchFamily="34" charset="0"/>
              </a:rPr>
              <a:t>Coefficient</a:t>
            </a:r>
            <a:r>
              <a:rPr lang="en-US" altLang="en-US" b="1" dirty="0">
                <a:latin typeface="Verdana" panose="020B0604030504040204" pitchFamily="34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Verdana" panose="020B0604030504040204" pitchFamily="34" charset="0"/>
              </a:rPr>
              <a:t>of Variation</a:t>
            </a:r>
            <a:r>
              <a:rPr lang="en-US" altLang="en-US" dirty="0">
                <a:solidFill>
                  <a:srgbClr val="0000FF"/>
                </a:solidFill>
                <a:latin typeface="Verdana" panose="020B0604030504040204" pitchFamily="34" charset="0"/>
              </a:rPr>
              <a:t>: The standard deviation of data divided by it’s mean. It is usually expressed in percent. </a:t>
            </a:r>
          </a:p>
        </p:txBody>
      </p:sp>
      <p:sp>
        <p:nvSpPr>
          <p:cNvPr id="111624" name="Text Box 15">
            <a:extLst>
              <a:ext uri="{FF2B5EF4-FFF2-40B4-BE49-F238E27FC236}">
                <a16:creationId xmlns:a16="http://schemas.microsoft.com/office/drawing/2014/main" id="{E476B124-CFA2-9B49-8D96-EBDB9E3A3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" y="5969813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Verdana" panose="020B0604030504040204" pitchFamily="34" charset="0"/>
              </a:rPr>
              <a:t>Coefficient of Variation =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>
            <a:extLst>
              <a:ext uri="{FF2B5EF4-FFF2-40B4-BE49-F238E27FC236}">
                <a16:creationId xmlns:a16="http://schemas.microsoft.com/office/drawing/2014/main" id="{118C9470-F07C-5FBA-52D7-53550DE8E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2320" y="268224"/>
            <a:ext cx="10360152" cy="1179576"/>
          </a:xfrm>
        </p:spPr>
        <p:txBody>
          <a:bodyPr/>
          <a:lstStyle/>
          <a:p>
            <a:pPr algn="ctr"/>
            <a:r>
              <a:rPr lang="en-IN" altLang="en-US"/>
              <a:t>Application of percentile to climate data </a:t>
            </a:r>
          </a:p>
        </p:txBody>
      </p:sp>
      <p:pic>
        <p:nvPicPr>
          <p:cNvPr id="113667" name="Picture 4">
            <a:extLst>
              <a:ext uri="{FF2B5EF4-FFF2-40B4-BE49-F238E27FC236}">
                <a16:creationId xmlns:a16="http://schemas.microsoft.com/office/drawing/2014/main" id="{4E6D7406-3C57-F953-FFD2-81217D87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2971800" cy="529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604B4F-9015-8CE8-2E50-078FF089D2F0}"/>
              </a:ext>
            </a:extLst>
          </p:cNvPr>
          <p:cNvSpPr txBox="1"/>
          <p:nvPr/>
        </p:nvSpPr>
        <p:spPr>
          <a:xfrm>
            <a:off x="8300720" y="2133600"/>
            <a:ext cx="2515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Importance of extremes </a:t>
            </a:r>
            <a:endParaRPr lang="en-IN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itle 1">
            <a:extLst>
              <a:ext uri="{FF2B5EF4-FFF2-40B4-BE49-F238E27FC236}">
                <a16:creationId xmlns:a16="http://schemas.microsoft.com/office/drawing/2014/main" id="{B07859A1-DDAC-8426-A412-5EEA03345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24" y="111760"/>
            <a:ext cx="10360152" cy="1179576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00FF"/>
                </a:solidFill>
              </a:rPr>
              <a:t>A data analysis of COVID-19</a:t>
            </a:r>
            <a:endParaRPr lang="en-IN" altLang="en-US" b="1" dirty="0">
              <a:solidFill>
                <a:srgbClr val="0000FF"/>
              </a:solidFill>
            </a:endParaRPr>
          </a:p>
        </p:txBody>
      </p:sp>
      <p:pic>
        <p:nvPicPr>
          <p:cNvPr id="124931" name="Content Placeholder 3">
            <a:extLst>
              <a:ext uri="{FF2B5EF4-FFF2-40B4-BE49-F238E27FC236}">
                <a16:creationId xmlns:a16="http://schemas.microsoft.com/office/drawing/2014/main" id="{2CC384E3-70C5-D404-3424-3A9F6BD1BE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1789" y="1371600"/>
            <a:ext cx="8988425" cy="4686300"/>
          </a:xfrm>
        </p:spPr>
      </p:pic>
      <p:sp>
        <p:nvSpPr>
          <p:cNvPr id="124932" name="TextBox 4">
            <a:extLst>
              <a:ext uri="{FF2B5EF4-FFF2-40B4-BE49-F238E27FC236}">
                <a16:creationId xmlns:a16="http://schemas.microsoft.com/office/drawing/2014/main" id="{D39A96C4-705A-A32E-D7D7-A278AD2A3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248400"/>
            <a:ext cx="800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b="1">
                <a:solidFill>
                  <a:srgbClr val="00B050"/>
                </a:solidFill>
              </a:rPr>
              <a:t>Note: Two waves are seen </a:t>
            </a:r>
            <a:endParaRPr lang="en-I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Content Placeholder 4">
            <a:extLst>
              <a:ext uri="{FF2B5EF4-FFF2-40B4-BE49-F238E27FC236}">
                <a16:creationId xmlns:a16="http://schemas.microsoft.com/office/drawing/2014/main" id="{5F4CFA4E-256F-1027-58AA-E75AD34F9A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682625"/>
            <a:ext cx="6400800" cy="5494338"/>
          </a:xfr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4">
            <a:extLst>
              <a:ext uri="{FF2B5EF4-FFF2-40B4-BE49-F238E27FC236}">
                <a16:creationId xmlns:a16="http://schemas.microsoft.com/office/drawing/2014/main" id="{4CB03466-EDE8-043F-A72D-7ADCD7595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93839"/>
            <a:ext cx="9144000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4">
            <a:extLst>
              <a:ext uri="{FF2B5EF4-FFF2-40B4-BE49-F238E27FC236}">
                <a16:creationId xmlns:a16="http://schemas.microsoft.com/office/drawing/2014/main" id="{E02D5568-8929-57EC-1492-5180B65C5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1"/>
            <a:ext cx="8666163" cy="413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4">
            <a:extLst>
              <a:ext uri="{FF2B5EF4-FFF2-40B4-BE49-F238E27FC236}">
                <a16:creationId xmlns:a16="http://schemas.microsoft.com/office/drawing/2014/main" id="{3F2C4B17-A402-76A7-CD71-07B11D486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0"/>
            <a:ext cx="6978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3">
            <a:extLst>
              <a:ext uri="{FF2B5EF4-FFF2-40B4-BE49-F238E27FC236}">
                <a16:creationId xmlns:a16="http://schemas.microsoft.com/office/drawing/2014/main" id="{44D756C9-0BF4-58F9-EED1-B16C50543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990600"/>
            <a:ext cx="8509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4" name="Picture 2">
            <a:extLst>
              <a:ext uri="{FF2B5EF4-FFF2-40B4-BE49-F238E27FC236}">
                <a16:creationId xmlns:a16="http://schemas.microsoft.com/office/drawing/2014/main" id="{B26BA80E-418C-B953-A10F-5263F1924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825625"/>
            <a:ext cx="709295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D489-0280-BE75-B112-8DE8EE05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DBBD54-45C8-34D3-CF61-7BDE5D45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48" y="324611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Inferential Statistics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3FBCE6-DC91-60F9-FF20-04863C048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1570E6-C929-4FCA-2B20-054983BCFC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7840" y="1647927"/>
            <a:ext cx="8849360" cy="35621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predictions or inferences about a population based on a sample.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 Hypothesis Testing, Confidence Intervals, Regression Analysis.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"We are 95% confident the average temperature next June will be between 29–31°C.“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Inferential statistics helps answer what it implies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5250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D6FEB-B8E3-7DC3-B9F2-9A2FDA0D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8CAFF-043A-FFDE-E05B-5582F1E6B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7256" y="914400"/>
            <a:ext cx="5806440" cy="5129784"/>
          </a:xfrm>
        </p:spPr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r>
              <a:rPr lang="en-US" b="1" dirty="0"/>
              <a:t>to</a:t>
            </a:r>
            <a:br>
              <a:rPr lang="en-US" b="1" dirty="0"/>
            </a:br>
            <a:r>
              <a:rPr lang="en-US" b="1" dirty="0"/>
              <a:t>probability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EAC273-97A7-FEFC-B273-3F00830FCCE9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" r="636"/>
          <a:stretch>
            <a:fillRect/>
          </a:stretch>
        </p:blipFill>
        <p:spPr bwMode="auto">
          <a:xfrm>
            <a:off x="0" y="1053085"/>
            <a:ext cx="4927249" cy="499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0415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FACD-B77D-C266-2764-AC9F26FB3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8F87B8-71CF-39A2-8730-2A11B142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00131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But Before that!!!! Why Probability?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7C1B74-5843-C21B-73FE-EAB2FA80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96E6AF-1FFA-9B23-FB49-13D2817555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8480" y="1510736"/>
            <a:ext cx="9916159" cy="46665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You might be wondering why do we need probability in the course of Data Analytics and you are right!!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Everything we have seen till now, has one thing and only thing in the focus of attention, </a:t>
            </a:r>
            <a:r>
              <a:rPr lang="en-GB" b="1" dirty="0"/>
              <a:t>DATA.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Given the amount of data that exists, it is impossible to learn about the information in the data by just looking at raw values.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But one axiom which stands true for every DATA is that it follows one or the other distribution (or comes from a part of distribution).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So, where there is distribution, there exists probability. </a:t>
            </a:r>
          </a:p>
        </p:txBody>
      </p:sp>
    </p:spTree>
    <p:extLst>
      <p:ext uri="{BB962C8B-B14F-4D97-AF65-F5344CB8AC3E}">
        <p14:creationId xmlns:p14="http://schemas.microsoft.com/office/powerpoint/2010/main" val="38327211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ED543-157C-3BCF-0904-F1797F83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162E9E-2FCA-CF8B-DBAA-57B8D49F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4611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Probability Fundamentals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82B75-E920-54EF-F389-F1287B3B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BB4FA0-FECC-5EE2-FB67-AB9649F79C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" y="1876495"/>
            <a:ext cx="10596880" cy="465689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measures the likelihood of an event occurring.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between 0 and 1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Impossible event, 1 = Certain event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🧩 Key Concepts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Experiment: An action with uncertain outcomes (e.g., tossing a coin)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Space (S): All possible outcomes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Tossing a coin → S = {Heads, Tails}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(E): A subset of the sample space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Getting a Head → E = {Heads}</a:t>
            </a:r>
          </a:p>
        </p:txBody>
      </p:sp>
    </p:spTree>
    <p:extLst>
      <p:ext uri="{BB962C8B-B14F-4D97-AF65-F5344CB8AC3E}">
        <p14:creationId xmlns:p14="http://schemas.microsoft.com/office/powerpoint/2010/main" val="15046771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53D5-640E-53C0-975C-0EEF10A1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D8D64A-CA99-A024-2CED-79D08361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131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Discrete vs Continuous Random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B44C5-EE3F-075D-6098-CA4EBF2D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7A76CA-33F7-5183-34F8-2A6BFAD21B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9120" y="1695816"/>
            <a:ext cx="7335520" cy="48370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🔢 Discrete Random Variables</a:t>
            </a:r>
          </a:p>
          <a:p>
            <a:pPr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Countable outcomes</a:t>
            </a:r>
          </a:p>
          <a:p>
            <a:pPr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Number of heads in 3-coin tosses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entity used to represent all the discrete probabilities is known as the probability mass function or PMF.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Random Variables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outcomes in a range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Height, temperature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entity used to represent all the continuous probabilities is known as the probability density function or PDF.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use: Medical diagnostics, spam filters, etc.</a:t>
            </a:r>
          </a:p>
        </p:txBody>
      </p:sp>
    </p:spTree>
    <p:extLst>
      <p:ext uri="{BB962C8B-B14F-4D97-AF65-F5344CB8AC3E}">
        <p14:creationId xmlns:p14="http://schemas.microsoft.com/office/powerpoint/2010/main" val="25080587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9DDB-93A9-F103-036E-1BA68CCE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48F2F4-31CF-76F8-5B63-DEC515EA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Now let’s come back  to -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F7E773-C8B6-7A15-78D3-688A53CE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66BAD8-242B-0D75-C75F-A52C520F02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79136"/>
            <a:ext cx="5979555" cy="4014566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📦 Definition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tells us how the values of a random variable are spread out. It helps us understand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likelihoods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different outcomes.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Remember,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Two Key Types of functions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studied earlier….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Mass Function (PMF):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discrete variables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Density Function (PDF):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variables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Hence there exists two categories of distributions.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93999E8-11A0-B0C7-3D4D-4A31B0072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019" y="2422326"/>
            <a:ext cx="2464132" cy="18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20B1B67A-02E8-0F15-6A1D-5632B30ED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2214" y="2422326"/>
            <a:ext cx="2440973" cy="18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AE1D9A-4D55-3155-4407-EFE9E1596D39}"/>
              </a:ext>
            </a:extLst>
          </p:cNvPr>
          <p:cNvSpPr txBox="1"/>
          <p:nvPr/>
        </p:nvSpPr>
        <p:spPr>
          <a:xfrm>
            <a:off x="8072706" y="4228739"/>
            <a:ext cx="655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PMF</a:t>
            </a:r>
            <a:endParaRPr lang="en-00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355D8-C1F6-B82E-6186-E9A9ADC38E4B}"/>
              </a:ext>
            </a:extLst>
          </p:cNvPr>
          <p:cNvSpPr txBox="1"/>
          <p:nvPr/>
        </p:nvSpPr>
        <p:spPr>
          <a:xfrm>
            <a:off x="10618894" y="4228739"/>
            <a:ext cx="655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PDF</a:t>
            </a:r>
            <a:endParaRPr lang="en-00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8FDB339-6F4B-4CDC-969E-8EE9C2296D7D}"/>
              </a:ext>
            </a:extLst>
          </p:cNvPr>
          <p:cNvGrpSpPr/>
          <p:nvPr/>
        </p:nvGrpSpPr>
        <p:grpSpPr>
          <a:xfrm>
            <a:off x="7650480" y="4662852"/>
            <a:ext cx="3889248" cy="1908635"/>
            <a:chOff x="700645" y="2654161"/>
            <a:chExt cx="2949297" cy="3738400"/>
          </a:xfrm>
        </p:grpSpPr>
        <p:sp>
          <p:nvSpPr>
            <p:cNvPr id="9" name="Rectangle: Rounded Corners 3">
              <a:extLst>
                <a:ext uri="{FF2B5EF4-FFF2-40B4-BE49-F238E27FC236}">
                  <a16:creationId xmlns:a16="http://schemas.microsoft.com/office/drawing/2014/main" id="{AD176C57-236D-D7A4-A270-E48C95B03D8C}"/>
                </a:ext>
              </a:extLst>
            </p:cNvPr>
            <p:cNvSpPr/>
            <p:nvPr/>
          </p:nvSpPr>
          <p:spPr>
            <a:xfrm rot="21375581">
              <a:off x="700645" y="2676964"/>
              <a:ext cx="2888354" cy="3715597"/>
            </a:xfrm>
            <a:prstGeom prst="roundRect">
              <a:avLst>
                <a:gd name="adj" fmla="val 10302"/>
              </a:avLst>
            </a:prstGeom>
            <a:solidFill>
              <a:srgbClr val="FFD17F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  <p:sp>
          <p:nvSpPr>
            <p:cNvPr id="10" name="Rectangle: Rounded Corners 3">
              <a:extLst>
                <a:ext uri="{FF2B5EF4-FFF2-40B4-BE49-F238E27FC236}">
                  <a16:creationId xmlns:a16="http://schemas.microsoft.com/office/drawing/2014/main" id="{87BBA048-BCD0-0494-E01F-BE6A1FBC1A33}"/>
                </a:ext>
              </a:extLst>
            </p:cNvPr>
            <p:cNvSpPr/>
            <p:nvPr/>
          </p:nvSpPr>
          <p:spPr>
            <a:xfrm>
              <a:off x="761588" y="2654161"/>
              <a:ext cx="2888354" cy="3715596"/>
            </a:xfrm>
            <a:prstGeom prst="roundRect">
              <a:avLst>
                <a:gd name="adj" fmla="val 10302"/>
              </a:avLst>
            </a:prstGeom>
            <a:solidFill>
              <a:schemeClr val="tx1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8DEFD9B-CDA9-C9A4-B5C9-656061213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146" y="4721691"/>
            <a:ext cx="1526321" cy="1767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1521AA-A989-13DB-9402-BAE6D527F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734" y="4734415"/>
            <a:ext cx="1526320" cy="174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305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95CFC-4EA1-AE1E-C127-35618557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4ED993-3D94-1C7E-1573-2FB785A0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612" y="416431"/>
            <a:ext cx="11070188" cy="117957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Types of distributions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4FDC93-37F1-CA1C-A52E-7407D90F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3667947-1BDA-DED4-813D-84B8E1939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869C0-C715-8AFD-C01C-44968D196B3D}"/>
              </a:ext>
            </a:extLst>
          </p:cNvPr>
          <p:cNvSpPr txBox="1"/>
          <p:nvPr/>
        </p:nvSpPr>
        <p:spPr>
          <a:xfrm>
            <a:off x="4730709" y="6256903"/>
            <a:ext cx="3149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Wait!! But which one do I like?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26C2128-CE5A-0D80-7DE7-858BA2CE9963}"/>
              </a:ext>
            </a:extLst>
          </p:cNvPr>
          <p:cNvGrpSpPr/>
          <p:nvPr/>
        </p:nvGrpSpPr>
        <p:grpSpPr>
          <a:xfrm>
            <a:off x="6408568" y="1747261"/>
            <a:ext cx="5203925" cy="4263318"/>
            <a:chOff x="6408568" y="1747261"/>
            <a:chExt cx="5203925" cy="426331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A762A4-AB8B-56DF-18B0-3F8E1D816CF1}"/>
                </a:ext>
              </a:extLst>
            </p:cNvPr>
            <p:cNvGrpSpPr/>
            <p:nvPr/>
          </p:nvGrpSpPr>
          <p:grpSpPr>
            <a:xfrm>
              <a:off x="6408568" y="1747261"/>
              <a:ext cx="5203925" cy="4263318"/>
              <a:chOff x="700645" y="2654161"/>
              <a:chExt cx="2949297" cy="3738400"/>
            </a:xfrm>
          </p:grpSpPr>
          <p:sp>
            <p:nvSpPr>
              <p:cNvPr id="16" name="Rectangle: Rounded Corners 3">
                <a:extLst>
                  <a:ext uri="{FF2B5EF4-FFF2-40B4-BE49-F238E27FC236}">
                    <a16:creationId xmlns:a16="http://schemas.microsoft.com/office/drawing/2014/main" id="{E2EF223F-385A-7739-2B9F-8DF97159637D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482966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8" name="Rectangle: Rounded Corners 3">
                <a:extLst>
                  <a:ext uri="{FF2B5EF4-FFF2-40B4-BE49-F238E27FC236}">
                    <a16:creationId xmlns:a16="http://schemas.microsoft.com/office/drawing/2014/main" id="{01BE63BE-099B-D85A-31E0-4E7537BF77E9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020C90-C809-D544-9EDB-F478FE44AFAF}"/>
                </a:ext>
              </a:extLst>
            </p:cNvPr>
            <p:cNvSpPr txBox="1"/>
            <p:nvPr/>
          </p:nvSpPr>
          <p:spPr>
            <a:xfrm>
              <a:off x="6772472" y="2039911"/>
              <a:ext cx="47631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Common Continuous Distributions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A8B9DC-29D5-BFB3-973A-D0CC56CAABC5}"/>
                </a:ext>
              </a:extLst>
            </p:cNvPr>
            <p:cNvSpPr txBox="1"/>
            <p:nvPr/>
          </p:nvSpPr>
          <p:spPr>
            <a:xfrm>
              <a:off x="6772472" y="2451546"/>
              <a:ext cx="4583648" cy="3416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dirty="0">
                  <a:solidFill>
                    <a:schemeClr val="bg1"/>
                  </a:solidFill>
                </a:rPr>
                <a:t>🛎️ </a:t>
              </a:r>
              <a:r>
                <a:rPr lang="en-GB" b="1" dirty="0">
                  <a:solidFill>
                    <a:schemeClr val="bg1"/>
                  </a:solidFill>
                </a:rPr>
                <a:t>Normal Distribution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Bell-shaped curve, symmetric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Fully defined by mean (</a:t>
              </a:r>
              <a:r>
                <a:rPr lang="el-GR" dirty="0">
                  <a:solidFill>
                    <a:schemeClr val="bg1"/>
                  </a:solidFill>
                </a:rPr>
                <a:t>μ) </a:t>
              </a:r>
              <a:r>
                <a:rPr lang="en-GB" dirty="0">
                  <a:solidFill>
                    <a:schemeClr val="bg1"/>
                  </a:solidFill>
                </a:rPr>
                <a:t>and standard deviation (</a:t>
              </a:r>
              <a:r>
                <a:rPr lang="el-GR" dirty="0">
                  <a:solidFill>
                    <a:schemeClr val="bg1"/>
                  </a:solidFill>
                </a:rPr>
                <a:t>σ)</a:t>
              </a:r>
              <a:endParaRPr lang="en-US" dirty="0">
                <a:solidFill>
                  <a:schemeClr val="bg1"/>
                </a:solidFill>
              </a:endParaRP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⏳ </a:t>
              </a:r>
              <a:r>
                <a:rPr lang="en-GB" b="1" dirty="0">
                  <a:solidFill>
                    <a:schemeClr val="bg1"/>
                  </a:solidFill>
                </a:rPr>
                <a:t>Exponential Distribution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Models time between events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Memoryless property</a:t>
              </a:r>
            </a:p>
            <a:p>
              <a:pPr algn="just"/>
              <a:endParaRPr lang="en-GB" dirty="0">
                <a:solidFill>
                  <a:schemeClr val="bg1"/>
                </a:solidFill>
              </a:endParaRP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🎯 </a:t>
              </a:r>
              <a:r>
                <a:rPr lang="en-GB" b="1" dirty="0">
                  <a:solidFill>
                    <a:schemeClr val="bg1"/>
                  </a:solidFill>
                </a:rPr>
                <a:t>Uniform Distribution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All outcomes equally likely over a range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Example: Random number between 0 and 1</a:t>
              </a:r>
              <a:endParaRPr lang="en-00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7586E8-320D-6E42-0EAE-642E34CE0F4A}"/>
              </a:ext>
            </a:extLst>
          </p:cNvPr>
          <p:cNvGrpSpPr/>
          <p:nvPr/>
        </p:nvGrpSpPr>
        <p:grpSpPr>
          <a:xfrm>
            <a:off x="653148" y="1794796"/>
            <a:ext cx="5203925" cy="4263318"/>
            <a:chOff x="734685" y="1794796"/>
            <a:chExt cx="5203925" cy="426331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5548093-9AEC-F1D2-3FF4-D462C496726D}"/>
                </a:ext>
              </a:extLst>
            </p:cNvPr>
            <p:cNvGrpSpPr/>
            <p:nvPr/>
          </p:nvGrpSpPr>
          <p:grpSpPr>
            <a:xfrm>
              <a:off x="734685" y="1794796"/>
              <a:ext cx="5203925" cy="4263318"/>
              <a:chOff x="700645" y="2654161"/>
              <a:chExt cx="2949297" cy="3738400"/>
            </a:xfrm>
          </p:grpSpPr>
          <p:sp>
            <p:nvSpPr>
              <p:cNvPr id="23" name="Rectangle: Rounded Corners 3">
                <a:extLst>
                  <a:ext uri="{FF2B5EF4-FFF2-40B4-BE49-F238E27FC236}">
                    <a16:creationId xmlns:a16="http://schemas.microsoft.com/office/drawing/2014/main" id="{F0D4A824-3B9A-E709-9E41-88817F8C1CAF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24" name="Rectangle: Rounded Corners 3">
                <a:extLst>
                  <a:ext uri="{FF2B5EF4-FFF2-40B4-BE49-F238E27FC236}">
                    <a16:creationId xmlns:a16="http://schemas.microsoft.com/office/drawing/2014/main" id="{0FB80A34-0239-901E-9842-3397DED0136F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DDB34FB-2472-4078-2B1F-43544BA34777}"/>
                </a:ext>
              </a:extLst>
            </p:cNvPr>
            <p:cNvSpPr txBox="1"/>
            <p:nvPr/>
          </p:nvSpPr>
          <p:spPr>
            <a:xfrm>
              <a:off x="1092765" y="2087446"/>
              <a:ext cx="47631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Common Discrete Distributions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FD4B7F9-FED0-071E-86FA-4DD7F2B05517}"/>
                </a:ext>
              </a:extLst>
            </p:cNvPr>
            <p:cNvSpPr txBox="1"/>
            <p:nvPr/>
          </p:nvSpPr>
          <p:spPr>
            <a:xfrm>
              <a:off x="1092765" y="2499081"/>
              <a:ext cx="4583648" cy="3416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dirty="0">
                  <a:solidFill>
                    <a:schemeClr val="bg1"/>
                  </a:solidFill>
                </a:rPr>
                <a:t>🎲 </a:t>
              </a:r>
              <a:r>
                <a:rPr lang="en-GB" b="1" dirty="0">
                  <a:solidFill>
                    <a:schemeClr val="bg1"/>
                  </a:solidFill>
                </a:rPr>
                <a:t>Bernoulli Distribution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Two outcomes: success (1) or failure (0)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Example: Tossing a biased coin</a:t>
              </a:r>
            </a:p>
            <a:p>
              <a:pPr algn="just"/>
              <a:endParaRPr lang="en-GB" dirty="0">
                <a:solidFill>
                  <a:schemeClr val="bg1"/>
                </a:solidFill>
              </a:endParaRP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🎯 </a:t>
              </a:r>
              <a:r>
                <a:rPr lang="en-GB" b="1" dirty="0">
                  <a:solidFill>
                    <a:schemeClr val="bg1"/>
                  </a:solidFill>
                </a:rPr>
                <a:t>Binomial Distribution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Repeated Bernoulli trials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Example: 10 coin tosses, count of heads</a:t>
              </a:r>
            </a:p>
            <a:p>
              <a:pPr algn="just"/>
              <a:endParaRPr lang="en-GB" dirty="0">
                <a:solidFill>
                  <a:schemeClr val="bg1"/>
                </a:solidFill>
              </a:endParaRP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⚡ </a:t>
              </a:r>
              <a:r>
                <a:rPr lang="en-GB" b="1" dirty="0">
                  <a:solidFill>
                    <a:schemeClr val="bg1"/>
                  </a:solidFill>
                </a:rPr>
                <a:t>Poisson Distribution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Models number of events in a fixed time/space</a:t>
              </a:r>
            </a:p>
            <a:p>
              <a:pPr algn="just"/>
              <a:r>
                <a:rPr lang="en-GB" dirty="0">
                  <a:solidFill>
                    <a:schemeClr val="bg1"/>
                  </a:solidFill>
                </a:rPr>
                <a:t>Example: Number of emails received in an hour</a:t>
              </a:r>
              <a:endParaRPr lang="en-00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56595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545F-B4B7-E006-90BA-9962CC52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57BCF1-50FE-994A-664B-47FCE3098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80" y="445118"/>
            <a:ext cx="10360152" cy="1179576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Why Are Distributions So Important</a:t>
            </a:r>
            <a:r>
              <a:rPr lang="en-GB" dirty="0"/>
              <a:t>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E2242-EB13-243F-0831-98CD14CA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E57C4A-443C-0B2B-D1AE-E167C59088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" y="1757681"/>
            <a:ext cx="9306560" cy="4572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‘one shoe fits all’ strategy when applying/finding distribution of any data. But given the cases previously one can generalize.</a:t>
            </a:r>
          </a:p>
          <a:p>
            <a:pPr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 are particularly useful because……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summarize the shape of data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form the basis of statistical inference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 calculate probabilities, z-scores, and critical regions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processes almost always follow a known or approximate distribution</a:t>
            </a:r>
          </a:p>
          <a:p>
            <a:pPr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can’t we just rely on data points — why do we need to know the distribution?</a:t>
            </a:r>
          </a:p>
        </p:txBody>
      </p:sp>
    </p:spTree>
    <p:extLst>
      <p:ext uri="{BB962C8B-B14F-4D97-AF65-F5344CB8AC3E}">
        <p14:creationId xmlns:p14="http://schemas.microsoft.com/office/powerpoint/2010/main" val="33048998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0E0B-31BF-8949-43C9-E58AAD13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C0E118-76B2-E628-28BE-10F0E38A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Why Knowing the Data Distribution Matters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5B6396-4246-02AC-2749-FA047C44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B7B07E-7C9F-AF71-CC6E-9AC8D962ABD2}"/>
              </a:ext>
            </a:extLst>
          </p:cNvPr>
          <p:cNvGrpSpPr/>
          <p:nvPr/>
        </p:nvGrpSpPr>
        <p:grpSpPr>
          <a:xfrm>
            <a:off x="1091912" y="2233708"/>
            <a:ext cx="4090416" cy="3338036"/>
            <a:chOff x="734685" y="1794796"/>
            <a:chExt cx="5203925" cy="426331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2FC739D-BEA4-D71C-FA6E-52696A1F68E2}"/>
                </a:ext>
              </a:extLst>
            </p:cNvPr>
            <p:cNvGrpSpPr/>
            <p:nvPr/>
          </p:nvGrpSpPr>
          <p:grpSpPr>
            <a:xfrm>
              <a:off x="734685" y="1794796"/>
              <a:ext cx="5203925" cy="4263318"/>
              <a:chOff x="700645" y="2654161"/>
              <a:chExt cx="2949297" cy="3738400"/>
            </a:xfrm>
          </p:grpSpPr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4621C3B0-03E5-3EBF-8FFE-6E3C1B6D13F9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1" name="Rectangle: Rounded Corners 3">
                <a:extLst>
                  <a:ext uri="{FF2B5EF4-FFF2-40B4-BE49-F238E27FC236}">
                    <a16:creationId xmlns:a16="http://schemas.microsoft.com/office/drawing/2014/main" id="{1A27A331-9843-9AFF-CD01-A79AFD47EA48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7E25CF-5923-017E-199A-BCFFEC45993B}"/>
                </a:ext>
              </a:extLst>
            </p:cNvPr>
            <p:cNvSpPr txBox="1"/>
            <p:nvPr/>
          </p:nvSpPr>
          <p:spPr>
            <a:xfrm>
              <a:off x="1092765" y="2087446"/>
              <a:ext cx="47631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🌐 Data ≠ Understanding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CDF427-0DBC-7606-24A7-998F13DA6AAB}"/>
                </a:ext>
              </a:extLst>
            </p:cNvPr>
            <p:cNvSpPr txBox="1"/>
            <p:nvPr/>
          </p:nvSpPr>
          <p:spPr>
            <a:xfrm>
              <a:off x="991056" y="2767115"/>
              <a:ext cx="4763130" cy="203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dirty="0">
                  <a:solidFill>
                    <a:schemeClr val="bg1"/>
                  </a:solidFill>
                </a:rPr>
                <a:t>Raw data only shows what happened — not how likely future events are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dirty="0">
                  <a:solidFill>
                    <a:schemeClr val="bg1"/>
                  </a:solidFill>
                </a:rPr>
                <a:t>To generalize beyond the observed data, we need to know: What is typical? What is rare? What is likely?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D34ABF-5CCD-F7C5-41A1-58FCD1B18F75}"/>
              </a:ext>
            </a:extLst>
          </p:cNvPr>
          <p:cNvGrpSpPr/>
          <p:nvPr/>
        </p:nvGrpSpPr>
        <p:grpSpPr>
          <a:xfrm>
            <a:off x="6152536" y="2093976"/>
            <a:ext cx="5203925" cy="4263318"/>
            <a:chOff x="6408568" y="1747261"/>
            <a:chExt cx="5203925" cy="426331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822593C-8AA6-9ED0-D2EA-CE2D635D8F24}"/>
                </a:ext>
              </a:extLst>
            </p:cNvPr>
            <p:cNvGrpSpPr/>
            <p:nvPr/>
          </p:nvGrpSpPr>
          <p:grpSpPr>
            <a:xfrm>
              <a:off x="6408568" y="1747261"/>
              <a:ext cx="5203925" cy="4263318"/>
              <a:chOff x="700645" y="2654161"/>
              <a:chExt cx="2949297" cy="3738400"/>
            </a:xfrm>
          </p:grpSpPr>
          <p:sp>
            <p:nvSpPr>
              <p:cNvPr id="17" name="Rectangle: Rounded Corners 3">
                <a:extLst>
                  <a:ext uri="{FF2B5EF4-FFF2-40B4-BE49-F238E27FC236}">
                    <a16:creationId xmlns:a16="http://schemas.microsoft.com/office/drawing/2014/main" id="{A7D4C16A-C62B-60F7-19A5-31D21FC9D978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482966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8" name="Rectangle: Rounded Corners 3">
                <a:extLst>
                  <a:ext uri="{FF2B5EF4-FFF2-40B4-BE49-F238E27FC236}">
                    <a16:creationId xmlns:a16="http://schemas.microsoft.com/office/drawing/2014/main" id="{8748060A-27EC-1196-0AA9-83F3484D8C1C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6F2A26-8FCB-8DAF-5F8F-F420AA25AE01}"/>
                </a:ext>
              </a:extLst>
            </p:cNvPr>
            <p:cNvSpPr txBox="1"/>
            <p:nvPr/>
          </p:nvSpPr>
          <p:spPr>
            <a:xfrm>
              <a:off x="6772472" y="2039911"/>
              <a:ext cx="47631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📊 Distributions = Shape of Reality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06E0B0-2887-1C75-5178-A53145837209}"/>
                </a:ext>
              </a:extLst>
            </p:cNvPr>
            <p:cNvSpPr txBox="1"/>
            <p:nvPr/>
          </p:nvSpPr>
          <p:spPr>
            <a:xfrm>
              <a:off x="6772472" y="2451546"/>
              <a:ext cx="458364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dirty="0">
                  <a:solidFill>
                    <a:schemeClr val="bg1"/>
                  </a:solidFill>
                </a:rPr>
                <a:t>A distribution captures the pattern in data: </a:t>
              </a:r>
              <a:r>
                <a:rPr lang="en-GB" dirty="0" err="1">
                  <a:solidFill>
                    <a:schemeClr val="bg1"/>
                  </a:solidFill>
                </a:rPr>
                <a:t>center</a:t>
              </a:r>
              <a:r>
                <a:rPr lang="en-GB" dirty="0">
                  <a:solidFill>
                    <a:schemeClr val="bg1"/>
                  </a:solidFill>
                </a:rPr>
                <a:t>, spread, skew, peaks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dirty="0">
                  <a:solidFill>
                    <a:schemeClr val="bg1"/>
                  </a:solidFill>
                </a:rPr>
                <a:t>Different distributions lead to different inferences and decisions</a:t>
              </a:r>
              <a:endParaRPr lang="en-00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587BB92-C700-34C0-847F-63AE317BD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193308"/>
              </p:ext>
            </p:extLst>
          </p:nvPr>
        </p:nvGraphicFramePr>
        <p:xfrm>
          <a:off x="6511422" y="4186173"/>
          <a:ext cx="4763130" cy="1920240"/>
        </p:xfrm>
        <a:graphic>
          <a:graphicData uri="http://schemas.openxmlformats.org/drawingml/2006/table">
            <a:tbl>
              <a:tblPr/>
              <a:tblGrid>
                <a:gridCol w="2155828">
                  <a:extLst>
                    <a:ext uri="{9D8B030D-6E8A-4147-A177-3AD203B41FA5}">
                      <a16:colId xmlns:a16="http://schemas.microsoft.com/office/drawing/2014/main" val="3997512513"/>
                    </a:ext>
                  </a:extLst>
                </a:gridCol>
                <a:gridCol w="2607302">
                  <a:extLst>
                    <a:ext uri="{9D8B030D-6E8A-4147-A177-3AD203B41FA5}">
                      <a16:colId xmlns:a16="http://schemas.microsoft.com/office/drawing/2014/main" val="1699185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Normal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(symmetric)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Predict average values with high confidence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75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Skewed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(e.g., Exponential)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bg1"/>
                          </a:solidFill>
                        </a:rPr>
                        <a:t>Expect more small events, rare large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715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Multimodal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May need multiple models, not 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741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20745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E6BF2-BD36-B408-4A13-068044EB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85C97C-0CCE-E8F4-DF1A-2C8B8A1DD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Bernoulli Distribution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6BE4B1-B837-B28E-0942-67341E81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EC7C95-7658-45FE-583B-BABC31F337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61660"/>
            <a:ext cx="6657065" cy="4135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🧠 Key Idea:</a:t>
            </a:r>
          </a:p>
          <a:p>
            <a:r>
              <a:rPr lang="en-GB" dirty="0"/>
              <a:t>One trial, two outcomes: </a:t>
            </a:r>
            <a:r>
              <a:rPr lang="en-GB" b="1" dirty="0"/>
              <a:t>Success (1)</a:t>
            </a:r>
            <a:r>
              <a:rPr lang="en-GB" dirty="0"/>
              <a:t> or </a:t>
            </a:r>
            <a:r>
              <a:rPr lang="en-GB" b="1" dirty="0"/>
              <a:t>Failure (0)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📈 PMF:</a:t>
            </a:r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🧪 Example:</a:t>
            </a:r>
          </a:p>
          <a:p>
            <a:r>
              <a:rPr lang="en-GB" dirty="0"/>
              <a:t>Tossing a biased coin</a:t>
            </a:r>
          </a:p>
          <a:p>
            <a:r>
              <a:rPr lang="en-GB" dirty="0"/>
              <a:t>Predicting if a machine fails or not</a:t>
            </a:r>
          </a:p>
          <a:p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714D6E6-3E50-4F88-4EA7-91FDAC574B25}"/>
                  </a:ext>
                </a:extLst>
              </p:cNvPr>
              <p:cNvSpPr txBox="1"/>
              <p:nvPr/>
            </p:nvSpPr>
            <p:spPr>
              <a:xfrm>
                <a:off x="2527704" y="3984164"/>
                <a:ext cx="201125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=0)=1−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𝑝𝑃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=1)=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dirty="0"/>
              </a:p>
              <a:p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714D6E6-3E50-4F88-4EA7-91FDAC574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704" y="3984164"/>
                <a:ext cx="2011256" cy="615553"/>
              </a:xfrm>
              <a:prstGeom prst="rect">
                <a:avLst/>
              </a:prstGeom>
              <a:blipFill>
                <a:blip r:embed="rId2"/>
                <a:stretch>
                  <a:fillRect l="-2727" t="-12871" r="-8485" b="-23762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0194A7C8-C6B3-898C-7BF4-11F5522E6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826" y="1657160"/>
            <a:ext cx="4075669" cy="269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A8A9F2C-E2CB-FF67-2905-62D59C3945D9}"/>
              </a:ext>
            </a:extLst>
          </p:cNvPr>
          <p:cNvGrpSpPr/>
          <p:nvPr/>
        </p:nvGrpSpPr>
        <p:grpSpPr>
          <a:xfrm>
            <a:off x="7304826" y="4687824"/>
            <a:ext cx="4362918" cy="1609343"/>
            <a:chOff x="700645" y="2654161"/>
            <a:chExt cx="2949297" cy="3738400"/>
          </a:xfrm>
        </p:grpSpPr>
        <p:sp>
          <p:nvSpPr>
            <p:cNvPr id="7" name="Rectangle: Rounded Corners 3">
              <a:extLst>
                <a:ext uri="{FF2B5EF4-FFF2-40B4-BE49-F238E27FC236}">
                  <a16:creationId xmlns:a16="http://schemas.microsoft.com/office/drawing/2014/main" id="{6EAFC864-8962-F8DB-B848-6B77D1566B88}"/>
                </a:ext>
              </a:extLst>
            </p:cNvPr>
            <p:cNvSpPr/>
            <p:nvPr/>
          </p:nvSpPr>
          <p:spPr>
            <a:xfrm rot="21375581">
              <a:off x="700645" y="2676964"/>
              <a:ext cx="2888354" cy="3715597"/>
            </a:xfrm>
            <a:prstGeom prst="roundRect">
              <a:avLst>
                <a:gd name="adj" fmla="val 10302"/>
              </a:avLst>
            </a:prstGeom>
            <a:solidFill>
              <a:srgbClr val="72B6A1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  <p:sp>
          <p:nvSpPr>
            <p:cNvPr id="8" name="Rectangle: Rounded Corners 3">
              <a:extLst>
                <a:ext uri="{FF2B5EF4-FFF2-40B4-BE49-F238E27FC236}">
                  <a16:creationId xmlns:a16="http://schemas.microsoft.com/office/drawing/2014/main" id="{8A278C5B-A1E9-8BF3-5085-8B978BE4EACF}"/>
                </a:ext>
              </a:extLst>
            </p:cNvPr>
            <p:cNvSpPr/>
            <p:nvPr/>
          </p:nvSpPr>
          <p:spPr>
            <a:xfrm>
              <a:off x="761588" y="2654161"/>
              <a:ext cx="2888354" cy="3715596"/>
            </a:xfrm>
            <a:prstGeom prst="roundRect">
              <a:avLst>
                <a:gd name="adj" fmla="val 10302"/>
              </a:avLst>
            </a:prstGeom>
            <a:solidFill>
              <a:schemeClr val="tx1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E2ABB0A-BA0A-A224-84C6-4F6E73A48C14}"/>
              </a:ext>
            </a:extLst>
          </p:cNvPr>
          <p:cNvSpPr txBox="1"/>
          <p:nvPr/>
        </p:nvSpPr>
        <p:spPr>
          <a:xfrm>
            <a:off x="10691699" y="5631440"/>
            <a:ext cx="100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Lab File: </a:t>
            </a:r>
            <a:r>
              <a:rPr lang="en-GB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lab1.ipynb</a:t>
            </a:r>
            <a:endParaRPr lang="en-001" sz="12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52D200-C337-D49E-35C8-0B2661600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19" y="4832673"/>
            <a:ext cx="3435125" cy="13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76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80448-04E2-D083-1F3B-E8A03912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99960C-B676-A418-D012-C8CF5291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Binomial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8EC0B3-4506-E12C-A4D8-CD1D796B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BC49CF-2747-0DBF-42B6-9BD4853E81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61660"/>
            <a:ext cx="6657065" cy="4135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🧠 Key Idea:</a:t>
            </a:r>
          </a:p>
          <a:p>
            <a:r>
              <a:rPr lang="en-GB" dirty="0"/>
              <a:t>Sum of </a:t>
            </a:r>
            <a:r>
              <a:rPr lang="en-GB" b="1" dirty="0"/>
              <a:t>n</a:t>
            </a:r>
            <a:r>
              <a:rPr lang="en-GB" dirty="0"/>
              <a:t> independent Bernoulli trials</a:t>
            </a:r>
          </a:p>
          <a:p>
            <a:pPr marL="0" indent="0">
              <a:buNone/>
            </a:pPr>
            <a:r>
              <a:rPr lang="en-GB" b="1" dirty="0"/>
              <a:t>📈 PMF:</a:t>
            </a:r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🧪 Example:</a:t>
            </a:r>
          </a:p>
          <a:p>
            <a:r>
              <a:rPr lang="en-GB" dirty="0"/>
              <a:t>Number of heads in 10 coin tosses</a:t>
            </a:r>
          </a:p>
          <a:p>
            <a:r>
              <a:rPr lang="en-GB" dirty="0"/>
              <a:t>Number of customers who buy out of 100 contacted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D12F2E-A826-4797-1840-B4AC519547A7}"/>
                  </a:ext>
                </a:extLst>
              </p:cNvPr>
              <p:cNvSpPr txBox="1"/>
              <p:nvPr/>
            </p:nvSpPr>
            <p:spPr>
              <a:xfrm>
                <a:off x="1956932" y="3984164"/>
                <a:ext cx="3400290" cy="544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D12F2E-A826-4797-1840-B4AC51954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932" y="3984164"/>
                <a:ext cx="3400290" cy="5442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C943036C-02DC-2FE1-FFCF-354BA262A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598" y="1585287"/>
            <a:ext cx="4238746" cy="2801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807C7EE-5CB4-541C-ED35-553F4C358A6E}"/>
              </a:ext>
            </a:extLst>
          </p:cNvPr>
          <p:cNvGrpSpPr/>
          <p:nvPr/>
        </p:nvGrpSpPr>
        <p:grpSpPr>
          <a:xfrm>
            <a:off x="7230598" y="4742688"/>
            <a:ext cx="4455434" cy="1434376"/>
            <a:chOff x="700645" y="2654161"/>
            <a:chExt cx="2949297" cy="3738400"/>
          </a:xfrm>
        </p:grpSpPr>
        <p:sp>
          <p:nvSpPr>
            <p:cNvPr id="8" name="Rectangle: Rounded Corners 3">
              <a:extLst>
                <a:ext uri="{FF2B5EF4-FFF2-40B4-BE49-F238E27FC236}">
                  <a16:creationId xmlns:a16="http://schemas.microsoft.com/office/drawing/2014/main" id="{53040486-39BE-C80B-94A1-7FFA9544FDC4}"/>
                </a:ext>
              </a:extLst>
            </p:cNvPr>
            <p:cNvSpPr/>
            <p:nvPr/>
          </p:nvSpPr>
          <p:spPr>
            <a:xfrm rot="21375581">
              <a:off x="700645" y="2676964"/>
              <a:ext cx="2888354" cy="3715597"/>
            </a:xfrm>
            <a:prstGeom prst="roundRect">
              <a:avLst>
                <a:gd name="adj" fmla="val 10302"/>
              </a:avLst>
            </a:prstGeom>
            <a:solidFill>
              <a:srgbClr val="FF7E79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  <p:sp>
          <p:nvSpPr>
            <p:cNvPr id="9" name="Rectangle: Rounded Corners 3">
              <a:extLst>
                <a:ext uri="{FF2B5EF4-FFF2-40B4-BE49-F238E27FC236}">
                  <a16:creationId xmlns:a16="http://schemas.microsoft.com/office/drawing/2014/main" id="{A4B10655-B265-2E42-1191-CD7758C24CDB}"/>
                </a:ext>
              </a:extLst>
            </p:cNvPr>
            <p:cNvSpPr/>
            <p:nvPr/>
          </p:nvSpPr>
          <p:spPr>
            <a:xfrm>
              <a:off x="761588" y="2654161"/>
              <a:ext cx="2888354" cy="3715596"/>
            </a:xfrm>
            <a:prstGeom prst="roundRect">
              <a:avLst>
                <a:gd name="adj" fmla="val 10302"/>
              </a:avLst>
            </a:prstGeom>
            <a:solidFill>
              <a:schemeClr val="tx1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F71E408-0D43-CA9E-078C-F7404E757F21}"/>
              </a:ext>
            </a:extLst>
          </p:cNvPr>
          <p:cNvSpPr txBox="1"/>
          <p:nvPr/>
        </p:nvSpPr>
        <p:spPr>
          <a:xfrm>
            <a:off x="10812772" y="5626797"/>
            <a:ext cx="854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Lab File: </a:t>
            </a:r>
            <a:r>
              <a:rPr lang="en-GB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lab1.ipynb</a:t>
            </a:r>
            <a:endParaRPr lang="en-001" sz="12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D466A0-DDE1-1092-CF30-B7F15D5B5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950" y="4848336"/>
            <a:ext cx="3436494" cy="124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225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543E-BFC0-4CA2-BC82-8A57C15D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A787F7-EAD3-EA10-0752-6C84E6FA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Poisson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1BF139-625B-05E8-61FC-C62D2B1B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FFD92C-8EF7-0A44-8722-8879F12EBB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61660"/>
            <a:ext cx="6435745" cy="4135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🧠 Key Idea:</a:t>
            </a:r>
          </a:p>
          <a:p>
            <a:r>
              <a:rPr lang="en-GB" dirty="0"/>
              <a:t>Models count of </a:t>
            </a:r>
            <a:r>
              <a:rPr lang="en-GB" b="1" dirty="0"/>
              <a:t>events in fixed time/space</a:t>
            </a:r>
            <a:r>
              <a:rPr lang="en-GB" dirty="0"/>
              <a:t> when events happen independently</a:t>
            </a:r>
          </a:p>
          <a:p>
            <a:pPr marL="0" indent="0">
              <a:buNone/>
            </a:pPr>
            <a:r>
              <a:rPr lang="en-GB" b="1" dirty="0"/>
              <a:t>📈 PMF:</a:t>
            </a:r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🧪 Example:</a:t>
            </a:r>
          </a:p>
          <a:p>
            <a:r>
              <a:rPr lang="en-GB" dirty="0"/>
              <a:t>Number of calls to a call </a:t>
            </a:r>
            <a:r>
              <a:rPr lang="en-GB" dirty="0" err="1"/>
              <a:t>center</a:t>
            </a:r>
            <a:r>
              <a:rPr lang="en-GB" dirty="0"/>
              <a:t> in 1 hour</a:t>
            </a:r>
          </a:p>
          <a:p>
            <a:r>
              <a:rPr lang="en-GB" dirty="0"/>
              <a:t>Number of typos per page in a book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10D992-447A-088B-A067-B5B8CA96B9DE}"/>
                  </a:ext>
                </a:extLst>
              </p:cNvPr>
              <p:cNvSpPr txBox="1"/>
              <p:nvPr/>
            </p:nvSpPr>
            <p:spPr>
              <a:xfrm>
                <a:off x="1962756" y="4185000"/>
                <a:ext cx="2374304" cy="6309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10D992-447A-088B-A067-B5B8CA96B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756" y="4185000"/>
                <a:ext cx="2374304" cy="630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41685E6-89FF-AEDB-8D54-957DDE907D57}"/>
              </a:ext>
            </a:extLst>
          </p:cNvPr>
          <p:cNvGrpSpPr/>
          <p:nvPr/>
        </p:nvGrpSpPr>
        <p:grpSpPr>
          <a:xfrm>
            <a:off x="7449312" y="4639056"/>
            <a:ext cx="4285487" cy="1538008"/>
            <a:chOff x="700645" y="2654161"/>
            <a:chExt cx="2949297" cy="3738400"/>
          </a:xfrm>
        </p:grpSpPr>
        <p:sp>
          <p:nvSpPr>
            <p:cNvPr id="10" name="Rectangle: Rounded Corners 3">
              <a:extLst>
                <a:ext uri="{FF2B5EF4-FFF2-40B4-BE49-F238E27FC236}">
                  <a16:creationId xmlns:a16="http://schemas.microsoft.com/office/drawing/2014/main" id="{84E8894C-EE73-2B75-D977-8D1DAA3980C0}"/>
                </a:ext>
              </a:extLst>
            </p:cNvPr>
            <p:cNvSpPr/>
            <p:nvPr/>
          </p:nvSpPr>
          <p:spPr>
            <a:xfrm rot="21375581">
              <a:off x="700645" y="2676964"/>
              <a:ext cx="2888354" cy="3715597"/>
            </a:xfrm>
            <a:prstGeom prst="roundRect">
              <a:avLst>
                <a:gd name="adj" fmla="val 10302"/>
              </a:avLst>
            </a:prstGeom>
            <a:solidFill>
              <a:srgbClr val="482966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  <p:sp>
          <p:nvSpPr>
            <p:cNvPr id="11" name="Rectangle: Rounded Corners 3">
              <a:extLst>
                <a:ext uri="{FF2B5EF4-FFF2-40B4-BE49-F238E27FC236}">
                  <a16:creationId xmlns:a16="http://schemas.microsoft.com/office/drawing/2014/main" id="{903B6BBC-AB92-91DC-CBF5-061F99B4B23C}"/>
                </a:ext>
              </a:extLst>
            </p:cNvPr>
            <p:cNvSpPr/>
            <p:nvPr/>
          </p:nvSpPr>
          <p:spPr>
            <a:xfrm>
              <a:off x="761588" y="2654161"/>
              <a:ext cx="2888354" cy="3715596"/>
            </a:xfrm>
            <a:prstGeom prst="roundRect">
              <a:avLst>
                <a:gd name="adj" fmla="val 10302"/>
              </a:avLst>
            </a:prstGeom>
            <a:solidFill>
              <a:schemeClr val="tx1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E3B475A6-385D-EB46-3198-C69B06A5C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331" y="1586192"/>
            <a:ext cx="4366105" cy="288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26F5F3-1652-A99B-9085-A46ED9173DAC}"/>
              </a:ext>
            </a:extLst>
          </p:cNvPr>
          <p:cNvSpPr txBox="1"/>
          <p:nvPr/>
        </p:nvSpPr>
        <p:spPr>
          <a:xfrm>
            <a:off x="10803382" y="5630612"/>
            <a:ext cx="903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Lab File: </a:t>
            </a:r>
            <a:r>
              <a:rPr lang="en-GB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lab1.ipynb</a:t>
            </a:r>
            <a:endParaRPr lang="en-001" sz="12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34985-C770-D950-EB6E-A4C019692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2577" y="4736592"/>
            <a:ext cx="3327591" cy="135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880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959-22F4-F884-2B8E-D0B0ADBE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C4BC14-4B70-41C4-7C94-9C88BDC8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Normal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61F6-94F9-D29F-1E8D-A6A4DC66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DA42D-65CA-635B-E8CF-38F75A2B43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61660"/>
            <a:ext cx="6657065" cy="4135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🧠 Key Idea:</a:t>
            </a:r>
          </a:p>
          <a:p>
            <a:r>
              <a:rPr lang="en-GB" dirty="0"/>
              <a:t>Bell-shaped curve, symmetric around the mean (μ)</a:t>
            </a:r>
          </a:p>
          <a:p>
            <a:pPr marL="0" indent="0">
              <a:buNone/>
            </a:pPr>
            <a:r>
              <a:rPr lang="en-GB" b="1" dirty="0"/>
              <a:t>📈 PMF:</a:t>
            </a:r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🧪 Example:</a:t>
            </a:r>
          </a:p>
          <a:p>
            <a:r>
              <a:rPr lang="en-GB" dirty="0"/>
              <a:t>Heights of people.</a:t>
            </a:r>
          </a:p>
          <a:p>
            <a:r>
              <a:rPr lang="en-GB" dirty="0"/>
              <a:t>Errors in measurements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9639CF-9A4F-997C-86C2-34B3E090A121}"/>
                  </a:ext>
                </a:extLst>
              </p:cNvPr>
              <p:cNvSpPr txBox="1"/>
              <p:nvPr/>
            </p:nvSpPr>
            <p:spPr>
              <a:xfrm>
                <a:off x="2003525" y="3940384"/>
                <a:ext cx="2839816" cy="689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9639CF-9A4F-997C-86C2-34B3E090A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25" y="3940384"/>
                <a:ext cx="2839816" cy="6890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E3739B90-4F79-64AF-9C11-795C18E44EEC}"/>
              </a:ext>
            </a:extLst>
          </p:cNvPr>
          <p:cNvGrpSpPr/>
          <p:nvPr/>
        </p:nvGrpSpPr>
        <p:grpSpPr>
          <a:xfrm>
            <a:off x="7254241" y="4572000"/>
            <a:ext cx="4529328" cy="1554480"/>
            <a:chOff x="700645" y="2654161"/>
            <a:chExt cx="2949297" cy="3738400"/>
          </a:xfrm>
        </p:grpSpPr>
        <p:sp>
          <p:nvSpPr>
            <p:cNvPr id="9" name="Rectangle: Rounded Corners 3">
              <a:extLst>
                <a:ext uri="{FF2B5EF4-FFF2-40B4-BE49-F238E27FC236}">
                  <a16:creationId xmlns:a16="http://schemas.microsoft.com/office/drawing/2014/main" id="{153125A1-B748-273D-D731-45C1F1287BED}"/>
                </a:ext>
              </a:extLst>
            </p:cNvPr>
            <p:cNvSpPr/>
            <p:nvPr/>
          </p:nvSpPr>
          <p:spPr>
            <a:xfrm rot="21375581">
              <a:off x="700645" y="2676964"/>
              <a:ext cx="2888354" cy="3715597"/>
            </a:xfrm>
            <a:prstGeom prst="roundRect">
              <a:avLst>
                <a:gd name="adj" fmla="val 10302"/>
              </a:avLst>
            </a:prstGeom>
            <a:solidFill>
              <a:srgbClr val="C2E6F4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  <p:sp>
          <p:nvSpPr>
            <p:cNvPr id="10" name="Rectangle: Rounded Corners 3">
              <a:extLst>
                <a:ext uri="{FF2B5EF4-FFF2-40B4-BE49-F238E27FC236}">
                  <a16:creationId xmlns:a16="http://schemas.microsoft.com/office/drawing/2014/main" id="{8FF9684E-3C1F-CA97-54C3-1060A8B9C370}"/>
                </a:ext>
              </a:extLst>
            </p:cNvPr>
            <p:cNvSpPr/>
            <p:nvPr/>
          </p:nvSpPr>
          <p:spPr>
            <a:xfrm>
              <a:off x="761588" y="2654161"/>
              <a:ext cx="2888354" cy="3715596"/>
            </a:xfrm>
            <a:prstGeom prst="roundRect">
              <a:avLst>
                <a:gd name="adj" fmla="val 10302"/>
              </a:avLst>
            </a:prstGeom>
            <a:solidFill>
              <a:schemeClr val="tx1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0D3B644A-E982-E53C-6E70-2E8DDB4F5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405" y="1648325"/>
            <a:ext cx="4178113" cy="276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D63F45-A231-15D6-8108-4A72086C4DE5}"/>
              </a:ext>
            </a:extLst>
          </p:cNvPr>
          <p:cNvSpPr txBox="1"/>
          <p:nvPr/>
        </p:nvSpPr>
        <p:spPr>
          <a:xfrm>
            <a:off x="10972036" y="5529339"/>
            <a:ext cx="836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Lab File: </a:t>
            </a:r>
            <a:r>
              <a:rPr lang="en-GB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lab1.ipynb</a:t>
            </a:r>
            <a:endParaRPr lang="en-001" sz="1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7976D4-9300-2AD0-A4A9-7DF276CFC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405" y="4664849"/>
            <a:ext cx="3639034" cy="132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03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E57A-E009-AEDD-481F-E462D8747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D192FB-C325-F074-A62A-3843F5A2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Exponential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4AF48-657B-83FE-9C41-1E6524A0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A69831-4AC5-439C-8C91-4D6ECD4499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61660"/>
            <a:ext cx="6657065" cy="4135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🧠 Key Idea:</a:t>
            </a:r>
          </a:p>
          <a:p>
            <a:r>
              <a:rPr lang="en-GB" dirty="0"/>
              <a:t>Models time between events in a Poisson process</a:t>
            </a:r>
          </a:p>
          <a:p>
            <a:r>
              <a:rPr lang="en-GB" dirty="0"/>
              <a:t>Has memoryless property</a:t>
            </a:r>
          </a:p>
          <a:p>
            <a:pPr marL="0" indent="0">
              <a:buNone/>
            </a:pPr>
            <a:r>
              <a:rPr lang="en-GB" b="1" dirty="0"/>
              <a:t>📈 PMF:</a:t>
            </a:r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🧪 Example:</a:t>
            </a:r>
          </a:p>
          <a:p>
            <a:r>
              <a:rPr lang="en-GB" dirty="0"/>
              <a:t>Time between arrivals at an ATM</a:t>
            </a:r>
          </a:p>
          <a:p>
            <a:r>
              <a:rPr lang="en-GB" dirty="0"/>
              <a:t>Lifespan of electronic components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A3BDCE-6A35-81C9-CE20-2FAEB8EE5CA3}"/>
                  </a:ext>
                </a:extLst>
              </p:cNvPr>
              <p:cNvSpPr txBox="1"/>
              <p:nvPr/>
            </p:nvSpPr>
            <p:spPr>
              <a:xfrm>
                <a:off x="1986052" y="4406984"/>
                <a:ext cx="2674771" cy="322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l-G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A3BDCE-6A35-81C9-CE20-2FAEB8EE5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52" y="4406984"/>
                <a:ext cx="2674771" cy="322268"/>
              </a:xfrm>
              <a:prstGeom prst="rect">
                <a:avLst/>
              </a:prstGeom>
              <a:blipFill>
                <a:blip r:embed="rId2"/>
                <a:stretch>
                  <a:fillRect l="-3189" r="-1595" b="-32075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C7C7723F-EC3B-076E-56AA-C1C2F102F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131" y="1786177"/>
            <a:ext cx="4212387" cy="278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3F1451A-4D91-DA8D-FB33-8CC18E6E9349}"/>
              </a:ext>
            </a:extLst>
          </p:cNvPr>
          <p:cNvGrpSpPr/>
          <p:nvPr/>
        </p:nvGrpSpPr>
        <p:grpSpPr>
          <a:xfrm>
            <a:off x="7210708" y="4876800"/>
            <a:ext cx="4523232" cy="1406032"/>
            <a:chOff x="7211569" y="4986528"/>
            <a:chExt cx="4523232" cy="14060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EAE118C-431B-2B0D-DB7B-3DDF4628B756}"/>
                </a:ext>
              </a:extLst>
            </p:cNvPr>
            <p:cNvGrpSpPr/>
            <p:nvPr/>
          </p:nvGrpSpPr>
          <p:grpSpPr>
            <a:xfrm>
              <a:off x="7211569" y="4986528"/>
              <a:ext cx="4523232" cy="1406032"/>
              <a:chOff x="700645" y="2654161"/>
              <a:chExt cx="2949297" cy="3738400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D8F66748-4A58-FEA0-542A-7E8929368AE0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FFD17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A8FF99D8-0BEC-3B1A-42F7-5FD38ED1E04D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1B0EB5-246B-81D1-9ECC-37DA57B5B9AF}"/>
                </a:ext>
              </a:extLst>
            </p:cNvPr>
            <p:cNvSpPr txBox="1"/>
            <p:nvPr/>
          </p:nvSpPr>
          <p:spPr>
            <a:xfrm>
              <a:off x="10831223" y="5750015"/>
              <a:ext cx="903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bg1"/>
                  </a:solidFill>
                </a:rPr>
                <a:t>Lab File: </a:t>
              </a:r>
              <a:r>
                <a:rPr lang="en-GB" sz="1200" dirty="0">
                  <a:solidFill>
                    <a:schemeClr val="bg1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lab1.ipynb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CAD6E4E-1226-FFFF-C5AC-FCC50943C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6131" y="5075432"/>
              <a:ext cx="3559911" cy="12228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26061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814B6-C45D-0D6D-2D23-B8830E48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5218BD-6EED-77F4-1DDD-F52E2C93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Uniform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9179FF-D414-4A6C-8604-327BDF2E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438A70-6219-5496-C220-3842135E2A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61660"/>
            <a:ext cx="6657065" cy="4135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🧠 Key Idea:</a:t>
            </a:r>
          </a:p>
          <a:p>
            <a:r>
              <a:rPr lang="en-GB" dirty="0"/>
              <a:t>All outcomes are equally likely over a continuous range</a:t>
            </a:r>
          </a:p>
          <a:p>
            <a:pPr marL="0" indent="0">
              <a:buNone/>
            </a:pPr>
            <a:r>
              <a:rPr lang="en-GB" b="1" dirty="0"/>
              <a:t>📈 PMF:</a:t>
            </a:r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🧪 Example:</a:t>
            </a:r>
          </a:p>
          <a:p>
            <a:r>
              <a:rPr lang="en-GB" dirty="0"/>
              <a:t>Picking a random number between 0 and 1</a:t>
            </a:r>
          </a:p>
          <a:p>
            <a:r>
              <a:rPr lang="en-GB" dirty="0"/>
              <a:t>Rolling a fair die (discrete version)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0BDCB9-ED82-0FFE-564F-95F67BFE4CD2}"/>
                  </a:ext>
                </a:extLst>
              </p:cNvPr>
              <p:cNvSpPr txBox="1"/>
              <p:nvPr/>
            </p:nvSpPr>
            <p:spPr>
              <a:xfrm>
                <a:off x="1962755" y="3923576"/>
                <a:ext cx="3216778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0BDCB9-ED82-0FFE-564F-95F67BFE4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755" y="3923576"/>
                <a:ext cx="3216778" cy="5782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513793A-CB9D-1C61-900F-9E4F80226CF7}"/>
              </a:ext>
            </a:extLst>
          </p:cNvPr>
          <p:cNvGrpSpPr/>
          <p:nvPr/>
        </p:nvGrpSpPr>
        <p:grpSpPr>
          <a:xfrm>
            <a:off x="7390880" y="4615245"/>
            <a:ext cx="4201846" cy="1675253"/>
            <a:chOff x="7553992" y="4740902"/>
            <a:chExt cx="3959898" cy="14361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5159B2E-95D8-38BC-DFFA-AF25EEBA3E00}"/>
                </a:ext>
              </a:extLst>
            </p:cNvPr>
            <p:cNvGrpSpPr/>
            <p:nvPr/>
          </p:nvGrpSpPr>
          <p:grpSpPr>
            <a:xfrm>
              <a:off x="7553992" y="4740902"/>
              <a:ext cx="3954635" cy="1436162"/>
              <a:chOff x="700645" y="2654161"/>
              <a:chExt cx="2949297" cy="3738400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C4D94D00-8461-A288-8B66-9EF3208D8654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BF7FB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E53D263F-3289-3F1D-8BB6-BF571180FFD6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F2DAE8-83BC-8655-940D-77ACAE2759B7}"/>
                </a:ext>
              </a:extLst>
            </p:cNvPr>
            <p:cNvSpPr txBox="1"/>
            <p:nvPr/>
          </p:nvSpPr>
          <p:spPr>
            <a:xfrm>
              <a:off x="10665685" y="5704635"/>
              <a:ext cx="848205" cy="39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bg1"/>
                  </a:solidFill>
                </a:rPr>
                <a:t>Lab File: </a:t>
              </a:r>
              <a:r>
                <a:rPr lang="en-GB" sz="1200" dirty="0">
                  <a:solidFill>
                    <a:schemeClr val="bg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lab1.ipynb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C2C2E6E3-4CB6-9594-C602-1DF82FD03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784" y="1705307"/>
            <a:ext cx="4100452" cy="271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74CB03-5A3D-5FA3-91B6-AEEA36704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465" y="4705127"/>
            <a:ext cx="3163591" cy="148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9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8520-EBA5-2680-D15C-D4616EC51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E7DB60-767D-A67A-A65F-DBADF5424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428232" cy="4992624"/>
          </a:xfrm>
        </p:spPr>
        <p:txBody>
          <a:bodyPr>
            <a:normAutofit/>
          </a:bodyPr>
          <a:lstStyle/>
          <a:p>
            <a:b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400" b="0" u="none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i="0" u="non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How to Find the Best-Fitting Distribution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183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CA28-DE2E-FC66-8FA7-BEC0CC14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6F0C1D-D7AB-5F54-6E36-99007F56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13164"/>
            <a:ext cx="10360152" cy="1179576"/>
          </a:xfrm>
        </p:spPr>
        <p:txBody>
          <a:bodyPr/>
          <a:lstStyle/>
          <a:p>
            <a:r>
              <a:rPr lang="en-GB" b="1" u="none" dirty="0"/>
              <a:t>🧪 </a:t>
            </a:r>
            <a:r>
              <a:rPr lang="en-GB" b="1" u="none" dirty="0">
                <a:solidFill>
                  <a:srgbClr val="FF0000"/>
                </a:solidFill>
              </a:rPr>
              <a:t>Step-by-Step: How to Find the Best-Fitting Distribution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D034E9-412F-540D-2B30-80D81192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2F6940F-66EE-AF35-2B6E-2A638AAB6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336BA73-5922-FD9C-BB66-F1A638157194}"/>
              </a:ext>
            </a:extLst>
          </p:cNvPr>
          <p:cNvGrpSpPr/>
          <p:nvPr/>
        </p:nvGrpSpPr>
        <p:grpSpPr>
          <a:xfrm>
            <a:off x="8340702" y="1918873"/>
            <a:ext cx="2854348" cy="1723481"/>
            <a:chOff x="751005" y="1696848"/>
            <a:chExt cx="2854348" cy="172348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E9A211E-9AAB-C7E5-A112-C3437B31EA67}"/>
                </a:ext>
              </a:extLst>
            </p:cNvPr>
            <p:cNvGrpSpPr/>
            <p:nvPr/>
          </p:nvGrpSpPr>
          <p:grpSpPr>
            <a:xfrm>
              <a:off x="751005" y="2006696"/>
              <a:ext cx="2809548" cy="1413633"/>
              <a:chOff x="700276" y="2652030"/>
              <a:chExt cx="3345293" cy="3717727"/>
            </a:xfrm>
          </p:grpSpPr>
          <p:sp>
            <p:nvSpPr>
              <p:cNvPr id="65" name="Rectangle: Rounded Corners 3">
                <a:extLst>
                  <a:ext uri="{FF2B5EF4-FFF2-40B4-BE49-F238E27FC236}">
                    <a16:creationId xmlns:a16="http://schemas.microsoft.com/office/drawing/2014/main" id="{EF64B726-5D40-1A2E-9F5D-4832228C2E0B}"/>
                  </a:ext>
                </a:extLst>
              </p:cNvPr>
              <p:cNvSpPr/>
              <p:nvPr/>
            </p:nvSpPr>
            <p:spPr>
              <a:xfrm rot="21375581">
                <a:off x="700276" y="2652030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66" name="Rectangle: Rounded Corners 3">
                <a:extLst>
                  <a:ext uri="{FF2B5EF4-FFF2-40B4-BE49-F238E27FC236}">
                    <a16:creationId xmlns:a16="http://schemas.microsoft.com/office/drawing/2014/main" id="{C991FA1F-C9D0-9C28-67D7-94835D1E2C1A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1EE85E4-1E10-D81C-AB26-2946AFCCBE68}"/>
                </a:ext>
              </a:extLst>
            </p:cNvPr>
            <p:cNvSpPr txBox="1"/>
            <p:nvPr/>
          </p:nvSpPr>
          <p:spPr>
            <a:xfrm>
              <a:off x="802498" y="2164769"/>
              <a:ext cx="2802855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3. Compare Distributions using Goodness-of-Fit Tests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B1B8D2E-2363-CB8C-2866-6D3AF44B08E7}"/>
                </a:ext>
              </a:extLst>
            </p:cNvPr>
            <p:cNvSpPr txBox="1"/>
            <p:nvPr/>
          </p:nvSpPr>
          <p:spPr>
            <a:xfrm>
              <a:off x="870158" y="3031159"/>
              <a:ext cx="24781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Kolmogorov–Smirnov (K-S) Test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0A42D1-FF68-8D5B-7D94-065CD1E1C731}"/>
                </a:ext>
              </a:extLst>
            </p:cNvPr>
            <p:cNvSpPr txBox="1"/>
            <p:nvPr/>
          </p:nvSpPr>
          <p:spPr>
            <a:xfrm>
              <a:off x="1748423" y="1696848"/>
              <a:ext cx="72163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dirty="0"/>
                <a:t>⚖️</a:t>
              </a:r>
              <a:endParaRPr lang="en-001" sz="32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5D9D5F0-514E-0A24-036D-EF6BE29CDB1F}"/>
              </a:ext>
            </a:extLst>
          </p:cNvPr>
          <p:cNvGrpSpPr/>
          <p:nvPr/>
        </p:nvGrpSpPr>
        <p:grpSpPr>
          <a:xfrm>
            <a:off x="4797484" y="1971372"/>
            <a:ext cx="2854348" cy="1749165"/>
            <a:chOff x="751005" y="1671164"/>
            <a:chExt cx="2854348" cy="1749165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ABD86D75-A5E7-9EFE-18D3-750F5BD52519}"/>
                </a:ext>
              </a:extLst>
            </p:cNvPr>
            <p:cNvGrpSpPr/>
            <p:nvPr/>
          </p:nvGrpSpPr>
          <p:grpSpPr>
            <a:xfrm>
              <a:off x="751005" y="2006696"/>
              <a:ext cx="2809548" cy="1413633"/>
              <a:chOff x="700276" y="2652030"/>
              <a:chExt cx="3345293" cy="3717727"/>
            </a:xfrm>
          </p:grpSpPr>
          <p:sp>
            <p:nvSpPr>
              <p:cNvPr id="72" name="Rectangle: Rounded Corners 3">
                <a:extLst>
                  <a:ext uri="{FF2B5EF4-FFF2-40B4-BE49-F238E27FC236}">
                    <a16:creationId xmlns:a16="http://schemas.microsoft.com/office/drawing/2014/main" id="{566E52E4-FEC4-D29C-D8BB-6714D7ACC728}"/>
                  </a:ext>
                </a:extLst>
              </p:cNvPr>
              <p:cNvSpPr/>
              <p:nvPr/>
            </p:nvSpPr>
            <p:spPr>
              <a:xfrm rot="21375581">
                <a:off x="700276" y="2652030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73" name="Rectangle: Rounded Corners 3">
                <a:extLst>
                  <a:ext uri="{FF2B5EF4-FFF2-40B4-BE49-F238E27FC236}">
                    <a16:creationId xmlns:a16="http://schemas.microsoft.com/office/drawing/2014/main" id="{3A860C81-E812-574A-1721-71CECAD54FD3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D2A58CB-A150-FC09-C831-82B0D598D3AC}"/>
                </a:ext>
              </a:extLst>
            </p:cNvPr>
            <p:cNvSpPr txBox="1"/>
            <p:nvPr/>
          </p:nvSpPr>
          <p:spPr>
            <a:xfrm>
              <a:off x="786180" y="2164769"/>
              <a:ext cx="28191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2. Fit Common Distributions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6EF8471-17E6-D648-CED6-C833F4549A79}"/>
                </a:ext>
              </a:extLst>
            </p:cNvPr>
            <p:cNvSpPr txBox="1"/>
            <p:nvPr/>
          </p:nvSpPr>
          <p:spPr>
            <a:xfrm>
              <a:off x="870158" y="2817918"/>
              <a:ext cx="24781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Use </a:t>
              </a:r>
              <a:r>
                <a:rPr lang="en-GB" sz="1200" b="1" dirty="0" err="1">
                  <a:solidFill>
                    <a:schemeClr val="bg1"/>
                  </a:solidFill>
                </a:rPr>
                <a:t>scipy.stats</a:t>
              </a:r>
              <a:r>
                <a:rPr lang="en-GB" sz="1200" b="1" dirty="0">
                  <a:solidFill>
                    <a:schemeClr val="bg1"/>
                  </a:solidFill>
                </a:rPr>
                <a:t> to fit multiple candidate distributions: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CFC7FD3-61BF-B0B4-085C-6E79E8E213D3}"/>
                </a:ext>
              </a:extLst>
            </p:cNvPr>
            <p:cNvSpPr txBox="1"/>
            <p:nvPr/>
          </p:nvSpPr>
          <p:spPr>
            <a:xfrm>
              <a:off x="1748423" y="1671164"/>
              <a:ext cx="72163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001" sz="3200" dirty="0"/>
                <a:t>🛠️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42BE312-78A3-50F6-070E-26474D38FCDF}"/>
              </a:ext>
            </a:extLst>
          </p:cNvPr>
          <p:cNvGrpSpPr/>
          <p:nvPr/>
        </p:nvGrpSpPr>
        <p:grpSpPr>
          <a:xfrm>
            <a:off x="1342256" y="1951899"/>
            <a:ext cx="2854348" cy="1749165"/>
            <a:chOff x="751005" y="1671164"/>
            <a:chExt cx="2854348" cy="1749165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FB18C34-EA21-32C3-31D1-F8540D7013A9}"/>
                </a:ext>
              </a:extLst>
            </p:cNvPr>
            <p:cNvGrpSpPr/>
            <p:nvPr/>
          </p:nvGrpSpPr>
          <p:grpSpPr>
            <a:xfrm>
              <a:off x="751005" y="2006696"/>
              <a:ext cx="2809548" cy="1413633"/>
              <a:chOff x="700276" y="2652030"/>
              <a:chExt cx="3345293" cy="3717727"/>
            </a:xfrm>
          </p:grpSpPr>
          <p:sp>
            <p:nvSpPr>
              <p:cNvPr id="80" name="Rectangle: Rounded Corners 3">
                <a:extLst>
                  <a:ext uri="{FF2B5EF4-FFF2-40B4-BE49-F238E27FC236}">
                    <a16:creationId xmlns:a16="http://schemas.microsoft.com/office/drawing/2014/main" id="{15A9D563-56E8-F7CD-7389-54FD24F53B84}"/>
                  </a:ext>
                </a:extLst>
              </p:cNvPr>
              <p:cNvSpPr/>
              <p:nvPr/>
            </p:nvSpPr>
            <p:spPr>
              <a:xfrm rot="21375581">
                <a:off x="700276" y="2652030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81" name="Rectangle: Rounded Corners 3">
                <a:extLst>
                  <a:ext uri="{FF2B5EF4-FFF2-40B4-BE49-F238E27FC236}">
                    <a16:creationId xmlns:a16="http://schemas.microsoft.com/office/drawing/2014/main" id="{0AD38176-4C1C-DE8B-766C-A4CFD783FA47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13B0DE4-E0E7-220F-CCA3-70FEE88646F1}"/>
                </a:ext>
              </a:extLst>
            </p:cNvPr>
            <p:cNvSpPr txBox="1"/>
            <p:nvPr/>
          </p:nvSpPr>
          <p:spPr>
            <a:xfrm>
              <a:off x="786180" y="2164769"/>
              <a:ext cx="28191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1. Visual Inspection (First Look)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A972DB8-F769-A8D3-F331-BE2B742B827C}"/>
                </a:ext>
              </a:extLst>
            </p:cNvPr>
            <p:cNvSpPr txBox="1"/>
            <p:nvPr/>
          </p:nvSpPr>
          <p:spPr>
            <a:xfrm>
              <a:off x="870158" y="2817918"/>
              <a:ext cx="24781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Use plots to get an initial sense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2681630-C232-7FF3-6B07-155C8F0D0CD8}"/>
                </a:ext>
              </a:extLst>
            </p:cNvPr>
            <p:cNvSpPr txBox="1"/>
            <p:nvPr/>
          </p:nvSpPr>
          <p:spPr>
            <a:xfrm>
              <a:off x="1774170" y="1671164"/>
              <a:ext cx="72163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001" sz="3200" dirty="0"/>
                <a:t>👀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78FCEFF-1D10-FB6F-80B8-AFE7D168675B}"/>
              </a:ext>
            </a:extLst>
          </p:cNvPr>
          <p:cNvGrpSpPr/>
          <p:nvPr/>
        </p:nvGrpSpPr>
        <p:grpSpPr>
          <a:xfrm>
            <a:off x="2674747" y="4413643"/>
            <a:ext cx="2854348" cy="1729133"/>
            <a:chOff x="751005" y="1691196"/>
            <a:chExt cx="2854348" cy="1729133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D29EF87-0173-CA74-85F4-CC6CAA96BAE1}"/>
                </a:ext>
              </a:extLst>
            </p:cNvPr>
            <p:cNvGrpSpPr/>
            <p:nvPr/>
          </p:nvGrpSpPr>
          <p:grpSpPr>
            <a:xfrm>
              <a:off x="751005" y="2006696"/>
              <a:ext cx="2809548" cy="1413633"/>
              <a:chOff x="700276" y="2652030"/>
              <a:chExt cx="3345293" cy="3717727"/>
            </a:xfrm>
          </p:grpSpPr>
          <p:sp>
            <p:nvSpPr>
              <p:cNvPr id="87" name="Rectangle: Rounded Corners 3">
                <a:extLst>
                  <a:ext uri="{FF2B5EF4-FFF2-40B4-BE49-F238E27FC236}">
                    <a16:creationId xmlns:a16="http://schemas.microsoft.com/office/drawing/2014/main" id="{784F2989-46DF-1F93-D0DD-F5BB2F47984A}"/>
                  </a:ext>
                </a:extLst>
              </p:cNvPr>
              <p:cNvSpPr/>
              <p:nvPr/>
            </p:nvSpPr>
            <p:spPr>
              <a:xfrm rot="21375581">
                <a:off x="700276" y="2652030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88" name="Rectangle: Rounded Corners 3">
                <a:extLst>
                  <a:ext uri="{FF2B5EF4-FFF2-40B4-BE49-F238E27FC236}">
                    <a16:creationId xmlns:a16="http://schemas.microsoft.com/office/drawing/2014/main" id="{2C4D7864-53C4-9468-DE12-05B78C90636D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770E2B-6DCF-4623-6BFE-D7732EB4ED2C}"/>
                </a:ext>
              </a:extLst>
            </p:cNvPr>
            <p:cNvSpPr txBox="1"/>
            <p:nvPr/>
          </p:nvSpPr>
          <p:spPr>
            <a:xfrm>
              <a:off x="786180" y="2164769"/>
              <a:ext cx="28191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4. Q-Q Plot (Quantile-Quantile Plot)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9B697C5-9079-4F87-9302-A6142133321E}"/>
                </a:ext>
              </a:extLst>
            </p:cNvPr>
            <p:cNvSpPr txBox="1"/>
            <p:nvPr/>
          </p:nvSpPr>
          <p:spPr>
            <a:xfrm>
              <a:off x="870158" y="2817918"/>
              <a:ext cx="24781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Check linearity between theoretical &amp; empirical quantiles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4A36C09-C41A-AB33-C839-9E11D81443F5}"/>
                </a:ext>
              </a:extLst>
            </p:cNvPr>
            <p:cNvSpPr txBox="1"/>
            <p:nvPr/>
          </p:nvSpPr>
          <p:spPr>
            <a:xfrm>
              <a:off x="1817360" y="1691196"/>
              <a:ext cx="72163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dirty="0"/>
                <a:t>🧮</a:t>
              </a:r>
              <a:endParaRPr lang="en-001" sz="32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4E2DD42-0654-FEC8-376E-D2D321FEAFB9}"/>
              </a:ext>
            </a:extLst>
          </p:cNvPr>
          <p:cNvGrpSpPr/>
          <p:nvPr/>
        </p:nvGrpSpPr>
        <p:grpSpPr>
          <a:xfrm>
            <a:off x="6757590" y="4357775"/>
            <a:ext cx="2854348" cy="1705211"/>
            <a:chOff x="751005" y="1715118"/>
            <a:chExt cx="2854348" cy="1705211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97F540C-D7EB-4354-53F8-BCE97DA05FC0}"/>
                </a:ext>
              </a:extLst>
            </p:cNvPr>
            <p:cNvGrpSpPr/>
            <p:nvPr/>
          </p:nvGrpSpPr>
          <p:grpSpPr>
            <a:xfrm>
              <a:off x="751005" y="2006696"/>
              <a:ext cx="2809548" cy="1413633"/>
              <a:chOff x="700276" y="2652030"/>
              <a:chExt cx="3345293" cy="3717727"/>
            </a:xfrm>
          </p:grpSpPr>
          <p:sp>
            <p:nvSpPr>
              <p:cNvPr id="94" name="Rectangle: Rounded Corners 3">
                <a:extLst>
                  <a:ext uri="{FF2B5EF4-FFF2-40B4-BE49-F238E27FC236}">
                    <a16:creationId xmlns:a16="http://schemas.microsoft.com/office/drawing/2014/main" id="{3CB7CD02-8220-5C30-05EA-FA8387B1D4F0}"/>
                  </a:ext>
                </a:extLst>
              </p:cNvPr>
              <p:cNvSpPr/>
              <p:nvPr/>
            </p:nvSpPr>
            <p:spPr>
              <a:xfrm rot="21375581">
                <a:off x="700276" y="2652030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95" name="Rectangle: Rounded Corners 3">
                <a:extLst>
                  <a:ext uri="{FF2B5EF4-FFF2-40B4-BE49-F238E27FC236}">
                    <a16:creationId xmlns:a16="http://schemas.microsoft.com/office/drawing/2014/main" id="{DDB3B8AE-6436-C215-2A6B-B843465FC3FF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567F4B6-4589-9486-E633-D3F2A97E8915}"/>
                </a:ext>
              </a:extLst>
            </p:cNvPr>
            <p:cNvSpPr txBox="1"/>
            <p:nvPr/>
          </p:nvSpPr>
          <p:spPr>
            <a:xfrm>
              <a:off x="786180" y="2164769"/>
              <a:ext cx="28191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5. Use Distribution Fitting Libraries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84CFF26-ECD9-E0FB-812C-E7A4AC6A403A}"/>
                </a:ext>
              </a:extLst>
            </p:cNvPr>
            <p:cNvSpPr txBox="1"/>
            <p:nvPr/>
          </p:nvSpPr>
          <p:spPr>
            <a:xfrm>
              <a:off x="870158" y="2817918"/>
              <a:ext cx="24781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Try the fitter package for automated comparison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8C72F2D-C47C-A7B2-A3CD-13C405BB1CFC}"/>
                </a:ext>
              </a:extLst>
            </p:cNvPr>
            <p:cNvSpPr txBox="1"/>
            <p:nvPr/>
          </p:nvSpPr>
          <p:spPr>
            <a:xfrm>
              <a:off x="1722677" y="1715118"/>
              <a:ext cx="72163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dirty="0"/>
                <a:t>🤖</a:t>
              </a:r>
              <a:endParaRPr lang="en-001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56305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A84C-718A-615F-DFCE-61733ABC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7B57B6-649C-38D8-C51B-BE9BD366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92996"/>
            <a:ext cx="5357813" cy="1971675"/>
          </a:xfrm>
        </p:spPr>
        <p:txBody>
          <a:bodyPr>
            <a:normAutofit/>
          </a:bodyPr>
          <a:lstStyle/>
          <a:p>
            <a:r>
              <a:rPr lang="en-GB" b="1" dirty="0"/>
              <a:t>Visual Inspection (First Look)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034D4-3BE4-B8A1-ECA6-8153B7C6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D01163-25AE-5284-F2AB-722E0B761F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1" y="3550443"/>
            <a:ext cx="5809508" cy="2390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🧿 Objective:</a:t>
            </a:r>
          </a:p>
          <a:p>
            <a:pPr marL="0" indent="0">
              <a:buNone/>
            </a:pPr>
            <a:r>
              <a:rPr lang="en-GB" dirty="0"/>
              <a:t>Get an initial sense of the data's shape and spread.</a:t>
            </a:r>
          </a:p>
          <a:p>
            <a:pPr marL="0" indent="0">
              <a:buNone/>
            </a:pPr>
            <a:r>
              <a:rPr lang="en-GB" b="1" dirty="0"/>
              <a:t>✅ How:</a:t>
            </a:r>
          </a:p>
          <a:p>
            <a:pPr marL="0" indent="0">
              <a:buNone/>
            </a:pPr>
            <a:r>
              <a:rPr lang="en-GB" dirty="0"/>
              <a:t>Use histograms, box plots, or density plots. Identify skewness, modality, and outliers.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88A9D9-C469-C93A-2BE1-AF692299AE0D}"/>
              </a:ext>
            </a:extLst>
          </p:cNvPr>
          <p:cNvGrpSpPr/>
          <p:nvPr/>
        </p:nvGrpSpPr>
        <p:grpSpPr>
          <a:xfrm>
            <a:off x="7532954" y="4475729"/>
            <a:ext cx="4201846" cy="1675253"/>
            <a:chOff x="7553992" y="4740902"/>
            <a:chExt cx="3959898" cy="14361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CA6EB3-8BC5-103D-6BAF-45C9D4D8AB8A}"/>
                </a:ext>
              </a:extLst>
            </p:cNvPr>
            <p:cNvGrpSpPr/>
            <p:nvPr/>
          </p:nvGrpSpPr>
          <p:grpSpPr>
            <a:xfrm>
              <a:off x="7553992" y="4740902"/>
              <a:ext cx="3954635" cy="1436162"/>
              <a:chOff x="700645" y="2654161"/>
              <a:chExt cx="2949297" cy="3738400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BE27868F-72A0-00B5-6246-6E0C2E1BF532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BF7FB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760D88F6-FF36-C7B9-14FF-F7504969CA3F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DEBE7E-B82A-1F1E-643D-D9E2F806365C}"/>
                </a:ext>
              </a:extLst>
            </p:cNvPr>
            <p:cNvSpPr txBox="1"/>
            <p:nvPr/>
          </p:nvSpPr>
          <p:spPr>
            <a:xfrm>
              <a:off x="10665685" y="5704635"/>
              <a:ext cx="848205" cy="39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bg1"/>
                  </a:solidFill>
                </a:rPr>
                <a:t>Lab File: </a:t>
              </a:r>
              <a:r>
                <a:rPr lang="en-GB" sz="1200" dirty="0">
                  <a:solidFill>
                    <a:schemeClr val="bg1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lab1.ipynb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FA5B8BC-0E37-3452-A04B-EB21BAAB60F2}"/>
              </a:ext>
            </a:extLst>
          </p:cNvPr>
          <p:cNvSpPr txBox="1"/>
          <p:nvPr/>
        </p:nvSpPr>
        <p:spPr>
          <a:xfrm>
            <a:off x="727303" y="970837"/>
            <a:ext cx="123051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6600" dirty="0"/>
              <a:t>👀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CB9F8BE-0A57-93B9-1F7A-A7EDF53B2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223" y="1735327"/>
            <a:ext cx="3724376" cy="247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12B312-AE67-447D-3636-900E91D38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249" y="4592602"/>
            <a:ext cx="2989936" cy="143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225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4FF7C-3E39-DC99-8266-836E4638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7203F7-17BB-C546-4541-8465082D4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71566"/>
            <a:ext cx="5357813" cy="1971675"/>
          </a:xfrm>
        </p:spPr>
        <p:txBody>
          <a:bodyPr>
            <a:normAutofit/>
          </a:bodyPr>
          <a:lstStyle/>
          <a:p>
            <a:r>
              <a:rPr lang="en-GB" b="1" dirty="0"/>
              <a:t>Fit Common Distributions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24345E-4413-6F6C-10BA-D95D90F7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1CB3C-F55E-31F8-3622-E9F6DBB8A4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1" y="3550443"/>
            <a:ext cx="5809508" cy="2390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🔧 Objective:</a:t>
            </a:r>
          </a:p>
          <a:p>
            <a:pPr marL="0" indent="0">
              <a:buNone/>
            </a:pPr>
            <a:r>
              <a:rPr lang="en-GB" dirty="0"/>
              <a:t>Try fitting known distributions to the data.</a:t>
            </a:r>
          </a:p>
          <a:p>
            <a:pPr marL="0" indent="0">
              <a:buNone/>
            </a:pPr>
            <a:r>
              <a:rPr lang="en-GB" b="1" dirty="0"/>
              <a:t>✅ How:</a:t>
            </a:r>
          </a:p>
          <a:p>
            <a:pPr marL="0" indent="0">
              <a:buNone/>
            </a:pPr>
            <a:r>
              <a:rPr lang="en-GB" dirty="0"/>
              <a:t>Use </a:t>
            </a:r>
            <a:r>
              <a:rPr lang="en-GB" dirty="0" err="1"/>
              <a:t>scipy.stats</a:t>
            </a:r>
            <a:r>
              <a:rPr lang="en-GB" dirty="0"/>
              <a:t> to fit and extract parameters.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D4F145-B150-8838-207C-5D88775BE003}"/>
              </a:ext>
            </a:extLst>
          </p:cNvPr>
          <p:cNvGrpSpPr/>
          <p:nvPr/>
        </p:nvGrpSpPr>
        <p:grpSpPr>
          <a:xfrm>
            <a:off x="7168623" y="4054248"/>
            <a:ext cx="4201846" cy="1675253"/>
            <a:chOff x="7553992" y="4740902"/>
            <a:chExt cx="3959898" cy="14361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93F9AF6-0052-3757-C0A1-E6470B3221B2}"/>
                </a:ext>
              </a:extLst>
            </p:cNvPr>
            <p:cNvGrpSpPr/>
            <p:nvPr/>
          </p:nvGrpSpPr>
          <p:grpSpPr>
            <a:xfrm>
              <a:off x="7553992" y="4740902"/>
              <a:ext cx="3954635" cy="1436162"/>
              <a:chOff x="700645" y="2654161"/>
              <a:chExt cx="2949297" cy="3738400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35D1F9A5-8D38-94C9-0F74-017FBA31220D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BF7FB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C362721F-D526-2DD6-95B0-9B20AB871995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840211-7E80-DE4D-D37F-193BBDFAF308}"/>
                </a:ext>
              </a:extLst>
            </p:cNvPr>
            <p:cNvSpPr txBox="1"/>
            <p:nvPr/>
          </p:nvSpPr>
          <p:spPr>
            <a:xfrm>
              <a:off x="10665685" y="5704635"/>
              <a:ext cx="848205" cy="39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bg1"/>
                  </a:solidFill>
                </a:rPr>
                <a:t>Lab File: </a:t>
              </a:r>
              <a:r>
                <a:rPr lang="en-GB" sz="1200" dirty="0">
                  <a:solidFill>
                    <a:schemeClr val="bg1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lab1.ipynb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87B38CA-9EEC-08A8-3F3E-11BA940FFD3A}"/>
              </a:ext>
            </a:extLst>
          </p:cNvPr>
          <p:cNvSpPr txBox="1"/>
          <p:nvPr/>
        </p:nvSpPr>
        <p:spPr>
          <a:xfrm>
            <a:off x="742950" y="914399"/>
            <a:ext cx="12287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6600" dirty="0"/>
              <a:t>🛠️</a:t>
            </a:r>
            <a:endParaRPr lang="en-001" sz="5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1108BC-15C3-6DEA-127B-C551502AF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49" y="4245650"/>
            <a:ext cx="3195019" cy="12742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078BEA-D1CB-7E6E-285F-961BE3FD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909" y="3104068"/>
            <a:ext cx="489108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390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E7BA-12EC-6E2C-788D-DDDA84D0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BA2C82-2BBF-98B8-AB14-26E0EE26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71566"/>
            <a:ext cx="5357813" cy="1971675"/>
          </a:xfrm>
        </p:spPr>
        <p:txBody>
          <a:bodyPr>
            <a:normAutofit/>
          </a:bodyPr>
          <a:lstStyle/>
          <a:p>
            <a:r>
              <a:rPr lang="en-GB" b="1" dirty="0"/>
              <a:t>Goodness-of-Fit Tests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82FDED-C67C-A515-4C8D-80EB16F8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6FFC6C-CF14-401E-5B56-9F12C22BE0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1" y="3550443"/>
            <a:ext cx="5809508" cy="2390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🔧 Objective:</a:t>
            </a:r>
          </a:p>
          <a:p>
            <a:pPr marL="0" indent="0">
              <a:buNone/>
            </a:pPr>
            <a:r>
              <a:rPr lang="en-GB" dirty="0"/>
              <a:t>Check how well a theoretical distribution matches data.</a:t>
            </a:r>
          </a:p>
          <a:p>
            <a:pPr marL="0" indent="0">
              <a:buNone/>
            </a:pPr>
            <a:r>
              <a:rPr lang="en-GB" b="1" dirty="0"/>
              <a:t>✅ Common Tests:</a:t>
            </a:r>
          </a:p>
          <a:p>
            <a:pPr marL="0" indent="0">
              <a:buNone/>
            </a:pPr>
            <a:r>
              <a:rPr lang="en-GB" dirty="0"/>
              <a:t>Kolmogorov–Smirnov (K–S) Test</a:t>
            </a:r>
          </a:p>
          <a:p>
            <a:pPr marL="0" indent="0">
              <a:buNone/>
            </a:pPr>
            <a:r>
              <a:rPr lang="en-GB" dirty="0"/>
              <a:t>Anderson–Darling Test</a:t>
            </a:r>
          </a:p>
          <a:p>
            <a:pPr marL="0" indent="0">
              <a:buNone/>
            </a:pPr>
            <a:r>
              <a:rPr lang="en-GB" dirty="0"/>
              <a:t>Chi-Square Test.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4F08F3-3448-85E6-D7C1-6DAB9DAFABD1}"/>
              </a:ext>
            </a:extLst>
          </p:cNvPr>
          <p:cNvGrpSpPr/>
          <p:nvPr/>
        </p:nvGrpSpPr>
        <p:grpSpPr>
          <a:xfrm>
            <a:off x="7099912" y="4371975"/>
            <a:ext cx="4634888" cy="1314450"/>
            <a:chOff x="7093745" y="4150519"/>
            <a:chExt cx="4634888" cy="131445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B3C7F8-AC33-B6EC-6352-3A9525E2F78F}"/>
                </a:ext>
              </a:extLst>
            </p:cNvPr>
            <p:cNvGrpSpPr/>
            <p:nvPr/>
          </p:nvGrpSpPr>
          <p:grpSpPr>
            <a:xfrm>
              <a:off x="7093745" y="4150519"/>
              <a:ext cx="4634888" cy="1314450"/>
              <a:chOff x="700645" y="2654161"/>
              <a:chExt cx="2949297" cy="3738400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CC9005C4-4099-2901-818D-485B96D45097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BF7FB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6A32DC6D-52E4-8B09-08A1-6642E601EDCC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AA51AC-735F-F4D3-7244-D198132604A2}"/>
                </a:ext>
              </a:extLst>
            </p:cNvPr>
            <p:cNvSpPr txBox="1"/>
            <p:nvPr/>
          </p:nvSpPr>
          <p:spPr>
            <a:xfrm>
              <a:off x="9088513" y="5062719"/>
              <a:ext cx="26012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bg1"/>
                  </a:solidFill>
                </a:rPr>
                <a:t>Lab File: </a:t>
              </a:r>
              <a:r>
                <a:rPr lang="en-GB" sz="1200" dirty="0">
                  <a:solidFill>
                    <a:schemeClr val="bg1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lab1.ipynb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3331D55-6E67-D97D-3487-ED0C325DB517}"/>
              </a:ext>
            </a:extLst>
          </p:cNvPr>
          <p:cNvSpPr txBox="1"/>
          <p:nvPr/>
        </p:nvSpPr>
        <p:spPr>
          <a:xfrm>
            <a:off x="742950" y="914399"/>
            <a:ext cx="12287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6600" dirty="0"/>
              <a:t>⚖️</a:t>
            </a:r>
            <a:endParaRPr lang="en-001" sz="5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D9FF12-BD73-4BA2-383A-A7D18C870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387" y="3043241"/>
            <a:ext cx="3858163" cy="724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09FCF9-9B98-5F5E-2E16-ABC94A7D5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423" y="4518652"/>
            <a:ext cx="4219185" cy="72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846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B2395-4EE4-CBD6-C1C5-91C20A4D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94503-4E89-CD57-CBC1-5587F941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71566"/>
            <a:ext cx="5357813" cy="1971675"/>
          </a:xfrm>
        </p:spPr>
        <p:txBody>
          <a:bodyPr>
            <a:normAutofit/>
          </a:bodyPr>
          <a:lstStyle/>
          <a:p>
            <a:r>
              <a:rPr lang="en-GB" b="1" dirty="0"/>
              <a:t>Q-Q Plot (Quantile-Quantile Plot)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8CB099-684F-F176-45C3-6D615891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C12B8-26CB-2174-6EB7-E36A1B8961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1" y="3550443"/>
            <a:ext cx="5809508" cy="2390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🔧 Objective:</a:t>
            </a:r>
          </a:p>
          <a:p>
            <a:pPr marL="0" indent="0">
              <a:buNone/>
            </a:pPr>
            <a:r>
              <a:rPr lang="en-GB" dirty="0"/>
              <a:t>Compare quantiles of the sample vs. theoretical distribution.</a:t>
            </a:r>
          </a:p>
          <a:p>
            <a:pPr marL="0" indent="0">
              <a:buNone/>
            </a:pPr>
            <a:r>
              <a:rPr lang="en-GB" b="1" dirty="0"/>
              <a:t>✅ Insight:</a:t>
            </a:r>
          </a:p>
          <a:p>
            <a:pPr marL="0" indent="0">
              <a:buNone/>
            </a:pPr>
            <a:r>
              <a:rPr lang="en-GB" dirty="0"/>
              <a:t>If points lie on the 45° line, the fit is good.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4A421F-171D-3678-68FC-BCE236DEC28C}"/>
              </a:ext>
            </a:extLst>
          </p:cNvPr>
          <p:cNvGrpSpPr/>
          <p:nvPr/>
        </p:nvGrpSpPr>
        <p:grpSpPr>
          <a:xfrm>
            <a:off x="7532953" y="4475729"/>
            <a:ext cx="4196261" cy="1360715"/>
            <a:chOff x="7553992" y="4740902"/>
            <a:chExt cx="3954635" cy="14361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79BE9C9-85AF-3A46-BBF3-268F0746B13B}"/>
                </a:ext>
              </a:extLst>
            </p:cNvPr>
            <p:cNvGrpSpPr/>
            <p:nvPr/>
          </p:nvGrpSpPr>
          <p:grpSpPr>
            <a:xfrm>
              <a:off x="7553992" y="4740902"/>
              <a:ext cx="3954635" cy="1436162"/>
              <a:chOff x="700645" y="2654161"/>
              <a:chExt cx="2949297" cy="3738400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8F8966FA-3D0B-0240-8468-5C08451FFA03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BF7FB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8FABF2B1-FE3E-9A39-1EBF-3C35950A83C5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E33FE6-1B9A-F19F-1059-65C712260072}"/>
                </a:ext>
              </a:extLst>
            </p:cNvPr>
            <p:cNvSpPr txBox="1"/>
            <p:nvPr/>
          </p:nvSpPr>
          <p:spPr>
            <a:xfrm>
              <a:off x="9578699" y="5796213"/>
              <a:ext cx="1835701" cy="29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bg1"/>
                  </a:solidFill>
                </a:rPr>
                <a:t>Lab File: </a:t>
              </a:r>
              <a:r>
                <a:rPr lang="en-GB" sz="1200" dirty="0">
                  <a:solidFill>
                    <a:schemeClr val="bg1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lab1.ipynb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46D58D7-C0FD-4DFD-2135-063A771CE7C2}"/>
              </a:ext>
            </a:extLst>
          </p:cNvPr>
          <p:cNvSpPr txBox="1"/>
          <p:nvPr/>
        </p:nvSpPr>
        <p:spPr>
          <a:xfrm>
            <a:off x="742950" y="914399"/>
            <a:ext cx="12287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6600" dirty="0"/>
              <a:t>🧮 </a:t>
            </a:r>
            <a:endParaRPr lang="en-001" sz="5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A03C00C-1422-6E33-9AF3-1484B0060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349" y="1422402"/>
            <a:ext cx="3626360" cy="290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6DEF38-8EFC-8328-E4E1-65D543019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54" y="4656440"/>
            <a:ext cx="3864310" cy="79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593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8851-EBB2-6DC1-73AF-933BA144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2667A2-A665-4456-637E-2DE42E9A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71566"/>
            <a:ext cx="5357813" cy="1971675"/>
          </a:xfrm>
        </p:spPr>
        <p:txBody>
          <a:bodyPr>
            <a:normAutofit/>
          </a:bodyPr>
          <a:lstStyle/>
          <a:p>
            <a:r>
              <a:rPr lang="en-GB" b="1" dirty="0"/>
              <a:t>Use Distribution Fitting Libraries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75D3BE-6099-A330-AEAF-32075AC4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D6543C-251B-6F0C-2835-6FEDEEC79F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5234" y="3306045"/>
            <a:ext cx="5809508" cy="2390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🔧  Objective:</a:t>
            </a:r>
          </a:p>
          <a:p>
            <a:pPr marL="0" indent="0">
              <a:buNone/>
            </a:pPr>
            <a:r>
              <a:rPr lang="en-GB" dirty="0"/>
              <a:t>Use automated tools to compare many distributions efficiently.</a:t>
            </a:r>
          </a:p>
          <a:p>
            <a:pPr marL="0" indent="0">
              <a:buNone/>
            </a:pPr>
            <a:r>
              <a:rPr lang="en-GB" b="1" dirty="0"/>
              <a:t>✅ Tools:</a:t>
            </a:r>
          </a:p>
          <a:p>
            <a:pPr marL="0" indent="0">
              <a:buNone/>
            </a:pPr>
            <a:r>
              <a:rPr lang="en-GB" dirty="0"/>
              <a:t>Fitter </a:t>
            </a:r>
            <a:r>
              <a:rPr lang="en-GB" dirty="0" err="1"/>
              <a:t>distfit</a:t>
            </a:r>
            <a:r>
              <a:rPr lang="en-GB" dirty="0"/>
              <a:t>, scikit-</a:t>
            </a:r>
            <a:r>
              <a:rPr lang="en-GB" dirty="0" err="1"/>
              <a:t>gof</a:t>
            </a:r>
            <a:r>
              <a:rPr lang="en-GB" dirty="0"/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196DF1-AD72-1B00-7C4E-EE2EA27EEBC2}"/>
              </a:ext>
            </a:extLst>
          </p:cNvPr>
          <p:cNvGrpSpPr/>
          <p:nvPr/>
        </p:nvGrpSpPr>
        <p:grpSpPr>
          <a:xfrm>
            <a:off x="982385" y="5314950"/>
            <a:ext cx="4775478" cy="1157288"/>
            <a:chOff x="7553992" y="4740902"/>
            <a:chExt cx="3954635" cy="14361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579EC3-DD87-85D3-9443-246F01A52454}"/>
                </a:ext>
              </a:extLst>
            </p:cNvPr>
            <p:cNvGrpSpPr/>
            <p:nvPr/>
          </p:nvGrpSpPr>
          <p:grpSpPr>
            <a:xfrm>
              <a:off x="7553992" y="4740902"/>
              <a:ext cx="3954635" cy="1436162"/>
              <a:chOff x="700645" y="2654161"/>
              <a:chExt cx="2949297" cy="3738400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FC985C13-8754-0FFF-3F15-57447271449C}"/>
                  </a:ext>
                </a:extLst>
              </p:cNvPr>
              <p:cNvSpPr/>
              <p:nvPr/>
            </p:nvSpPr>
            <p:spPr>
              <a:xfrm rot="21375581">
                <a:off x="700645" y="2676964"/>
                <a:ext cx="2888354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BF7FBF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0A91E3DE-5CA8-8805-7784-F3DEE63F8819}"/>
                  </a:ext>
                </a:extLst>
              </p:cNvPr>
              <p:cNvSpPr/>
              <p:nvPr/>
            </p:nvSpPr>
            <p:spPr>
              <a:xfrm>
                <a:off x="761588" y="2654161"/>
                <a:ext cx="2888354" cy="3715596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171F04-1EB7-8800-63B1-E10E9393D317}"/>
                </a:ext>
              </a:extLst>
            </p:cNvPr>
            <p:cNvSpPr txBox="1"/>
            <p:nvPr/>
          </p:nvSpPr>
          <p:spPr>
            <a:xfrm>
              <a:off x="10623806" y="5454602"/>
              <a:ext cx="848205" cy="572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bg1"/>
                  </a:solidFill>
                </a:rPr>
                <a:t>Lab File: </a:t>
              </a:r>
              <a:r>
                <a:rPr lang="en-GB" sz="1200" dirty="0">
                  <a:solidFill>
                    <a:schemeClr val="bg1"/>
                  </a:solidFill>
                  <a:hlinkClick r:id="rId2"/>
                </a:rPr>
                <a:t>lab1.ipynb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33439C4-74AD-0012-CD64-A329BAF727D0}"/>
              </a:ext>
            </a:extLst>
          </p:cNvPr>
          <p:cNvSpPr txBox="1"/>
          <p:nvPr/>
        </p:nvSpPr>
        <p:spPr>
          <a:xfrm>
            <a:off x="742950" y="914399"/>
            <a:ext cx="12287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6600" dirty="0"/>
              <a:t>🤖 </a:t>
            </a:r>
            <a:endParaRPr lang="en-001" sz="5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9D9E18-CA63-C56A-0072-45948FA70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51" y="1488435"/>
            <a:ext cx="4676799" cy="49473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B862B0-A7C9-3189-7ED7-64593F398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997" y="5400675"/>
            <a:ext cx="3701257" cy="95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100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F663-4550-A54F-1590-F7D4F8FA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4F43F6D-F41D-8FE8-5732-13C02F532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428232" cy="4992624"/>
          </a:xfrm>
        </p:spPr>
        <p:txBody>
          <a:bodyPr>
            <a:normAutofit/>
          </a:bodyPr>
          <a:lstStyle/>
          <a:p>
            <a:b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400" b="0" u="none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i="0" u="non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Predicting Values Using Distribution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755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C634-E211-E7C0-4143-F36D7585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6E8BB7-2ECC-F151-2B66-2A9CEB5C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Predicting Values Using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E691A-5EB7-7A8F-31C1-EE3B2131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A14939-31FE-57C9-4A2E-4D2E2A5128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46701"/>
            <a:ext cx="8737600" cy="37289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🔍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Insight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distribution has a well-defined inverse CDF (quantile function), it can be used to predict rare or extreme events.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basis of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Level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Period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in: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Climate extremes (floods, heatwaves)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Finance (losses)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Engineering (load capacity)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64273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BA28-4E06-7D10-9F65-5D7B685C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B81A29-494B-2D0B-059F-AF1729102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13164"/>
            <a:ext cx="10360152" cy="1179576"/>
          </a:xfrm>
        </p:spPr>
        <p:txBody>
          <a:bodyPr/>
          <a:lstStyle/>
          <a:p>
            <a:r>
              <a:rPr lang="en-GB" b="1" u="none" dirty="0">
                <a:solidFill>
                  <a:srgbClr val="FF0000"/>
                </a:solidFill>
              </a:rPr>
              <a:t>Two-Way Prediction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533FD-D8F7-0AA7-288F-3BDE8272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DD25578-182F-C562-56C0-49D4FC5D7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17AEF54-E1D7-1093-BEAE-5F04A0F05A30}"/>
              </a:ext>
            </a:extLst>
          </p:cNvPr>
          <p:cNvGrpSpPr/>
          <p:nvPr/>
        </p:nvGrpSpPr>
        <p:grpSpPr>
          <a:xfrm>
            <a:off x="1049533" y="1935818"/>
            <a:ext cx="3383465" cy="2111927"/>
            <a:chOff x="751005" y="2006696"/>
            <a:chExt cx="2840106" cy="1413633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1F9F7E6-F494-44D9-6A3A-12D3FE7614D9}"/>
                </a:ext>
              </a:extLst>
            </p:cNvPr>
            <p:cNvGrpSpPr/>
            <p:nvPr/>
          </p:nvGrpSpPr>
          <p:grpSpPr>
            <a:xfrm>
              <a:off x="751005" y="2006696"/>
              <a:ext cx="2809548" cy="1413633"/>
              <a:chOff x="700276" y="2652030"/>
              <a:chExt cx="3345293" cy="3717727"/>
            </a:xfrm>
          </p:grpSpPr>
          <p:sp>
            <p:nvSpPr>
              <p:cNvPr id="80" name="Rectangle: Rounded Corners 3">
                <a:extLst>
                  <a:ext uri="{FF2B5EF4-FFF2-40B4-BE49-F238E27FC236}">
                    <a16:creationId xmlns:a16="http://schemas.microsoft.com/office/drawing/2014/main" id="{FA70A080-C703-A428-5189-F16FFC6C4C57}"/>
                  </a:ext>
                </a:extLst>
              </p:cNvPr>
              <p:cNvSpPr/>
              <p:nvPr/>
            </p:nvSpPr>
            <p:spPr>
              <a:xfrm rot="21375581">
                <a:off x="700276" y="2652030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81" name="Rectangle: Rounded Corners 3">
                <a:extLst>
                  <a:ext uri="{FF2B5EF4-FFF2-40B4-BE49-F238E27FC236}">
                    <a16:creationId xmlns:a16="http://schemas.microsoft.com/office/drawing/2014/main" id="{712B1DAD-8289-CF83-D12B-0525CC9B35D3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5E2891C-2602-2ED7-1919-EEDE236CFA98}"/>
                </a:ext>
              </a:extLst>
            </p:cNvPr>
            <p:cNvSpPr txBox="1"/>
            <p:nvPr/>
          </p:nvSpPr>
          <p:spPr>
            <a:xfrm>
              <a:off x="771938" y="2052893"/>
              <a:ext cx="28191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1. Predict Return Level (Threshold Value)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61F9B2C-14C7-21FA-3C5A-7BFEA8E8149D}"/>
                </a:ext>
              </a:extLst>
            </p:cNvPr>
            <p:cNvSpPr txBox="1"/>
            <p:nvPr/>
          </p:nvSpPr>
          <p:spPr>
            <a:xfrm>
              <a:off x="942439" y="3099891"/>
              <a:ext cx="2478168" cy="2538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What is the value expected to be exceeded once every T years?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885928-2532-EAA6-7584-307363FAAAAE}"/>
                  </a:ext>
                </a:extLst>
              </p:cNvPr>
              <p:cNvSpPr txBox="1"/>
              <p:nvPr/>
            </p:nvSpPr>
            <p:spPr>
              <a:xfrm>
                <a:off x="1806647" y="2793030"/>
                <a:ext cx="189417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00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00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885928-2532-EAA6-7584-307363FAA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647" y="2793030"/>
                <a:ext cx="1894173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4B587DA-EA7E-0F71-E141-CCF5A0896526}"/>
              </a:ext>
            </a:extLst>
          </p:cNvPr>
          <p:cNvGrpSpPr/>
          <p:nvPr/>
        </p:nvGrpSpPr>
        <p:grpSpPr>
          <a:xfrm>
            <a:off x="1074471" y="4389613"/>
            <a:ext cx="3347061" cy="2113138"/>
            <a:chOff x="751005" y="2006696"/>
            <a:chExt cx="2809548" cy="141363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37990E-C88F-1CDB-3F22-FCE58268EF70}"/>
                </a:ext>
              </a:extLst>
            </p:cNvPr>
            <p:cNvGrpSpPr/>
            <p:nvPr/>
          </p:nvGrpSpPr>
          <p:grpSpPr>
            <a:xfrm>
              <a:off x="751005" y="2006696"/>
              <a:ext cx="2809548" cy="1413633"/>
              <a:chOff x="700276" y="2652030"/>
              <a:chExt cx="3345293" cy="3717727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1C902447-E512-0210-184E-2FD69229076C}"/>
                  </a:ext>
                </a:extLst>
              </p:cNvPr>
              <p:cNvSpPr/>
              <p:nvPr/>
            </p:nvSpPr>
            <p:spPr>
              <a:xfrm rot="21375581">
                <a:off x="700276" y="2652030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0" name="Rectangle: Rounded Corners 3">
                <a:extLst>
                  <a:ext uri="{FF2B5EF4-FFF2-40B4-BE49-F238E27FC236}">
                    <a16:creationId xmlns:a16="http://schemas.microsoft.com/office/drawing/2014/main" id="{F1FA00F1-2874-9D0F-1D43-E5EA39535574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2C60A7-E278-8450-91F9-E7A347DD17D9}"/>
                </a:ext>
              </a:extLst>
            </p:cNvPr>
            <p:cNvSpPr txBox="1"/>
            <p:nvPr/>
          </p:nvSpPr>
          <p:spPr>
            <a:xfrm>
              <a:off x="836455" y="2065967"/>
              <a:ext cx="2690138" cy="355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2. Predict Return Period (Rarity of a Value)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3D3683-DEA5-222F-EE8D-4979B3E7D091}"/>
                </a:ext>
              </a:extLst>
            </p:cNvPr>
            <p:cNvSpPr txBox="1"/>
            <p:nvPr/>
          </p:nvSpPr>
          <p:spPr>
            <a:xfrm>
              <a:off x="942439" y="3099929"/>
              <a:ext cx="2478168" cy="2538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How often will an event greater than x occur?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C82A55-9A36-D0B3-CF20-C2F49FCBE843}"/>
                  </a:ext>
                </a:extLst>
              </p:cNvPr>
              <p:cNvSpPr txBox="1"/>
              <p:nvPr/>
            </p:nvSpPr>
            <p:spPr>
              <a:xfrm>
                <a:off x="2094863" y="5248036"/>
                <a:ext cx="1367618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00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C82A55-9A36-D0B3-CF20-C2F49FCBE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863" y="5248036"/>
                <a:ext cx="1367618" cy="569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CC5B24F-4801-5DAD-6B9E-75284B6985D8}"/>
              </a:ext>
            </a:extLst>
          </p:cNvPr>
          <p:cNvGrpSpPr/>
          <p:nvPr/>
        </p:nvGrpSpPr>
        <p:grpSpPr>
          <a:xfrm>
            <a:off x="5549232" y="2086347"/>
            <a:ext cx="5923440" cy="4126991"/>
            <a:chOff x="791740" y="2001440"/>
            <a:chExt cx="2799371" cy="141888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A840FF-244C-8FD8-F172-931D52C8FFB2}"/>
                </a:ext>
              </a:extLst>
            </p:cNvPr>
            <p:cNvGrpSpPr/>
            <p:nvPr/>
          </p:nvGrpSpPr>
          <p:grpSpPr>
            <a:xfrm>
              <a:off x="791740" y="2001440"/>
              <a:ext cx="2768814" cy="1418888"/>
              <a:chOff x="748778" y="2638209"/>
              <a:chExt cx="3296791" cy="3731548"/>
            </a:xfrm>
          </p:grpSpPr>
          <p:sp>
            <p:nvSpPr>
              <p:cNvPr id="17" name="Rectangle: Rounded Corners 3">
                <a:extLst>
                  <a:ext uri="{FF2B5EF4-FFF2-40B4-BE49-F238E27FC236}">
                    <a16:creationId xmlns:a16="http://schemas.microsoft.com/office/drawing/2014/main" id="{C3A8F3B6-54D2-107A-1933-38A4F6311B82}"/>
                  </a:ext>
                </a:extLst>
              </p:cNvPr>
              <p:cNvSpPr/>
              <p:nvPr/>
            </p:nvSpPr>
            <p:spPr>
              <a:xfrm rot="21375581">
                <a:off x="748778" y="2638209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18" name="Rectangle: Rounded Corners 3">
                <a:extLst>
                  <a:ext uri="{FF2B5EF4-FFF2-40B4-BE49-F238E27FC236}">
                    <a16:creationId xmlns:a16="http://schemas.microsoft.com/office/drawing/2014/main" id="{821CA12F-27DD-CEE8-0B57-2A399799F180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28AA9B5-BE4A-5A01-A414-C71DBE3B93BB}"/>
                    </a:ext>
                  </a:extLst>
                </p:cNvPr>
                <p:cNvSpPr txBox="1"/>
                <p:nvPr/>
              </p:nvSpPr>
              <p:spPr>
                <a:xfrm>
                  <a:off x="857117" y="2052893"/>
                  <a:ext cx="2733994" cy="120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solidFill>
                        <a:schemeClr val="bg1"/>
                      </a:solidFill>
                    </a:rPr>
                    <a:t>Suppose the maximum daily temperature in a region follows a normal distribution with:</a:t>
                  </a:r>
                </a:p>
                <a:p>
                  <a:endParaRPr lang="en-GB" sz="1400" dirty="0">
                    <a:solidFill>
                      <a:schemeClr val="bg1"/>
                    </a:solidFill>
                  </a:endParaRPr>
                </a:p>
                <a:p>
                  <a:r>
                    <a:rPr lang="en-GB" sz="1400" dirty="0">
                      <a:solidFill>
                        <a:schemeClr val="bg1"/>
                      </a:solidFill>
                    </a:rPr>
                    <a:t>Mean </a:t>
                  </a:r>
                  <a14:m>
                    <m:oMath xmlns:m="http://schemas.openxmlformats.org/officeDocument/2006/math">
                      <m:r>
                        <a:rPr lang="en-GB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a14:m>
                  <a:endParaRPr lang="en-US" sz="1400" dirty="0">
                    <a:solidFill>
                      <a:schemeClr val="bg1"/>
                    </a:solidFill>
                  </a:endParaRPr>
                </a:p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Standard Deviation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a14:m>
                  <a:endParaRPr lang="en-US" sz="1400" dirty="0">
                    <a:solidFill>
                      <a:schemeClr val="bg1"/>
                    </a:solidFill>
                  </a:endParaRPr>
                </a:p>
                <a:p>
                  <a:endParaRPr lang="en-US" sz="1600" dirty="0">
                    <a:solidFill>
                      <a:schemeClr val="bg1"/>
                    </a:solidFill>
                  </a:endParaRPr>
                </a:p>
                <a:p>
                  <a:pPr marL="342900" indent="-342900">
                    <a:buAutoNum type="arabicPeriod"/>
                  </a:pPr>
                  <a:r>
                    <a:rPr lang="en-GB" sz="1400" dirty="0">
                      <a:solidFill>
                        <a:schemeClr val="bg1"/>
                      </a:solidFill>
                    </a:rPr>
                    <a:t>What is the 50-year return level? (i.e., the temperature expected to be exceeded once every 50 years)</a:t>
                  </a:r>
                </a:p>
                <a:p>
                  <a:r>
                    <a:rPr lang="en-GB" sz="1400" dirty="0">
                      <a:solidFill>
                        <a:schemeClr val="bg1"/>
                      </a:solidFill>
                    </a:rPr>
                    <a:t>          We use, </a:t>
                  </a:r>
                </a:p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                            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001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GB" sz="1400" dirty="0">
                      <a:solidFill>
                        <a:schemeClr val="bg1"/>
                      </a:solidFill>
                    </a:rPr>
                    <a:t> , 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GB" sz="1400" dirty="0">
                      <a:solidFill>
                        <a:schemeClr val="bg1"/>
                      </a:solidFill>
                    </a:rPr>
                    <a:t> is the z score</a:t>
                  </a:r>
                </a:p>
                <a:p>
                  <a:endParaRPr lang="en-GB" sz="1400" dirty="0">
                    <a:solidFill>
                      <a:schemeClr val="bg1"/>
                    </a:solidFill>
                  </a:endParaRPr>
                </a:p>
                <a:p>
                  <a:endParaRPr lang="en-GB" sz="1400" dirty="0">
                    <a:solidFill>
                      <a:schemeClr val="bg1"/>
                    </a:solidFill>
                  </a:endParaRPr>
                </a:p>
                <a:p>
                  <a:endParaRPr lang="en-GB" sz="1400" dirty="0">
                    <a:solidFill>
                      <a:schemeClr val="bg1"/>
                    </a:solidFill>
                  </a:endParaRPr>
                </a:p>
                <a:p>
                  <a:r>
                    <a:rPr lang="en-GB" sz="1400" dirty="0">
                      <a:solidFill>
                        <a:schemeClr val="bg1"/>
                      </a:solidFill>
                    </a:rPr>
                    <a:t>          and from z table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98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054</m:t>
                      </m:r>
                    </m:oMath>
                  </a14:m>
                  <a:r>
                    <a:rPr lang="en-GB" sz="1400" dirty="0">
                      <a:solidFill>
                        <a:schemeClr val="bg1"/>
                      </a:solidFill>
                    </a:rPr>
                    <a:t>, and finally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054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35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612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41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GB" sz="1400" dirty="0">
                    <a:solidFill>
                      <a:schemeClr val="bg1"/>
                    </a:solidFill>
                  </a:endParaRPr>
                </a:p>
                <a:p>
                  <a:endParaRPr lang="en-GB" sz="1400" dirty="0">
                    <a:solidFill>
                      <a:schemeClr val="bg1"/>
                    </a:solidFill>
                  </a:endParaRPr>
                </a:p>
                <a:p>
                  <a:r>
                    <a:rPr lang="en-GB" sz="1400" dirty="0">
                      <a:solidFill>
                        <a:schemeClr val="bg1"/>
                      </a:solidFill>
                    </a:rPr>
                    <a:t>          </a:t>
                  </a:r>
                </a:p>
                <a:p>
                  <a:pPr marL="342900" indent="-342900">
                    <a:buAutoNum type="arabicPeriod"/>
                  </a:pPr>
                  <a:endParaRPr lang="en-001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28AA9B5-BE4A-5A01-A414-C71DBE3B9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117" y="2052893"/>
                  <a:ext cx="2733994" cy="1207200"/>
                </a:xfrm>
                <a:prstGeom prst="rect">
                  <a:avLst/>
                </a:prstGeom>
                <a:blipFill>
                  <a:blip r:embed="rId4"/>
                  <a:stretch>
                    <a:fillRect l="-316" t="-347" b="-850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001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2E8034-134F-814F-54FB-7B77FCECF6DA}"/>
                  </a:ext>
                </a:extLst>
              </p:cNvPr>
              <p:cNvSpPr txBox="1"/>
              <p:nvPr/>
            </p:nvSpPr>
            <p:spPr>
              <a:xfrm>
                <a:off x="7121546" y="4540148"/>
                <a:ext cx="2603405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001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den>
                          </m:f>
                        </m:e>
                      </m:d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98</m:t>
                      </m:r>
                    </m:oMath>
                  </m:oMathPara>
                </a14:m>
                <a:endParaRPr lang="en-001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2E8034-134F-814F-54FB-7B77FCECF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546" y="4540148"/>
                <a:ext cx="2603405" cy="484043"/>
              </a:xfrm>
              <a:prstGeom prst="rect">
                <a:avLst/>
              </a:prstGeom>
              <a:blipFill>
                <a:blip r:embed="rId5"/>
                <a:stretch>
                  <a:fillRect l="-468" r="-1171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6863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9B264-BF88-82B7-F53F-8DB6BD30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2FC87-6E81-453E-4502-B9F51FB6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13164"/>
            <a:ext cx="10360152" cy="1179576"/>
          </a:xfrm>
        </p:spPr>
        <p:txBody>
          <a:bodyPr/>
          <a:lstStyle/>
          <a:p>
            <a:r>
              <a:rPr lang="en-GB" b="1" u="none" dirty="0">
                <a:solidFill>
                  <a:srgbClr val="FF0000"/>
                </a:solidFill>
              </a:rPr>
              <a:t>Extending previous example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561336-6325-0A0F-F877-BB9CC695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1A2CF42-2814-BCB1-3D9F-89D8D8FEB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35B5D98-23A9-95D7-CEBB-B61810ACC6DA}"/>
              </a:ext>
            </a:extLst>
          </p:cNvPr>
          <p:cNvGrpSpPr/>
          <p:nvPr/>
        </p:nvGrpSpPr>
        <p:grpSpPr>
          <a:xfrm>
            <a:off x="1180161" y="3101518"/>
            <a:ext cx="3383465" cy="2378946"/>
            <a:chOff x="751005" y="2006696"/>
            <a:chExt cx="2840106" cy="1413633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9F479F8-3433-1A65-D512-06829D482B2A}"/>
                </a:ext>
              </a:extLst>
            </p:cNvPr>
            <p:cNvGrpSpPr/>
            <p:nvPr/>
          </p:nvGrpSpPr>
          <p:grpSpPr>
            <a:xfrm>
              <a:off x="751005" y="2006696"/>
              <a:ext cx="2809548" cy="1413633"/>
              <a:chOff x="700276" y="2652030"/>
              <a:chExt cx="3345293" cy="3717727"/>
            </a:xfrm>
          </p:grpSpPr>
          <p:sp>
            <p:nvSpPr>
              <p:cNvPr id="80" name="Rectangle: Rounded Corners 3">
                <a:extLst>
                  <a:ext uri="{FF2B5EF4-FFF2-40B4-BE49-F238E27FC236}">
                    <a16:creationId xmlns:a16="http://schemas.microsoft.com/office/drawing/2014/main" id="{041B9874-4BB3-F26E-CAE3-52018D80F7AA}"/>
                  </a:ext>
                </a:extLst>
              </p:cNvPr>
              <p:cNvSpPr/>
              <p:nvPr/>
            </p:nvSpPr>
            <p:spPr>
              <a:xfrm rot="21375581">
                <a:off x="700276" y="2652030"/>
                <a:ext cx="3234472" cy="3715597"/>
              </a:xfrm>
              <a:prstGeom prst="roundRect">
                <a:avLst>
                  <a:gd name="adj" fmla="val 1030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  <p:sp>
            <p:nvSpPr>
              <p:cNvPr id="81" name="Rectangle: Rounded Corners 3">
                <a:extLst>
                  <a:ext uri="{FF2B5EF4-FFF2-40B4-BE49-F238E27FC236}">
                    <a16:creationId xmlns:a16="http://schemas.microsoft.com/office/drawing/2014/main" id="{F28AA526-F09E-CA03-FA5C-021303DE82A9}"/>
                  </a:ext>
                </a:extLst>
              </p:cNvPr>
              <p:cNvSpPr/>
              <p:nvPr/>
            </p:nvSpPr>
            <p:spPr>
              <a:xfrm>
                <a:off x="761588" y="2654160"/>
                <a:ext cx="3283981" cy="3715597"/>
              </a:xfrm>
              <a:prstGeom prst="roundRect">
                <a:avLst>
                  <a:gd name="adj" fmla="val 10302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524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ss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9B38FC6-BB21-C528-4292-6E2354BA960F}"/>
                </a:ext>
              </a:extLst>
            </p:cNvPr>
            <p:cNvSpPr txBox="1"/>
            <p:nvPr/>
          </p:nvSpPr>
          <p:spPr>
            <a:xfrm>
              <a:off x="771938" y="2052893"/>
              <a:ext cx="28191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1. Predict Return Level (Threshold Value)</a:t>
              </a:r>
              <a:endParaRPr lang="en-001" dirty="0">
                <a:solidFill>
                  <a:schemeClr val="bg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C44963D-4AB4-022D-0550-C29A483BAECA}"/>
                </a:ext>
              </a:extLst>
            </p:cNvPr>
            <p:cNvSpPr txBox="1"/>
            <p:nvPr/>
          </p:nvSpPr>
          <p:spPr>
            <a:xfrm>
              <a:off x="942439" y="2567399"/>
              <a:ext cx="2478168" cy="4021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In the previous slide we predicted one value of temperature for one year.</a:t>
              </a:r>
            </a:p>
            <a:p>
              <a:pPr algn="just"/>
              <a:endParaRPr lang="en-GB" sz="1200" b="1" dirty="0">
                <a:solidFill>
                  <a:schemeClr val="bg1"/>
                </a:solidFill>
              </a:endParaRPr>
            </a:p>
            <a:p>
              <a:pPr algn="just"/>
              <a:r>
                <a:rPr lang="en-GB" sz="1200" b="1" dirty="0">
                  <a:solidFill>
                    <a:schemeClr val="bg1"/>
                  </a:solidFill>
                </a:rPr>
                <a:t>In the corresponding image, that idea has been extended for entire region and for multiple years.</a:t>
              </a:r>
              <a:endParaRPr lang="en-001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12A412-6210-94A1-98FE-B0879A5AC682}"/>
              </a:ext>
            </a:extLst>
          </p:cNvPr>
          <p:cNvGrpSpPr/>
          <p:nvPr/>
        </p:nvGrpSpPr>
        <p:grpSpPr>
          <a:xfrm>
            <a:off x="5549232" y="2086347"/>
            <a:ext cx="5858782" cy="4126991"/>
            <a:chOff x="748778" y="2638209"/>
            <a:chExt cx="3296791" cy="3731548"/>
          </a:xfrm>
        </p:grpSpPr>
        <p:sp>
          <p:nvSpPr>
            <p:cNvPr id="17" name="Rectangle: Rounded Corners 3">
              <a:extLst>
                <a:ext uri="{FF2B5EF4-FFF2-40B4-BE49-F238E27FC236}">
                  <a16:creationId xmlns:a16="http://schemas.microsoft.com/office/drawing/2014/main" id="{E9F0C522-AFCE-7180-2260-4A4BC32293AA}"/>
                </a:ext>
              </a:extLst>
            </p:cNvPr>
            <p:cNvSpPr/>
            <p:nvPr/>
          </p:nvSpPr>
          <p:spPr>
            <a:xfrm rot="21375581">
              <a:off x="748778" y="2638209"/>
              <a:ext cx="3234472" cy="3715597"/>
            </a:xfrm>
            <a:prstGeom prst="roundRect">
              <a:avLst>
                <a:gd name="adj" fmla="val 1030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  <p:sp>
          <p:nvSpPr>
            <p:cNvPr id="18" name="Rectangle: Rounded Corners 3">
              <a:extLst>
                <a:ext uri="{FF2B5EF4-FFF2-40B4-BE49-F238E27FC236}">
                  <a16:creationId xmlns:a16="http://schemas.microsoft.com/office/drawing/2014/main" id="{F96B2D32-A3A8-52AA-D718-E831F00D5764}"/>
                </a:ext>
              </a:extLst>
            </p:cNvPr>
            <p:cNvSpPr/>
            <p:nvPr/>
          </p:nvSpPr>
          <p:spPr>
            <a:xfrm>
              <a:off x="761588" y="2654160"/>
              <a:ext cx="3283981" cy="3715597"/>
            </a:xfrm>
            <a:prstGeom prst="roundRect">
              <a:avLst>
                <a:gd name="adj" fmla="val 10302"/>
              </a:avLst>
            </a:prstGeom>
            <a:solidFill>
              <a:schemeClr val="tx1"/>
            </a:solidFill>
            <a:ln>
              <a:noFill/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ss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D06B7356-A0B2-9186-DE43-0962DD309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742" y="2294762"/>
            <a:ext cx="5501226" cy="382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811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64B4-4AAA-5E06-7B31-B2A592EE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B962F3-051D-B80C-1F3A-77510FEF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609600"/>
            <a:ext cx="10360152" cy="1179576"/>
          </a:xfrm>
        </p:spPr>
        <p:txBody>
          <a:bodyPr/>
          <a:lstStyle/>
          <a:p>
            <a:r>
              <a:rPr lang="en-GB" dirty="0"/>
              <a:t>Any Distribution Works – If Invertible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84E6E2-61A1-34F0-B2D5-45BC58BA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78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F234DF-CCBB-D09F-9196-51D08B03E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40203"/>
              </p:ext>
            </p:extLst>
          </p:nvPr>
        </p:nvGraphicFramePr>
        <p:xfrm>
          <a:off x="725424" y="2515094"/>
          <a:ext cx="6571488" cy="3168067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90496">
                  <a:extLst>
                    <a:ext uri="{9D8B030D-6E8A-4147-A177-3AD203B41FA5}">
                      <a16:colId xmlns:a16="http://schemas.microsoft.com/office/drawing/2014/main" val="715440113"/>
                    </a:ext>
                  </a:extLst>
                </a:gridCol>
                <a:gridCol w="2190496">
                  <a:extLst>
                    <a:ext uri="{9D8B030D-6E8A-4147-A177-3AD203B41FA5}">
                      <a16:colId xmlns:a16="http://schemas.microsoft.com/office/drawing/2014/main" val="2371707094"/>
                    </a:ext>
                  </a:extLst>
                </a:gridCol>
                <a:gridCol w="2190496">
                  <a:extLst>
                    <a:ext uri="{9D8B030D-6E8A-4147-A177-3AD203B41FA5}">
                      <a16:colId xmlns:a16="http://schemas.microsoft.com/office/drawing/2014/main" val="1762004644"/>
                    </a:ext>
                  </a:extLst>
                </a:gridCol>
              </a:tblGrid>
              <a:tr h="324501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Distribution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Use Case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449501"/>
                  </a:ext>
                </a:extLst>
              </a:tr>
              <a:tr h="56787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Normal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General natural processes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norm.ppf, norm.cdf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915794"/>
                  </a:ext>
                </a:extLst>
              </a:tr>
              <a:tr h="56787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Exponential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Time between events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expon.ppf, expon.cdf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712166"/>
                  </a:ext>
                </a:extLst>
              </a:tr>
              <a:tr h="56787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Gumbel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Extremes (e.g. max rainfall)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gumbel_r.ppf, gumbel_r.cdf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79301"/>
                  </a:ext>
                </a:extLst>
              </a:tr>
              <a:tr h="56787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GEV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Generalized extremes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genextreme.ppf, genextreme.cdf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901301"/>
                  </a:ext>
                </a:extLst>
              </a:tr>
              <a:tr h="56787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Lognormal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Skewed data</a:t>
                      </a: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lognorm.ppf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lognorm.cdf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81125" marR="81125" marT="40563" marB="4056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3908"/>
                  </a:ext>
                </a:extLst>
              </a:tr>
            </a:tbl>
          </a:graphicData>
        </a:graphic>
      </p:graphicFrame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089A892-5CF5-1859-A7A2-428B3B7711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847" y="2031534"/>
            <a:ext cx="8644361" cy="45216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📈 This method works with: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✅ You’re not restricted to just GEV — </a:t>
            </a:r>
            <a:r>
              <a:rPr lang="en-GB" b="1" dirty="0"/>
              <a:t>any distribution with inverse CDF</a:t>
            </a:r>
            <a:r>
              <a:rPr lang="en-GB" dirty="0"/>
              <a:t> can be used for prediction!</a:t>
            </a:r>
          </a:p>
        </p:txBody>
      </p:sp>
    </p:spTree>
    <p:extLst>
      <p:ext uri="{BB962C8B-B14F-4D97-AF65-F5344CB8AC3E}">
        <p14:creationId xmlns:p14="http://schemas.microsoft.com/office/powerpoint/2010/main" val="11775811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461EA-63CE-F939-80A9-23765877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18A4-BC11-4A7E-9B43-4F2292373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114" y="2482566"/>
            <a:ext cx="5002991" cy="2300561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u="none" dirty="0"/>
              <a:t>Summarizing</a:t>
            </a:r>
            <a:br>
              <a:rPr lang="en-US" sz="2400" dirty="0"/>
            </a:br>
            <a:br>
              <a:rPr lang="en-US" sz="4800" dirty="0"/>
            </a:br>
            <a:r>
              <a:rPr lang="en-US" sz="4800" dirty="0"/>
              <a:t>Introduction </a:t>
            </a:r>
            <a:br>
              <a:rPr lang="en-US" sz="4800" dirty="0"/>
            </a:br>
            <a:r>
              <a:rPr lang="en-US" sz="4800" dirty="0"/>
              <a:t>to </a:t>
            </a:r>
            <a:br>
              <a:rPr lang="en-US" sz="4800" dirty="0"/>
            </a:br>
            <a:r>
              <a:rPr lang="en-US" sz="4800" dirty="0"/>
              <a:t>probability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713E8-0821-ACEE-9BFA-7FAB4131C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8897" y="2482566"/>
            <a:ext cx="5881343" cy="412143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Probability helps quantify uncertainty and reveal patterns in data by </a:t>
            </a:r>
            <a:r>
              <a:rPr lang="en-GB" dirty="0" err="1"/>
              <a:t>modeling</a:t>
            </a:r>
            <a:r>
              <a:rPr lang="en-GB" dirty="0"/>
              <a:t> how likely outcomes are.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Every variable — height, rainfall, income — has a shape. That shape is a distribution. Understanding this shape reveals patterns we otherwise miss.</a:t>
            </a:r>
          </a:p>
        </p:txBody>
      </p:sp>
    </p:spTree>
    <p:extLst>
      <p:ext uri="{BB962C8B-B14F-4D97-AF65-F5344CB8AC3E}">
        <p14:creationId xmlns:p14="http://schemas.microsoft.com/office/powerpoint/2010/main" val="13778524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42CE-B1FF-F5F8-B080-90809092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F0BF0-B107-5FCC-4DFD-8E4AD8FDA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/>
          <a:lstStyle/>
          <a:p>
            <a:r>
              <a:rPr lang="en-US" dirty="0"/>
              <a:t>Dr. Sarita Azad</a:t>
            </a:r>
          </a:p>
          <a:p>
            <a:endParaRPr lang="en-US" dirty="0"/>
          </a:p>
          <a:p>
            <a:r>
              <a:rPr lang="en-US" dirty="0"/>
              <a:t>sarita@iitmandi.ac.in</a:t>
            </a:r>
          </a:p>
          <a:p>
            <a:r>
              <a:rPr lang="en-IN" spc="-1" dirty="0">
                <a:latin typeface="Calibri"/>
              </a:rPr>
              <a:t>faculty.iitmandi.ac.in/~</a:t>
            </a:r>
            <a:r>
              <a:rPr lang="en-IN" spc="-1" dirty="0" err="1">
                <a:latin typeface="Calibri"/>
              </a:rPr>
              <a:t>sarita</a:t>
            </a:r>
            <a:r>
              <a:rPr lang="en-IN" spc="-1" dirty="0">
                <a:latin typeface="Calibri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3676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TM77929380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7929380_win32_SD_v4" id="{FF6791CE-8A46-4E30-BBEB-5F2323043503}" vid="{107E73D9-B12F-464E-997E-142EF79586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F23494-F630-4E01-81EA-AA2F2975971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27D135F-652A-4667-A553-71B83EC65B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6CE1C2-24FF-4125-B61C-AD39973FCD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7226</TotalTime>
  <Words>6194</Words>
  <Application>Microsoft Office PowerPoint</Application>
  <PresentationFormat>Widescreen</PresentationFormat>
  <Paragraphs>970</Paragraphs>
  <Slides>80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80</vt:i4>
      </vt:variant>
    </vt:vector>
  </HeadingPairs>
  <TitlesOfParts>
    <vt:vector size="92" baseType="lpstr">
      <vt:lpstr>Arial</vt:lpstr>
      <vt:lpstr>Calibri</vt:lpstr>
      <vt:lpstr>Cambria Math</vt:lpstr>
      <vt:lpstr>Corbel</vt:lpstr>
      <vt:lpstr>Segoe UI</vt:lpstr>
      <vt:lpstr>Times New Roman</vt:lpstr>
      <vt:lpstr>Verdana</vt:lpstr>
      <vt:lpstr>Wingdings</vt:lpstr>
      <vt:lpstr>Depth</vt:lpstr>
      <vt:lpstr>SPW 8.0 Graph</vt:lpstr>
      <vt:lpstr>Bitmap Image</vt:lpstr>
      <vt:lpstr>Equation</vt:lpstr>
      <vt:lpstr>Masterclass   Statistical Data Analytics &amp; Deep Learning </vt:lpstr>
      <vt:lpstr>Introduction to  Data Analytics</vt:lpstr>
      <vt:lpstr>outline</vt:lpstr>
      <vt:lpstr>What is Data Analytics?</vt:lpstr>
      <vt:lpstr>Why is data Analytics Important?</vt:lpstr>
      <vt:lpstr>MoneyBall (Netflix-2011)</vt:lpstr>
      <vt:lpstr>Case study: moneyball – winning with data</vt:lpstr>
      <vt:lpstr>But How?</vt:lpstr>
      <vt:lpstr>OBP Strongly Predicts Team Wins</vt:lpstr>
      <vt:lpstr>Key takeaways</vt:lpstr>
      <vt:lpstr>Types of data</vt:lpstr>
      <vt:lpstr>Categories of Data Analytics</vt:lpstr>
      <vt:lpstr>Descriptive Analytics – What happened?</vt:lpstr>
      <vt:lpstr>Diagnostic Analytics – Why did it happen?</vt:lpstr>
      <vt:lpstr>Predictive Analytics – What is likely to happen?</vt:lpstr>
      <vt:lpstr>Prescriptive Analytics – What should we do?</vt:lpstr>
      <vt:lpstr>PowerPoint Presentation</vt:lpstr>
      <vt:lpstr>1. Collection</vt:lpstr>
      <vt:lpstr>2. Preprocessing</vt:lpstr>
      <vt:lpstr>                 Preprocessing 2.1 Data Cleaning</vt:lpstr>
      <vt:lpstr>               Preprocessing 2.2 Data Integration</vt:lpstr>
      <vt:lpstr>               Preprocessing 2.3 Data Transformation</vt:lpstr>
      <vt:lpstr>               Preprocessing 2.4 Data Cleaning/reduction</vt:lpstr>
      <vt:lpstr>3. Exploratory Data Analysis</vt:lpstr>
      <vt:lpstr> Exploratory data analysis 3.1 Common eda techniques</vt:lpstr>
      <vt:lpstr>4. Model building</vt:lpstr>
      <vt:lpstr>5. Model evaluation</vt:lpstr>
      <vt:lpstr>6. Interpretation &amp; Deployment</vt:lpstr>
      <vt:lpstr>Tools &amp; Applications of Data Analytics</vt:lpstr>
      <vt:lpstr>Summarizing  Introduction  to  data analytics</vt:lpstr>
      <vt:lpstr>Before We Dive Into Statistics…</vt:lpstr>
      <vt:lpstr>Descriptive  vs.  Inferential Statistics</vt:lpstr>
      <vt:lpstr>A Taxonomy of Statistics</vt:lpstr>
      <vt:lpstr>Descriptive Statistics</vt:lpstr>
      <vt:lpstr>Descriptive Statistics</vt:lpstr>
      <vt:lpstr>Statistical Description of Data</vt:lpstr>
      <vt:lpstr>Shape: The “shape” of the data is called its “distribution”?</vt:lpstr>
      <vt:lpstr>PowerPoint Presentation</vt:lpstr>
      <vt:lpstr>PowerPoint Presentation</vt:lpstr>
      <vt:lpstr>PowerPoint Presentation</vt:lpstr>
      <vt:lpstr>Use of quartiles in research </vt:lpstr>
      <vt:lpstr>Problem solving and reasoning</vt:lpstr>
      <vt:lpstr>Deciles and Percentiles</vt:lpstr>
      <vt:lpstr>Application of percentile to climate data </vt:lpstr>
      <vt:lpstr>A data analysis of COVID-19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Inferential Statistics</vt:lpstr>
      <vt:lpstr>Introduction to probability</vt:lpstr>
      <vt:lpstr>But Before that!!!! Why Probability?</vt:lpstr>
      <vt:lpstr>Probability Fundamentals</vt:lpstr>
      <vt:lpstr>Discrete vs Continuous Random Variables</vt:lpstr>
      <vt:lpstr>Now let’s come back  to - distributions</vt:lpstr>
      <vt:lpstr>Types of distributions</vt:lpstr>
      <vt:lpstr>Why Are Distributions So Important?</vt:lpstr>
      <vt:lpstr>Why Knowing the Data Distribution Matters</vt:lpstr>
      <vt:lpstr>Bernoulli Distribution</vt:lpstr>
      <vt:lpstr>Binomial Distribution</vt:lpstr>
      <vt:lpstr>Poisson Distribution</vt:lpstr>
      <vt:lpstr>Normal Distribution</vt:lpstr>
      <vt:lpstr>Exponential Distribution</vt:lpstr>
      <vt:lpstr>Uniform Distribution</vt:lpstr>
      <vt:lpstr>   How to Find the Best-Fitting Distribution </vt:lpstr>
      <vt:lpstr>🧪 Step-by-Step: How to Find the Best-Fitting Distribution</vt:lpstr>
      <vt:lpstr>Visual Inspection (First Look)</vt:lpstr>
      <vt:lpstr>Fit Common Distributions</vt:lpstr>
      <vt:lpstr>Goodness-of-Fit Tests</vt:lpstr>
      <vt:lpstr>Q-Q Plot (Quantile-Quantile Plot)</vt:lpstr>
      <vt:lpstr>Use Distribution Fitting Libraries</vt:lpstr>
      <vt:lpstr>   Predicting Values Using Distribution </vt:lpstr>
      <vt:lpstr>Predicting Values Using Distribution</vt:lpstr>
      <vt:lpstr>Two-Way Prediction</vt:lpstr>
      <vt:lpstr>Extending previous example</vt:lpstr>
      <vt:lpstr>Any Distribution Works – If Invertible</vt:lpstr>
      <vt:lpstr>Summarizing  Introduction  to  probability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cp:lastModifiedBy>Rahul Vaish</cp:lastModifiedBy>
  <cp:revision>104</cp:revision>
  <dcterms:created xsi:type="dcterms:W3CDTF">2023-08-29T05:41:31Z</dcterms:created>
  <dcterms:modified xsi:type="dcterms:W3CDTF">2025-06-22T15:46:03Z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Depth:8</vt:lpwstr>
  </property>
  <property fmtid="{D5CDD505-2E9C-101B-9397-08002B2CF9AE}" pid="5" name="ClassificationContentMarkingFooterText">
    <vt:lpwstr>Classified as Microsoft Confidential</vt:lpwstr>
  </property>
</Properties>
</file>