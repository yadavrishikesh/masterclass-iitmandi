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8" r:id="rId2"/>
    <p:sldId id="269" r:id="rId3"/>
    <p:sldId id="270" r:id="rId4"/>
    <p:sldId id="271" r:id="rId5"/>
    <p:sldId id="27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88"/>
  </p:normalViewPr>
  <p:slideViewPr>
    <p:cSldViewPr snapToGrid="0">
      <p:cViewPr varScale="1">
        <p:scale>
          <a:sx n="111" d="100"/>
          <a:sy n="111" d="100"/>
        </p:scale>
        <p:origin x="7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8E6815-0352-8E4C-AFC6-BE2361E8B278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CC4B4-3ED9-D944-AE00-FBCDB4EA7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83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rPr lang="en-US"/>
              <a:t>Equator Crossing: NOAA-20, NOAA-21, SNPP, Aqua  1:30 am/pm, Terra: 10:30 am/pm        Spatial Resolution: 375 m for VIIRS &amp; 1 KM for MODIS</a:t>
            </a:r>
            <a:endParaRPr/>
          </a:p>
        </p:txBody>
      </p:sp>
      <p:sp>
        <p:nvSpPr>
          <p:cNvPr id="193" name="Google Shape;193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rPr lang="en-US"/>
              <a:t>Show MODIS and VIIRS true-color images for swaths.</a:t>
            </a:r>
            <a:endParaRPr/>
          </a:p>
        </p:txBody>
      </p:sp>
      <p:sp>
        <p:nvSpPr>
          <p:cNvPr id="204" name="Google Shape;204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85D1-9C5A-9A3B-B2FE-8B338ACAD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07B59D-F48E-FC8D-D34B-DB5BCB35B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A1B25-F671-9D4A-2521-8E80E2B73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614C2-AED7-6E4B-B410-89808D9EB9C9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FCDDB-C3AE-F064-1241-ACDC87225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996F-E972-492E-866D-BFE895AA3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8F4D-1C19-1949-9D7B-251EA534D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64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08E70-FCFF-E34B-FD96-58A4C4CD4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DB52F-BC4B-4125-36C8-6B66931D5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57FA1-40D8-3D61-F465-50D6BB8E4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614C2-AED7-6E4B-B410-89808D9EB9C9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6EB72-DF48-2EB1-FC5F-682BF750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E766B-2B16-866F-5995-8A55377DF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8F4D-1C19-1949-9D7B-251EA534D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46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70E0-AEC0-68D4-F999-D7AA9D93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F8E87-F171-A39E-C35F-239FF1803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34D41-B53E-51DE-905E-BC7C290CA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614C2-AED7-6E4B-B410-89808D9EB9C9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CD2AB-346E-D21E-7D07-4F873724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84FF8-5E18-6D6C-93AE-9194DCADE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8F4D-1C19-1949-9D7B-251EA534D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883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B9F37-8B67-A6A1-C0E4-B8BACD672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A0542-0BD0-449A-617C-19BBBC4EF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FD8A9-F53C-4AD0-9E64-2221FBAD5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F9D1E-2D2A-3920-6806-98EEC5DE5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614C2-AED7-6E4B-B410-89808D9EB9C9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98EE4-DE8E-CFB3-5417-53C7D7E38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8D23E-8223-5B9B-631C-62C44DDC2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8F4D-1C19-1949-9D7B-251EA534D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71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B5BBF-6858-7ED4-20F6-8CB68A2F8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B7300-E5F1-2237-C636-71168665C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1FF13-B039-D12F-B38F-10A4DE452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92FB0-EDF4-34FB-766A-0AAF44AAB9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BBDE35-91B3-1500-895E-A946DB686A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9FD7DD-75DA-CDF6-DAD6-A6E84FAB0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614C2-AED7-6E4B-B410-89808D9EB9C9}" type="datetimeFigureOut">
              <a:rPr lang="en-US" smtClean="0"/>
              <a:t>6/26/25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8BC610-49FB-02AC-352D-9E54C5FFF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FCDD86-33F9-A869-8645-D2EC03C2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8F4D-1C19-1949-9D7B-251EA534D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ADEA6-CB35-B4BB-026D-85D1390D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CB48ED-413C-9643-F521-A1E93670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614C2-AED7-6E4B-B410-89808D9EB9C9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50489-854C-6E3A-EEE8-AE2A77975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4F9561-1F96-0202-98C8-9AE6A021F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8F4D-1C19-1949-9D7B-251EA534D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9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250F83-9FDE-41CF-F54C-714683458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614C2-AED7-6E4B-B410-89808D9EB9C9}" type="datetimeFigureOut">
              <a:rPr lang="en-US" smtClean="0"/>
              <a:t>6/26/25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9ECA22-E4CF-2224-B207-137DABFAA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23B68-120C-C900-C15C-A00690737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8F4D-1C19-1949-9D7B-251EA534D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76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F8211-6DCA-0F0A-0E83-59F390743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53F79-136F-535E-8271-16BEA5A38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57CC2-36A3-0A61-91FA-62289EE31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51395-C8E1-E9BA-F3E2-DCE139119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614C2-AED7-6E4B-B410-89808D9EB9C9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5629F-A372-06FB-276A-5B2FA5816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2CAFA-E70D-FB3B-9266-B622B7F0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8F4D-1C19-1949-9D7B-251EA534D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39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DFCC9-5AEA-EB16-03F3-ED5318B2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1ECABB-B05F-E647-7D3A-DE811C6ADD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1B433-D3EC-99D1-93F2-732670667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C5C8B-6C73-440E-E091-E0D809F9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614C2-AED7-6E4B-B410-89808D9EB9C9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12BB1-9837-75D3-AC67-A8FC6A590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B65EC-000C-B187-DD13-D7F5661A2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8F4D-1C19-1949-9D7B-251EA534D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0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BDDB0-E24B-4F1E-5C82-27E9EA3A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D3407-4779-266A-2EB2-20F5FD427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925B6-B989-7B3E-D966-3FECADD76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614C2-AED7-6E4B-B410-89808D9EB9C9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05D80-FD5C-A9C9-F18E-5B4DCD3DE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8C352-AA03-EB88-DE8D-F251B84C8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8F4D-1C19-1949-9D7B-251EA534D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995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E77CF-05D4-2B27-90A1-349CB4BF73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510D8-FE05-8929-2EC8-B5503EBFB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F8F02-E0A1-808E-1F01-C9E5769FD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614C2-AED7-6E4B-B410-89808D9EB9C9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974A0-6922-4B76-95A3-E57C58CE5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38397-0A9F-D505-B6DA-4B6EDB695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8F4D-1C19-1949-9D7B-251EA534D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28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+Content">
  <p:cSld name="Title+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6" descr="Square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58725" y="-1"/>
            <a:ext cx="1033273" cy="10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6" descr="Squar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937" y="5824725"/>
            <a:ext cx="1033273" cy="1033273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6"/>
          <p:cNvSpPr txBox="1"/>
          <p:nvPr/>
        </p:nvSpPr>
        <p:spPr>
          <a:xfrm>
            <a:off x="10782300" y="6494463"/>
            <a:ext cx="69056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3585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000" b="0" i="0" u="none" strike="noStrike" cap="none">
              <a:solidFill>
                <a:srgbClr val="53585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242315" y="276993"/>
            <a:ext cx="11706798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rgbClr val="2A544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1"/>
          </p:nvPr>
        </p:nvSpPr>
        <p:spPr>
          <a:xfrm>
            <a:off x="242315" y="1130284"/>
            <a:ext cx="11707369" cy="5056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875" bIns="609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3585D"/>
              </a:buClr>
              <a:buSzPts val="1800"/>
              <a:buChar char="•"/>
              <a:defRPr sz="1800">
                <a:solidFill>
                  <a:srgbClr val="53585D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3585D"/>
              </a:buClr>
              <a:buSzPts val="1800"/>
              <a:buChar char="–"/>
              <a:defRPr sz="1800">
                <a:solidFill>
                  <a:srgbClr val="53585D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3585D"/>
              </a:buClr>
              <a:buSzPts val="1800"/>
              <a:buChar char="•"/>
              <a:defRPr sz="1800">
                <a:solidFill>
                  <a:srgbClr val="53585D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marL="2286000" lvl="4" indent="-3683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9" name="Google Shape;2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52225" y="6273800"/>
            <a:ext cx="496888" cy="49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/>
          <p:nvPr/>
        </p:nvSpPr>
        <p:spPr>
          <a:xfrm>
            <a:off x="1039210" y="6494463"/>
            <a:ext cx="5457124" cy="2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5" tIns="60950" rIns="121925" bIns="609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3585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NASA ARSET – Overview of Earth Observations for Societal Benefit</a:t>
            </a:r>
            <a:endParaRPr sz="1000" b="0" i="0" u="none" strike="noStrike" cap="none">
              <a:solidFill>
                <a:srgbClr val="53585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02146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ACE8B0-D7C8-818B-13B2-17FEDAF9E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32592-C48A-5B0A-5339-C4BDEB023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13070-EB9E-229C-63E3-CA9375674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C614C2-AED7-6E4B-B410-89808D9EB9C9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876C0-B07F-7C87-C072-D6BAE0F1C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6DBF9-F9AA-E2ED-6C90-4532A7001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B8F4D-1C19-1949-9D7B-251EA534D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468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hyperlink" Target="https://worldview.earthdata.nasa.gov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242315" y="276993"/>
            <a:ext cx="11706798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dirty="0">
                <a:latin typeface="Century Gothic"/>
                <a:ea typeface="Century Gothic"/>
                <a:cs typeface="Century Gothic"/>
                <a:sym typeface="Century Gothic"/>
              </a:rPr>
              <a:t>Exercise: Monitor Fires in Uttarakhand</a:t>
            </a:r>
            <a:endParaRPr b="0" dirty="0"/>
          </a:p>
        </p:txBody>
      </p:sp>
      <p:pic>
        <p:nvPicPr>
          <p:cNvPr id="196" name="Google Shape;196;p27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7341" y="920191"/>
            <a:ext cx="3465577" cy="199343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7"/>
          <p:cNvSpPr txBox="1"/>
          <p:nvPr/>
        </p:nvSpPr>
        <p:spPr>
          <a:xfrm>
            <a:off x="359762" y="1409075"/>
            <a:ext cx="6745575" cy="520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 Go To  </a:t>
            </a:r>
            <a:r>
              <a:rPr lang="en-US" sz="2000" b="0" i="0" u="sng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NASA Worldview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click on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 Layer.</a:t>
            </a:r>
            <a:endParaRPr dirty="0"/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 Type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Fires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 the Search Window.</a:t>
            </a:r>
            <a:endParaRPr dirty="0"/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  Select the following from the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data product list:</a:t>
            </a:r>
            <a:endParaRPr dirty="0"/>
          </a:p>
          <a:p>
            <a:pPr marL="635000" marR="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Fires and Thermal Anomalies </a:t>
            </a:r>
            <a:endParaRPr dirty="0"/>
          </a:p>
          <a:p>
            <a:pPr marL="635000" marR="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(Day and Night 375 m)</a:t>
            </a:r>
            <a:endParaRPr dirty="0"/>
          </a:p>
          <a:p>
            <a:pPr marL="635000" marR="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NOAA-21 VIIRS</a:t>
            </a:r>
            <a:endParaRPr dirty="0"/>
          </a:p>
          <a:p>
            <a:pPr marL="635000" marR="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</a:t>
            </a:r>
            <a:endParaRPr dirty="0"/>
          </a:p>
          <a:p>
            <a:pPr marL="635000" marR="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Fires and Thermal Anomalies </a:t>
            </a:r>
            <a:endParaRPr dirty="0"/>
          </a:p>
          <a:p>
            <a:pPr marL="635000" marR="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(Day and Night 375 m)</a:t>
            </a:r>
            <a:endParaRPr dirty="0"/>
          </a:p>
          <a:p>
            <a:pPr marL="635000" marR="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NOAA-20  VIIRS</a:t>
            </a:r>
            <a:endParaRPr dirty="0"/>
          </a:p>
          <a:p>
            <a:pPr marL="635000" marR="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635000" marR="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Fires and Thermal Anomalies </a:t>
            </a:r>
            <a:endParaRPr dirty="0"/>
          </a:p>
          <a:p>
            <a:pPr marL="635000" marR="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(Day and Night 375 m)</a:t>
            </a:r>
            <a:endParaRPr dirty="0"/>
          </a:p>
          <a:p>
            <a:pPr marL="635000" marR="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Suomi NPP VIIRS</a:t>
            </a:r>
            <a:endParaRPr dirty="0"/>
          </a:p>
          <a:p>
            <a:pPr marL="635000" marR="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635000" marR="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Fires and Thermal Anomalies </a:t>
            </a:r>
            <a:endParaRPr dirty="0"/>
          </a:p>
          <a:p>
            <a:pPr marL="635000" marR="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(Day and Night)</a:t>
            </a:r>
            <a:endParaRPr dirty="0"/>
          </a:p>
          <a:p>
            <a:pPr marL="635000" marR="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Terra and Aqua/MODIS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dirty="0"/>
          </a:p>
        </p:txBody>
      </p:sp>
      <p:cxnSp>
        <p:nvCxnSpPr>
          <p:cNvPr id="198" name="Google Shape;198;p27"/>
          <p:cNvCxnSpPr/>
          <p:nvPr/>
        </p:nvCxnSpPr>
        <p:spPr>
          <a:xfrm>
            <a:off x="6095714" y="1768839"/>
            <a:ext cx="1105500" cy="6297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rgbClr val="1D564D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99" name="Google Shape;199;p27" descr="A screenshot of a computer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27341" y="3073653"/>
            <a:ext cx="3095020" cy="285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27"/>
          <p:cNvCxnSpPr/>
          <p:nvPr/>
        </p:nvCxnSpPr>
        <p:spPr>
          <a:xfrm>
            <a:off x="4815051" y="2237229"/>
            <a:ext cx="2386200" cy="8364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rgbClr val="1D564D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242315" y="276993"/>
            <a:ext cx="11706798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lvl="0"/>
            <a:r>
              <a:rPr lang="en-US" sz="2400" dirty="0">
                <a:latin typeface="Century Gothic"/>
                <a:ea typeface="Century Gothic"/>
                <a:cs typeface="Century Gothic"/>
                <a:sym typeface="Century Gothic"/>
              </a:rPr>
              <a:t>Exercise: Monitor </a:t>
            </a:r>
            <a:r>
              <a:rPr lang="en-US" dirty="0">
                <a:latin typeface="Century Gothic"/>
                <a:ea typeface="Century Gothic"/>
                <a:cs typeface="Century Gothic"/>
                <a:sym typeface="Century Gothic"/>
              </a:rPr>
              <a:t>Fires in Panjab/Haryana</a:t>
            </a:r>
            <a:endParaRPr b="0" dirty="0"/>
          </a:p>
        </p:txBody>
      </p:sp>
      <p:sp>
        <p:nvSpPr>
          <p:cNvPr id="207" name="Google Shape;207;p28"/>
          <p:cNvSpPr txBox="1"/>
          <p:nvPr/>
        </p:nvSpPr>
        <p:spPr>
          <a:xfrm>
            <a:off x="1" y="931384"/>
            <a:ext cx="7056670" cy="2739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    Close the Layer Selection window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- You will see the layers added to the Layer Panel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- Zoom in and out of the map by using your      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computer mouse.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 Turn all the </a:t>
            </a:r>
            <a:r>
              <a:rPr lang="en-US" sz="2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 l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ayers on and </a:t>
            </a:r>
            <a:r>
              <a:rPr lang="en-US" sz="2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BASE LAYERS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off.</a:t>
            </a:r>
            <a:endParaRPr/>
          </a:p>
          <a:p>
            <a:pPr marL="635000" marR="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</a:t>
            </a:r>
            <a:endParaRPr sz="12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</p:txBody>
      </p:sp>
      <p:pic>
        <p:nvPicPr>
          <p:cNvPr id="208" name="Google Shape;208;p28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2475" y="1047336"/>
            <a:ext cx="4329763" cy="277075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8"/>
          <p:cNvSpPr/>
          <p:nvPr/>
        </p:nvSpPr>
        <p:spPr>
          <a:xfrm>
            <a:off x="6996709" y="1047336"/>
            <a:ext cx="258530" cy="1905726"/>
          </a:xfrm>
          <a:prstGeom prst="leftBrace">
            <a:avLst>
              <a:gd name="adj1" fmla="val 8333"/>
              <a:gd name="adj2" fmla="val 50000"/>
            </a:avLst>
          </a:prstGeom>
          <a:noFill/>
          <a:ln w="25400" cap="flat" cmpd="sng">
            <a:solidFill>
              <a:srgbClr val="1D56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28" descr="A screenshot of a computer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3617" y="4038106"/>
            <a:ext cx="2293495" cy="1589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8" descr="A screenshot of a computer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87022" y="3978372"/>
            <a:ext cx="2045216" cy="17066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28"/>
          <p:cNvCxnSpPr/>
          <p:nvPr/>
        </p:nvCxnSpPr>
        <p:spPr>
          <a:xfrm rot="-5400000" flipH="1">
            <a:off x="6528616" y="3125718"/>
            <a:ext cx="749100" cy="604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1D564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3" name="Google Shape;213;p28"/>
          <p:cNvSpPr/>
          <p:nvPr/>
        </p:nvSpPr>
        <p:spPr>
          <a:xfrm>
            <a:off x="7073543" y="3818095"/>
            <a:ext cx="258530" cy="1905726"/>
          </a:xfrm>
          <a:prstGeom prst="leftBrace">
            <a:avLst>
              <a:gd name="adj1" fmla="val 8333"/>
              <a:gd name="adj2" fmla="val 50000"/>
            </a:avLst>
          </a:prstGeom>
          <a:noFill/>
          <a:ln w="25400" cap="flat" cmpd="sng">
            <a:solidFill>
              <a:srgbClr val="1D56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>
            <a:spLocks noGrp="1"/>
          </p:cNvSpPr>
          <p:nvPr>
            <p:ph type="title"/>
          </p:nvPr>
        </p:nvSpPr>
        <p:spPr>
          <a:xfrm>
            <a:off x="242315" y="276993"/>
            <a:ext cx="11706798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lvl="0"/>
            <a:r>
              <a:rPr lang="en-US" dirty="0">
                <a:latin typeface="Century Gothic"/>
                <a:ea typeface="Century Gothic"/>
                <a:cs typeface="Century Gothic"/>
                <a:sym typeface="Century Gothic"/>
              </a:rPr>
              <a:t>Exercise: Monitor Fires in Uttarakhand</a:t>
            </a:r>
            <a:endParaRPr b="0" dirty="0"/>
          </a:p>
        </p:txBody>
      </p:sp>
      <p:sp>
        <p:nvSpPr>
          <p:cNvPr id="219" name="Google Shape;219;p29"/>
          <p:cNvSpPr txBox="1"/>
          <p:nvPr/>
        </p:nvSpPr>
        <p:spPr>
          <a:xfrm>
            <a:off x="1" y="931384"/>
            <a:ext cx="7056670" cy="612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6. Zoom to India on the map using +/_ sign on the    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top right and using the computer mouse.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7.  In the search window on the top right type    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‘That, Uttarakhand’.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 startAt="8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Using the time selection bar, go to 1 May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2024.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9.  Now zoom in further to the region.</a:t>
            </a: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dirty="0"/>
          </a:p>
        </p:txBody>
      </p:sp>
      <p:sp>
        <p:nvSpPr>
          <p:cNvPr id="220" name="Google Shape;220;p29"/>
          <p:cNvSpPr/>
          <p:nvPr/>
        </p:nvSpPr>
        <p:spPr>
          <a:xfrm flipH="1">
            <a:off x="11078596" y="3867742"/>
            <a:ext cx="45719" cy="45117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0D25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10436148" y="4413137"/>
            <a:ext cx="175585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Drag to move along the timeline</a:t>
            </a:r>
            <a:endParaRPr/>
          </a:p>
        </p:txBody>
      </p:sp>
      <p:pic>
        <p:nvPicPr>
          <p:cNvPr id="222" name="Google Shape;22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0052" y="835794"/>
            <a:ext cx="4401433" cy="27879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29"/>
          <p:cNvCxnSpPr/>
          <p:nvPr/>
        </p:nvCxnSpPr>
        <p:spPr>
          <a:xfrm>
            <a:off x="6231470" y="3479799"/>
            <a:ext cx="866185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4" name="Google Shape;224;p29"/>
          <p:cNvSpPr/>
          <p:nvPr/>
        </p:nvSpPr>
        <p:spPr>
          <a:xfrm>
            <a:off x="9584267" y="632874"/>
            <a:ext cx="1253066" cy="569391"/>
          </a:xfrm>
          <a:prstGeom prst="frame">
            <a:avLst>
              <a:gd name="adj1" fmla="val 12500"/>
            </a:avLst>
          </a:prstGeom>
          <a:solidFill>
            <a:srgbClr val="FF0000"/>
          </a:solidFill>
          <a:ln w="25400" cap="flat" cmpd="sng">
            <a:solidFill>
              <a:srgbClr val="0D25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9"/>
          <p:cNvSpPr txBox="1"/>
          <p:nvPr/>
        </p:nvSpPr>
        <p:spPr>
          <a:xfrm>
            <a:off x="9446100" y="1142595"/>
            <a:ext cx="23541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Location Search Window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>
            <a:spLocks noGrp="1"/>
          </p:cNvSpPr>
          <p:nvPr>
            <p:ph type="title"/>
          </p:nvPr>
        </p:nvSpPr>
        <p:spPr>
          <a:xfrm>
            <a:off x="242315" y="276993"/>
            <a:ext cx="11706798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lvl="0"/>
            <a:r>
              <a:rPr lang="en-US" dirty="0">
                <a:latin typeface="Century Gothic"/>
                <a:ea typeface="Century Gothic"/>
                <a:cs typeface="Century Gothic"/>
                <a:sym typeface="Century Gothic"/>
              </a:rPr>
              <a:t>Exercise: Monitor Fires in Uttarakhand</a:t>
            </a:r>
            <a:endParaRPr b="0" dirty="0"/>
          </a:p>
        </p:txBody>
      </p:sp>
      <p:sp>
        <p:nvSpPr>
          <p:cNvPr id="232" name="Google Shape;232;p30"/>
          <p:cNvSpPr txBox="1"/>
          <p:nvPr/>
        </p:nvSpPr>
        <p:spPr>
          <a:xfrm>
            <a:off x="625033" y="861633"/>
            <a:ext cx="7558268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 startAt="10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Using the ‘1 Day’ arrows move from 1 to 7 May, </a:t>
            </a:r>
            <a:r>
              <a:rPr lang="en-US" sz="200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day at a time.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 startAt="11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Which day do you see the maximum spread of fires     near That?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12. Click on any fire spot (red dot) to see the details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about the fire at that location.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13. Now examine smoke by turning the true color </a:t>
            </a:r>
            <a:r>
              <a:rPr lang="en-US" sz="200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mages on 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from the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BASE LAYERS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– for example start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with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Suomi NPP VIIRS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image on.  Explore how Smoke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spreads between 1 to </a:t>
            </a:r>
            <a:r>
              <a:rPr lang="en-US" sz="200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May.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>
            <a:spLocks noGrp="1"/>
          </p:cNvSpPr>
          <p:nvPr>
            <p:ph type="title"/>
          </p:nvPr>
        </p:nvSpPr>
        <p:spPr>
          <a:xfrm>
            <a:off x="2128989" y="2899001"/>
            <a:ext cx="8415548" cy="6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dirty="0">
                <a:latin typeface="Century Gothic"/>
                <a:ea typeface="Century Gothic"/>
                <a:cs typeface="Century Gothic"/>
                <a:sym typeface="Century Gothic"/>
              </a:rPr>
              <a:t>Explore: Monitor fires in the area/time of  your </a:t>
            </a:r>
            <a:r>
              <a:rPr lang="en-US" dirty="0"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n-US" sz="2400" dirty="0">
                <a:latin typeface="Century Gothic"/>
                <a:ea typeface="Century Gothic"/>
                <a:cs typeface="Century Gothic"/>
                <a:sym typeface="Century Gothic"/>
              </a:rPr>
              <a:t>nterest</a:t>
            </a:r>
            <a:endParaRPr b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402</Words>
  <Application>Microsoft Macintosh PowerPoint</Application>
  <PresentationFormat>Widescreen</PresentationFormat>
  <Paragraphs>77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Century Gothic</vt:lpstr>
      <vt:lpstr>Office Theme</vt:lpstr>
      <vt:lpstr>Exercise: Monitor Fires in Uttarakhand</vt:lpstr>
      <vt:lpstr>Exercise: Monitor Fires in Panjab/Haryana</vt:lpstr>
      <vt:lpstr>Exercise: Monitor Fires in Uttarakhand</vt:lpstr>
      <vt:lpstr>Exercise: Monitor Fires in Uttarakhand</vt:lpstr>
      <vt:lpstr>Explore: Monitor fires in the area/time of  your interest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Mehta, Amita V. (GSFC-612.0)[UNIVERSITY OF MARYLAND BALTIMORE CO]</dc:creator>
  <cp:lastModifiedBy>Mehta, Amita V. (GSFC-612.0)[UNIVERSITY OF MARYLAND BALTIMORE CO]</cp:lastModifiedBy>
  <cp:revision>7</cp:revision>
  <dcterms:created xsi:type="dcterms:W3CDTF">2025-06-26T21:52:44Z</dcterms:created>
  <dcterms:modified xsi:type="dcterms:W3CDTF">2025-06-27T02:06:32Z</dcterms:modified>
</cp:coreProperties>
</file>