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7"/>
  </p:notesMasterIdLst>
  <p:sldIdLst>
    <p:sldId id="257" r:id="rId2"/>
    <p:sldId id="259" r:id="rId3"/>
    <p:sldId id="261" r:id="rId4"/>
    <p:sldId id="285" r:id="rId5"/>
    <p:sldId id="265" r:id="rId6"/>
  </p:sldIdLst>
  <p:sldSz cx="12192000" cy="6858000"/>
  <p:notesSz cx="6858000" cy="9144000"/>
  <p:embeddedFontLst>
    <p:embeddedFont>
      <p:font typeface="Century Gothic" panose="020B0502020202020204" pitchFamily="34" charset="0"/>
      <p:regular r:id="rId8"/>
      <p:bold r:id="rId9"/>
      <p:italic r:id="rId10"/>
      <p:boldItalic r:id="rId11"/>
    </p:embeddedFont>
    <p:embeddedFont>
      <p:font typeface="Merriweather Sans" pitchFamily="2" charset="77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96">
          <p15:clr>
            <a:srgbClr val="A4A3A4"/>
          </p15:clr>
        </p15:guide>
        <p15:guide id="2" pos="143">
          <p15:clr>
            <a:srgbClr val="A4A3A4"/>
          </p15:clr>
        </p15:guide>
        <p15:guide id="3" pos="7537">
          <p15:clr>
            <a:srgbClr val="A4A3A4"/>
          </p15:clr>
        </p15:guide>
        <p15:guide id="4" orient="horz" pos="39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88"/>
  </p:normalViewPr>
  <p:slideViewPr>
    <p:cSldViewPr snapToGrid="0">
      <p:cViewPr>
        <p:scale>
          <a:sx n="84" d="100"/>
          <a:sy n="84" d="100"/>
        </p:scale>
        <p:origin x="584" y="776"/>
      </p:cViewPr>
      <p:guideLst>
        <p:guide orient="horz" pos="696"/>
        <p:guide pos="143"/>
        <p:guide pos="7537"/>
        <p:guide orient="horz" pos="39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>
          <a:extLst>
            <a:ext uri="{FF2B5EF4-FFF2-40B4-BE49-F238E27FC236}">
              <a16:creationId xmlns:a16="http://schemas.microsoft.com/office/drawing/2014/main" id="{40947449-4B7D-FF58-1766-11A1A6A90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>
            <a:extLst>
              <a:ext uri="{FF2B5EF4-FFF2-40B4-BE49-F238E27FC236}">
                <a16:creationId xmlns:a16="http://schemas.microsoft.com/office/drawing/2014/main" id="{399A25ED-FF52-4659-86A9-21D052854F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0:notes">
            <a:extLst>
              <a:ext uri="{FF2B5EF4-FFF2-40B4-BE49-F238E27FC236}">
                <a16:creationId xmlns:a16="http://schemas.microsoft.com/office/drawing/2014/main" id="{7EA8743A-F549-F850-54BB-717648596E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3615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+Content">
  <p:cSld name="Title+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242315" y="276993"/>
            <a:ext cx="11707369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1"/>
              <a:buFont typeface="Century Gothic"/>
              <a:buNone/>
              <a:defRPr sz="280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242315" y="1130284"/>
            <a:ext cx="11707369" cy="4833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875" bIns="60925" anchor="t" anchorCtr="0">
            <a:noAutofit/>
          </a:bodyPr>
          <a:lstStyle>
            <a:lvl1pPr marL="457200" lvl="0" indent="-3683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1pPr>
            <a:lvl2pPr marL="914400" lvl="1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marL="1371600" lvl="2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marL="1828800" lvl="3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4pPr>
            <a:lvl5pPr marL="2286000" lvl="4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242316" y="6493932"/>
            <a:ext cx="3924225" cy="27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25" tIns="60950" rIns="121925" bIns="6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NASA’s Applied Remote Sensing Training Program</a:t>
            </a:r>
            <a:endParaRPr sz="10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10782552" y="6493932"/>
            <a:ext cx="689935" cy="27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25" tIns="60950" rIns="121925" bIns="6095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52761" y="6274114"/>
            <a:ext cx="496923" cy="49679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>
            <a:spLocks noGrp="1"/>
          </p:cNvSpPr>
          <p:nvPr>
            <p:ph type="body" idx="2"/>
          </p:nvPr>
        </p:nvSpPr>
        <p:spPr>
          <a:xfrm>
            <a:off x="242315" y="5994400"/>
            <a:ext cx="11706225" cy="24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000" rIns="0" bIns="6092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entury Gothic"/>
              <a:buNone/>
              <a:defRPr sz="800"/>
            </a:lvl1pPr>
            <a:lvl2pPr marL="914400" lvl="1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2pPr>
            <a:lvl3pPr marL="1371600" lvl="2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marL="1828800" lvl="3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+2 Column">
  <p:cSld name="Title+2 Colum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242315" y="276993"/>
            <a:ext cx="11707369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1"/>
              <a:buFont typeface="Century Gothic"/>
              <a:buNone/>
              <a:defRPr sz="280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242315" y="1130284"/>
            <a:ext cx="5807952" cy="4833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875" bIns="60925" anchor="t" anchorCtr="0">
            <a:noAutofit/>
          </a:bodyPr>
          <a:lstStyle>
            <a:lvl1pPr marL="457200" lvl="0" indent="-3683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1pPr>
            <a:lvl2pPr marL="914400" lvl="1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marL="1371600" lvl="2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marL="1828800" lvl="3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4pPr>
            <a:lvl5pPr marL="2286000" lvl="4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6141732" y="1130283"/>
            <a:ext cx="5807952" cy="4833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875" bIns="60925" anchor="t" anchorCtr="0">
            <a:noAutofit/>
          </a:bodyPr>
          <a:lstStyle>
            <a:lvl1pPr marL="457200" lvl="0" indent="-3683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1pPr>
            <a:lvl2pPr marL="914400" lvl="1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marL="1371600" lvl="2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marL="1828800" lvl="3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4pPr>
            <a:lvl5pPr marL="2286000" lvl="4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/>
          <p:nvPr/>
        </p:nvSpPr>
        <p:spPr>
          <a:xfrm>
            <a:off x="242316" y="6493932"/>
            <a:ext cx="3924225" cy="27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25" tIns="60950" rIns="121925" bIns="6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NASA’s Applied Remote Sensing Training Program</a:t>
            </a:r>
            <a:endParaRPr sz="10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" name="Google Shape;47;p6"/>
          <p:cNvSpPr txBox="1"/>
          <p:nvPr/>
        </p:nvSpPr>
        <p:spPr>
          <a:xfrm>
            <a:off x="10782552" y="6493932"/>
            <a:ext cx="689935" cy="27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25" tIns="60950" rIns="121925" bIns="6095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52761" y="6274114"/>
            <a:ext cx="496923" cy="49679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242315" y="5994400"/>
            <a:ext cx="11706225" cy="24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000" rIns="0" bIns="6092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entury Gothic"/>
              <a:buNone/>
              <a:defRPr sz="800"/>
            </a:lvl1pPr>
            <a:lvl2pPr marL="914400" lvl="1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2pPr>
            <a:lvl3pPr marL="1371600" lvl="2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marL="1828800" lvl="3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+3 Column">
  <p:cSld name="Title+3 Colum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242315" y="276993"/>
            <a:ext cx="11707369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1"/>
              <a:buFont typeface="Century Gothic"/>
              <a:buNone/>
              <a:defRPr sz="280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242315" y="1130283"/>
            <a:ext cx="3840480" cy="4833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875" bIns="60925" anchor="t" anchorCtr="0">
            <a:noAutofit/>
          </a:bodyPr>
          <a:lstStyle>
            <a:lvl1pPr marL="457200" lvl="0" indent="-3683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1pPr>
            <a:lvl2pPr marL="914400" lvl="1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marL="1371600" lvl="2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marL="1828800" lvl="3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4pPr>
            <a:lvl5pPr marL="2286000" lvl="4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8109204" y="1130283"/>
            <a:ext cx="3840480" cy="4833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875" bIns="60925" anchor="t" anchorCtr="0">
            <a:noAutofit/>
          </a:bodyPr>
          <a:lstStyle>
            <a:lvl1pPr marL="457200" lvl="0" indent="-3683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1pPr>
            <a:lvl2pPr marL="914400" lvl="1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marL="1371600" lvl="2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marL="1828800" lvl="3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4pPr>
            <a:lvl5pPr marL="2286000" lvl="4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/>
          <p:nvPr/>
        </p:nvSpPr>
        <p:spPr>
          <a:xfrm>
            <a:off x="242316" y="6493932"/>
            <a:ext cx="3924225" cy="27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25" tIns="60950" rIns="121925" bIns="6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NASA’s Applied Remote Sensing Training Program</a:t>
            </a:r>
            <a:endParaRPr sz="10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" name="Google Shape;55;p7"/>
          <p:cNvSpPr txBox="1"/>
          <p:nvPr/>
        </p:nvSpPr>
        <p:spPr>
          <a:xfrm>
            <a:off x="10782552" y="6493932"/>
            <a:ext cx="689935" cy="27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25" tIns="60950" rIns="121925" bIns="6095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52761" y="6274114"/>
            <a:ext cx="496923" cy="49679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>
            <a:spLocks noGrp="1"/>
          </p:cNvSpPr>
          <p:nvPr>
            <p:ph type="body" idx="3"/>
          </p:nvPr>
        </p:nvSpPr>
        <p:spPr>
          <a:xfrm>
            <a:off x="4175759" y="1130283"/>
            <a:ext cx="3840480" cy="4833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875" bIns="60925" anchor="t" anchorCtr="0">
            <a:noAutofit/>
          </a:bodyPr>
          <a:lstStyle>
            <a:lvl1pPr marL="457200" lvl="0" indent="-3683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1pPr>
            <a:lvl2pPr marL="914400" lvl="1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marL="1371600" lvl="2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marL="1828800" lvl="3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4pPr>
            <a:lvl5pPr marL="2286000" lvl="4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body" idx="4"/>
          </p:nvPr>
        </p:nvSpPr>
        <p:spPr>
          <a:xfrm>
            <a:off x="242315" y="5994400"/>
            <a:ext cx="11706225" cy="24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000" rIns="0" bIns="6092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entury Gothic"/>
              <a:buNone/>
              <a:defRPr sz="800"/>
            </a:lvl1pPr>
            <a:lvl2pPr marL="914400" lvl="1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2pPr>
            <a:lvl3pPr marL="1371600" lvl="2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marL="1828800" lvl="3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+Subtitle+Content">
  <p:cSld name="Title+Subtitle+Conte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242315" y="276993"/>
            <a:ext cx="11707369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1"/>
              <a:buFont typeface="Century Gothic"/>
              <a:buNone/>
              <a:defRPr sz="280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1"/>
          </p:nvPr>
        </p:nvSpPr>
        <p:spPr>
          <a:xfrm>
            <a:off x="242315" y="1368089"/>
            <a:ext cx="11707369" cy="459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875" bIns="60925" anchor="t" anchorCtr="0">
            <a:noAutofit/>
          </a:bodyPr>
          <a:lstStyle>
            <a:lvl1pPr marL="457200" lvl="0" indent="-3683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1pPr>
            <a:lvl2pPr marL="914400" lvl="1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marL="1371600" lvl="2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marL="1828800" lvl="3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4pPr>
            <a:lvl5pPr marL="2286000" lvl="4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2"/>
          </p:nvPr>
        </p:nvSpPr>
        <p:spPr>
          <a:xfrm>
            <a:off x="242315" y="854076"/>
            <a:ext cx="11707369" cy="43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875" bIns="60925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entury Gothic"/>
              <a:buNone/>
              <a:defRPr b="1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/>
          <p:nvPr/>
        </p:nvSpPr>
        <p:spPr>
          <a:xfrm>
            <a:off x="242316" y="6493932"/>
            <a:ext cx="3924225" cy="27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25" tIns="60950" rIns="121925" bIns="6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NASA’s Applied Remote Sensing Training Program</a:t>
            </a:r>
            <a:endParaRPr sz="10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" name="Google Shape;64;p8"/>
          <p:cNvSpPr txBox="1"/>
          <p:nvPr/>
        </p:nvSpPr>
        <p:spPr>
          <a:xfrm>
            <a:off x="10782552" y="6493932"/>
            <a:ext cx="689935" cy="27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25" tIns="60950" rIns="121925" bIns="6095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5" name="Google Shape;65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52761" y="6274114"/>
            <a:ext cx="496923" cy="49679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>
            <a:spLocks noGrp="1"/>
          </p:cNvSpPr>
          <p:nvPr>
            <p:ph type="body" idx="3"/>
          </p:nvPr>
        </p:nvSpPr>
        <p:spPr>
          <a:xfrm>
            <a:off x="242315" y="5994400"/>
            <a:ext cx="11706225" cy="24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000" rIns="0" bIns="6092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entury Gothic"/>
              <a:buNone/>
              <a:defRPr sz="800"/>
            </a:lvl1pPr>
            <a:lvl2pPr marL="914400" lvl="1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2pPr>
            <a:lvl3pPr marL="1371600" lvl="2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marL="1828800" lvl="3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+Subtitle+2 Column">
  <p:cSld name="Title+Subtitle+2 Colum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242315" y="276993"/>
            <a:ext cx="11707369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1"/>
              <a:buFont typeface="Century Gothic"/>
              <a:buNone/>
              <a:defRPr sz="280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242315" y="1368089"/>
            <a:ext cx="5807952" cy="4595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875" bIns="60925" anchor="t" anchorCtr="0">
            <a:noAutofit/>
          </a:bodyPr>
          <a:lstStyle>
            <a:lvl1pPr marL="457200" lvl="0" indent="-3683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1pPr>
            <a:lvl2pPr marL="914400" lvl="1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marL="1371600" lvl="2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marL="1828800" lvl="3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4pPr>
            <a:lvl5pPr marL="2286000" lvl="4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6141732" y="1368089"/>
            <a:ext cx="5807952" cy="459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875" bIns="60925" anchor="t" anchorCtr="0">
            <a:noAutofit/>
          </a:bodyPr>
          <a:lstStyle>
            <a:lvl1pPr marL="457200" lvl="0" indent="-3683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1pPr>
            <a:lvl2pPr marL="914400" lvl="1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marL="1371600" lvl="2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marL="1828800" lvl="3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4pPr>
            <a:lvl5pPr marL="2286000" lvl="4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3"/>
          </p:nvPr>
        </p:nvSpPr>
        <p:spPr>
          <a:xfrm>
            <a:off x="242315" y="854076"/>
            <a:ext cx="11707369" cy="43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875" bIns="60925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entury Gothic"/>
              <a:buNone/>
              <a:defRPr b="1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/>
          <p:nvPr/>
        </p:nvSpPr>
        <p:spPr>
          <a:xfrm>
            <a:off x="242316" y="6493932"/>
            <a:ext cx="3924225" cy="27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25" tIns="60950" rIns="121925" bIns="6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NASA’s Applied Remote Sensing Training Program</a:t>
            </a:r>
            <a:endParaRPr sz="10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10782552" y="6493932"/>
            <a:ext cx="689935" cy="27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25" tIns="60950" rIns="121925" bIns="6095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4" name="Google Shape;74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52761" y="6274114"/>
            <a:ext cx="496923" cy="49679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>
            <a:spLocks noGrp="1"/>
          </p:cNvSpPr>
          <p:nvPr>
            <p:ph type="body" idx="4"/>
          </p:nvPr>
        </p:nvSpPr>
        <p:spPr>
          <a:xfrm>
            <a:off x="242315" y="5994400"/>
            <a:ext cx="11706225" cy="24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000" rIns="0" bIns="6092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entury Gothic"/>
              <a:buNone/>
              <a:defRPr sz="800"/>
            </a:lvl1pPr>
            <a:lvl2pPr marL="914400" lvl="1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2pPr>
            <a:lvl3pPr marL="1371600" lvl="2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marL="1828800" lvl="3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+Subtitle+3 Column">
  <p:cSld name="Title+Subtitle+3 Colum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 txBox="1">
            <a:spLocks noGrp="1"/>
          </p:cNvSpPr>
          <p:nvPr>
            <p:ph type="body" idx="1"/>
          </p:nvPr>
        </p:nvSpPr>
        <p:spPr>
          <a:xfrm>
            <a:off x="242315" y="1368089"/>
            <a:ext cx="3840480" cy="4595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875" bIns="60925" anchor="t" anchorCtr="0">
            <a:noAutofit/>
          </a:bodyPr>
          <a:lstStyle>
            <a:lvl1pPr marL="457200" lvl="0" indent="-3683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1pPr>
            <a:lvl2pPr marL="914400" lvl="1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marL="1371600" lvl="2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marL="1828800" lvl="3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4pPr>
            <a:lvl5pPr marL="2286000" lvl="4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body" idx="2"/>
          </p:nvPr>
        </p:nvSpPr>
        <p:spPr>
          <a:xfrm>
            <a:off x="8109204" y="1368089"/>
            <a:ext cx="3840480" cy="4595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875" bIns="60925" anchor="t" anchorCtr="0">
            <a:noAutofit/>
          </a:bodyPr>
          <a:lstStyle>
            <a:lvl1pPr marL="457200" lvl="0" indent="-3683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1pPr>
            <a:lvl2pPr marL="914400" lvl="1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marL="1371600" lvl="2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marL="1828800" lvl="3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4pPr>
            <a:lvl5pPr marL="2286000" lvl="4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/>
          <p:nvPr/>
        </p:nvSpPr>
        <p:spPr>
          <a:xfrm>
            <a:off x="242316" y="6493932"/>
            <a:ext cx="3924225" cy="27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25" tIns="60950" rIns="121925" bIns="6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NASA’s Applied Remote Sensing Training Program</a:t>
            </a:r>
            <a:endParaRPr sz="10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0" name="Google Shape;80;p10"/>
          <p:cNvSpPr txBox="1"/>
          <p:nvPr/>
        </p:nvSpPr>
        <p:spPr>
          <a:xfrm>
            <a:off x="10782552" y="6493932"/>
            <a:ext cx="689935" cy="27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25" tIns="60950" rIns="121925" bIns="6095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1" name="Google Shape;81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52761" y="6274114"/>
            <a:ext cx="496923" cy="49679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0"/>
          <p:cNvSpPr txBox="1">
            <a:spLocks noGrp="1"/>
          </p:cNvSpPr>
          <p:nvPr>
            <p:ph type="body" idx="3"/>
          </p:nvPr>
        </p:nvSpPr>
        <p:spPr>
          <a:xfrm>
            <a:off x="4175759" y="1368089"/>
            <a:ext cx="3840480" cy="4595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875" bIns="60925" anchor="t" anchorCtr="0">
            <a:noAutofit/>
          </a:bodyPr>
          <a:lstStyle>
            <a:lvl1pPr marL="457200" lvl="0" indent="-3683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1pPr>
            <a:lvl2pPr marL="914400" lvl="1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marL="1371600" lvl="2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marL="1828800" lvl="3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4pPr>
            <a:lvl5pPr marL="2286000" lvl="4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title"/>
          </p:nvPr>
        </p:nvSpPr>
        <p:spPr>
          <a:xfrm>
            <a:off x="242315" y="276993"/>
            <a:ext cx="11707369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1"/>
              <a:buFont typeface="Century Gothic"/>
              <a:buNone/>
              <a:defRPr sz="280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242315" y="854076"/>
            <a:ext cx="11707369" cy="43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875" bIns="60925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entury Gothic"/>
              <a:buNone/>
              <a:defRPr b="1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body" idx="5"/>
          </p:nvPr>
        </p:nvSpPr>
        <p:spPr>
          <a:xfrm>
            <a:off x="242315" y="5994400"/>
            <a:ext cx="11706225" cy="24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000" rIns="0" bIns="6092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entury Gothic"/>
              <a:buNone/>
              <a:defRPr sz="800"/>
            </a:lvl1pPr>
            <a:lvl2pPr marL="914400" lvl="1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2pPr>
            <a:lvl3pPr marL="1371600" lvl="2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marL="1828800" lvl="3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Slide">
  <p:cSld name="Transition Sli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1" y="4611"/>
            <a:ext cx="12191412" cy="459717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322036" y="4914998"/>
            <a:ext cx="9547926" cy="1643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1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9" name="Google Shape;89;p11"/>
          <p:cNvCxnSpPr/>
          <p:nvPr/>
        </p:nvCxnSpPr>
        <p:spPr>
          <a:xfrm>
            <a:off x="-64" y="4606401"/>
            <a:ext cx="1219212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+Blank">
  <p:cSld name="Title+Blank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242315" y="276993"/>
            <a:ext cx="11707369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1"/>
              <a:buFont typeface="Century Gothic"/>
              <a:buNone/>
              <a:defRPr sz="280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/>
          <p:nvPr/>
        </p:nvSpPr>
        <p:spPr>
          <a:xfrm>
            <a:off x="242316" y="6493932"/>
            <a:ext cx="3924225" cy="27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25" tIns="60950" rIns="121925" bIns="6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NASA’s Applied Remote Sensing Training Program</a:t>
            </a:r>
            <a:endParaRPr sz="10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3" name="Google Shape;93;p12"/>
          <p:cNvSpPr txBox="1"/>
          <p:nvPr/>
        </p:nvSpPr>
        <p:spPr>
          <a:xfrm>
            <a:off x="10782552" y="6493932"/>
            <a:ext cx="689935" cy="27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25" tIns="60950" rIns="121925" bIns="6095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4" name="Google Shape;9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52761" y="6274114"/>
            <a:ext cx="496923" cy="496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+Subtitle+Blank">
  <p:cSld name="Title+Subtitle+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242315" y="276993"/>
            <a:ext cx="11707369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1"/>
              <a:buFont typeface="Century Gothic"/>
              <a:buNone/>
              <a:defRPr sz="280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body" idx="1"/>
          </p:nvPr>
        </p:nvSpPr>
        <p:spPr>
          <a:xfrm>
            <a:off x="242315" y="854076"/>
            <a:ext cx="11707369" cy="43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875" bIns="60925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entury Gothic"/>
              <a:buNone/>
              <a:defRPr b="1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242316" y="6493932"/>
            <a:ext cx="3924225" cy="27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25" tIns="60950" rIns="121925" bIns="6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NASA’s Applied Remote Sensing Training Program</a:t>
            </a:r>
            <a:endParaRPr sz="10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10782552" y="6493932"/>
            <a:ext cx="689935" cy="27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25" tIns="60950" rIns="121925" bIns="6095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0" name="Google Shape;10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52761" y="6274114"/>
            <a:ext cx="496923" cy="496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42316" y="6493932"/>
            <a:ext cx="3924225" cy="27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25" tIns="60950" rIns="121925" bIns="6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NASA’s Applied Remote Sensing Training Program</a:t>
            </a:r>
            <a:endParaRPr sz="10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0782552" y="6493932"/>
            <a:ext cx="689935" cy="27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25" tIns="60950" rIns="121925" bIns="6095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52761" y="6274114"/>
            <a:ext cx="496923" cy="496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4038600" y="609600"/>
            <a:ext cx="41148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1322036" y="4914998"/>
            <a:ext cx="9547926" cy="1643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1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242315" y="274642"/>
            <a:ext cx="11707369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1"/>
              <a:buFont typeface="Century Gothic"/>
              <a:buNone/>
              <a:defRPr sz="2801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42315" y="1176844"/>
            <a:ext cx="11707369" cy="5439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875" bIns="60925" anchor="t" anchorCtr="0">
            <a:noAutofit/>
          </a:bodyPr>
          <a:lstStyle>
            <a:lvl1pPr marL="457200" marR="0" lvl="0" indent="-3683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683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sz="2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683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683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sz="2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683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»"/>
              <a:defRPr sz="2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400113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1"/>
              <a:buFont typeface="Arial"/>
              <a:buChar char="•"/>
              <a:defRPr sz="2701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400113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1"/>
              <a:buFont typeface="Arial"/>
              <a:buChar char="•"/>
              <a:defRPr sz="2701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400113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1"/>
              <a:buFont typeface="Arial"/>
              <a:buChar char="•"/>
              <a:defRPr sz="2701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400113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1"/>
              <a:buFont typeface="Arial"/>
              <a:buChar char="•"/>
              <a:defRPr sz="2701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giovanni.gsfc.nasa.gov/giovanni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giovanni.gsfc.nasa.gov/giovanni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body" idx="1"/>
          </p:nvPr>
        </p:nvSpPr>
        <p:spPr>
          <a:xfrm>
            <a:off x="242315" y="1130284"/>
            <a:ext cx="11707369" cy="4833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875" bIns="60925" anchor="t" anchorCtr="0">
            <a:noAutofit/>
          </a:bodyPr>
          <a:lstStyle/>
          <a:p>
            <a:r>
              <a:rPr lang="en-US" dirty="0" err="1"/>
              <a:t>Biparjoy</a:t>
            </a:r>
            <a:r>
              <a:rPr lang="en-US" dirty="0"/>
              <a:t>: June 6-16, 2023</a:t>
            </a:r>
          </a:p>
          <a:p>
            <a:r>
              <a:rPr lang="en-US" dirty="0"/>
              <a:t>Region: Arabian Sea</a:t>
            </a:r>
          </a:p>
          <a:p>
            <a:r>
              <a:rPr lang="en-US" dirty="0"/>
              <a:t>Wind speed: max. 194 km/h </a:t>
            </a:r>
          </a:p>
          <a:p>
            <a:r>
              <a:rPr lang="en-US" dirty="0"/>
              <a:t>Diameter: max. 567 km</a:t>
            </a:r>
          </a:p>
          <a:p>
            <a:r>
              <a:rPr lang="en-US" dirty="0"/>
              <a:t>Air pressure: below 945 mbar</a:t>
            </a:r>
          </a:p>
          <a:p>
            <a:r>
              <a:rPr lang="en-US" dirty="0"/>
              <a:t>Saffir-Simpson scale: category 3</a:t>
            </a:r>
          </a:p>
          <a:p>
            <a:r>
              <a:rPr lang="en-US" b="1" dirty="0"/>
              <a:t>Affected regions</a:t>
            </a:r>
            <a:br>
              <a:rPr lang="en-US" dirty="0"/>
            </a:br>
            <a:r>
              <a:rPr lang="en-US" dirty="0"/>
              <a:t>Western India</a:t>
            </a:r>
          </a:p>
          <a:p>
            <a:pPr marL="146323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  <p:sp>
        <p:nvSpPr>
          <p:cNvPr id="122" name="Google Shape;122;p17"/>
          <p:cNvSpPr txBox="1">
            <a:spLocks noGrp="1"/>
          </p:cNvSpPr>
          <p:nvPr>
            <p:ph type="body" idx="2"/>
          </p:nvPr>
        </p:nvSpPr>
        <p:spPr>
          <a:xfrm>
            <a:off x="242315" y="5994400"/>
            <a:ext cx="11706225" cy="24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000" rIns="0" bIns="60925" anchor="b" anchorCtr="0">
            <a:noAutofit/>
          </a:bodyPr>
          <a:lstStyle/>
          <a:p>
            <a:pPr marL="146322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entury Gothic"/>
              <a:buNone/>
            </a:pP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D0908B-FF15-CA67-B47E-77BA0CD56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Monitor Tropical Cyclone </a:t>
            </a:r>
            <a:r>
              <a:rPr lang="en-US" dirty="0" err="1"/>
              <a:t>Biparjoy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242315" y="276993"/>
            <a:ext cx="11707369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lvl="0">
              <a:buSzPts val="2800"/>
            </a:pPr>
            <a:r>
              <a:rPr lang="en-US" dirty="0"/>
              <a:t>Exercise: Tropical Cyclone </a:t>
            </a:r>
            <a:r>
              <a:rPr lang="en-US" dirty="0" err="1"/>
              <a:t>Biparjoy</a:t>
            </a:r>
            <a:endParaRPr dirty="0"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242315" y="1130284"/>
            <a:ext cx="11707369" cy="4833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875" bIns="60925" anchor="t" anchorCtr="0">
            <a:noAutofit/>
          </a:bodyPr>
          <a:lstStyle/>
          <a:p>
            <a:pPr marL="146322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dirty="0"/>
              <a:t>This is a two-part exercise using </a:t>
            </a:r>
            <a:r>
              <a:rPr lang="en-US" dirty="0">
                <a:hlinkClick r:id="rId3"/>
              </a:rPr>
              <a:t>Giovanni</a:t>
            </a:r>
            <a:r>
              <a:rPr lang="en-US" dirty="0"/>
              <a:t>:</a:t>
            </a:r>
            <a:endParaRPr dirty="0"/>
          </a:p>
          <a:p>
            <a:pPr marL="365806" lvl="0" indent="-219483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dirty="0"/>
              <a:t>Part 1: Access and analysis of GPM-IMERG precipitation using Giovanni</a:t>
            </a:r>
          </a:p>
          <a:p>
            <a:pPr marL="365806" lvl="0" indent="-219483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dirty="0"/>
              <a:t>Part 2: Access and Analysis of sea level pressure and winds from MERRA-2 using  Giovanni</a:t>
            </a:r>
            <a:endParaRPr dirty="0"/>
          </a:p>
        </p:txBody>
      </p:sp>
      <p:sp>
        <p:nvSpPr>
          <p:cNvPr id="136" name="Google Shape;136;p19"/>
          <p:cNvSpPr txBox="1">
            <a:spLocks noGrp="1"/>
          </p:cNvSpPr>
          <p:nvPr>
            <p:ph type="body" idx="2"/>
          </p:nvPr>
        </p:nvSpPr>
        <p:spPr>
          <a:xfrm>
            <a:off x="242315" y="5994400"/>
            <a:ext cx="11706225" cy="24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000" rIns="0" bIns="60925" anchor="b" anchorCtr="0">
            <a:noAutofit/>
          </a:bodyPr>
          <a:lstStyle/>
          <a:p>
            <a:pPr marL="146322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entury Gothic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>
            <a:spLocks noGrp="1"/>
          </p:cNvSpPr>
          <p:nvPr>
            <p:ph type="title"/>
          </p:nvPr>
        </p:nvSpPr>
        <p:spPr>
          <a:xfrm>
            <a:off x="242315" y="276993"/>
            <a:ext cx="11707369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</a:pPr>
            <a:r>
              <a:rPr lang="en-US" dirty="0"/>
              <a:t>Part 1: GPM-IMERG Data Access and Analysis</a:t>
            </a:r>
            <a:endParaRPr dirty="0"/>
          </a:p>
        </p:txBody>
      </p:sp>
      <p:sp>
        <p:nvSpPr>
          <p:cNvPr id="149" name="Google Shape;149;p21"/>
          <p:cNvSpPr txBox="1">
            <a:spLocks noGrp="1"/>
          </p:cNvSpPr>
          <p:nvPr>
            <p:ph type="body" idx="1"/>
          </p:nvPr>
        </p:nvSpPr>
        <p:spPr>
          <a:xfrm>
            <a:off x="242315" y="1130284"/>
            <a:ext cx="11707369" cy="4833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875" bIns="60925" anchor="t" anchorCtr="0">
            <a:noAutofit/>
          </a:bodyPr>
          <a:lstStyle/>
          <a:p>
            <a:pPr marL="603478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entury Gothic"/>
              <a:buAutoNum type="arabicPeriod"/>
            </a:pPr>
            <a:r>
              <a:rPr lang="en-US" dirty="0"/>
              <a:t>Go to Giovanni: </a:t>
            </a:r>
            <a:r>
              <a:rPr lang="en-US" u="sng" dirty="0">
                <a:solidFill>
                  <a:schemeClr val="hlink"/>
                </a:solidFill>
                <a:hlinkClick r:id="rId3"/>
              </a:rPr>
              <a:t>http://giovanni.gsfc.nasa.gov/giovanni</a:t>
            </a:r>
            <a:endParaRPr dirty="0"/>
          </a:p>
          <a:p>
            <a:pPr marL="603478" lvl="0" indent="-4572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entury Gothic"/>
              <a:buAutoNum type="arabicPeriod"/>
            </a:pPr>
            <a:r>
              <a:rPr lang="en-US" dirty="0"/>
              <a:t>On the Giovanni page you will see the following options: </a:t>
            </a:r>
            <a:endParaRPr dirty="0"/>
          </a:p>
          <a:p>
            <a:pPr marL="621870" lvl="1" indent="-25606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b="1" dirty="0"/>
              <a:t>Select Plot:</a:t>
            </a:r>
            <a:r>
              <a:rPr lang="en-US" dirty="0"/>
              <a:t> allows selection of analysis options</a:t>
            </a:r>
            <a:endParaRPr dirty="0"/>
          </a:p>
          <a:p>
            <a:pPr marL="621870" lvl="1" indent="-25606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b="1" dirty="0"/>
              <a:t>Select Data Range:</a:t>
            </a:r>
            <a:r>
              <a:rPr lang="en-US" dirty="0"/>
              <a:t> allows selection of a time period</a:t>
            </a:r>
            <a:endParaRPr dirty="0"/>
          </a:p>
          <a:p>
            <a:pPr marL="621870" lvl="1" indent="-25606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b="1" dirty="0"/>
              <a:t>Select Region (Bounding Box or Shape):</a:t>
            </a:r>
            <a:r>
              <a:rPr lang="en-US" dirty="0"/>
              <a:t> allows selection of a geographic region by latitude-longitude, map, or shapefile</a:t>
            </a:r>
            <a:endParaRPr dirty="0"/>
          </a:p>
          <a:p>
            <a:pPr marL="621870" lvl="1" indent="-25606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b="1" dirty="0"/>
              <a:t>Keyword:</a:t>
            </a:r>
            <a:r>
              <a:rPr lang="en-US" dirty="0"/>
              <a:t> allows search of data parameters by keyword</a:t>
            </a:r>
            <a:endParaRPr dirty="0"/>
          </a:p>
          <a:p>
            <a:pPr marL="621870" lvl="1" indent="-25606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b="1" dirty="0"/>
              <a:t>Plot Data:</a:t>
            </a:r>
            <a:r>
              <a:rPr lang="en-US" dirty="0"/>
              <a:t> (located on the bottom right of the page) begins the action to make a desired plot</a:t>
            </a:r>
            <a:endParaRPr dirty="0"/>
          </a:p>
          <a:p>
            <a:pPr marL="146322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dirty="0"/>
          </a:p>
        </p:txBody>
      </p:sp>
      <p:sp>
        <p:nvSpPr>
          <p:cNvPr id="150" name="Google Shape;150;p21"/>
          <p:cNvSpPr txBox="1">
            <a:spLocks noGrp="1"/>
          </p:cNvSpPr>
          <p:nvPr>
            <p:ph type="body" idx="2"/>
          </p:nvPr>
        </p:nvSpPr>
        <p:spPr>
          <a:xfrm>
            <a:off x="242315" y="5994400"/>
            <a:ext cx="11706225" cy="24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000" rIns="0" bIns="60925" anchor="b" anchorCtr="0">
            <a:noAutofit/>
          </a:bodyPr>
          <a:lstStyle/>
          <a:p>
            <a:pPr marL="146322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entury Gothic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>
          <a:extLst>
            <a:ext uri="{FF2B5EF4-FFF2-40B4-BE49-F238E27FC236}">
              <a16:creationId xmlns:a16="http://schemas.microsoft.com/office/drawing/2014/main" id="{87476819-4B47-1BEA-D674-F962B5D80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>
            <a:extLst>
              <a:ext uri="{FF2B5EF4-FFF2-40B4-BE49-F238E27FC236}">
                <a16:creationId xmlns:a16="http://schemas.microsoft.com/office/drawing/2014/main" id="{199E8242-8C40-E95A-0BB2-DD48AC2A23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2315" y="276993"/>
            <a:ext cx="11707369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</a:pPr>
            <a:r>
              <a:rPr lang="en-US" dirty="0"/>
              <a:t>Part 1: IMERG Rainfall Maps </a:t>
            </a:r>
            <a:endParaRPr dirty="0"/>
          </a:p>
        </p:txBody>
      </p:sp>
      <p:sp>
        <p:nvSpPr>
          <p:cNvPr id="181" name="Google Shape;181;p25">
            <a:extLst>
              <a:ext uri="{FF2B5EF4-FFF2-40B4-BE49-F238E27FC236}">
                <a16:creationId xmlns:a16="http://schemas.microsoft.com/office/drawing/2014/main" id="{1CBB7176-6370-4C40-349D-5D39B03A1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2315" y="1130284"/>
            <a:ext cx="11707369" cy="4833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875" bIns="60925" anchor="t" anchorCtr="0">
            <a:noAutofit/>
          </a:bodyPr>
          <a:lstStyle/>
          <a:p>
            <a:pPr marL="603522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 startAt="3"/>
            </a:pPr>
            <a:r>
              <a:rPr lang="en-US" dirty="0"/>
              <a:t>For </a:t>
            </a:r>
            <a:r>
              <a:rPr lang="en-US" b="1" dirty="0"/>
              <a:t>Keyword: </a:t>
            </a:r>
            <a:r>
              <a:rPr lang="en-US" dirty="0"/>
              <a:t>Enter</a:t>
            </a:r>
            <a:r>
              <a:rPr lang="en-US" b="1" dirty="0"/>
              <a:t> IMERG v07 Final</a:t>
            </a:r>
          </a:p>
          <a:p>
            <a:pPr marL="621870" lvl="1" indent="-25606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dirty="0"/>
              <a:t>Select:</a:t>
            </a:r>
          </a:p>
          <a:p>
            <a:pPr marL="621870" lvl="1" indent="-25606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endParaRPr lang="en-US" dirty="0"/>
          </a:p>
          <a:p>
            <a:pPr marL="621870" lvl="1" indent="-25606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dirty="0"/>
              <a:t>Under </a:t>
            </a:r>
            <a:r>
              <a:rPr lang="en-US" b="1" dirty="0"/>
              <a:t>Select Plot </a:t>
            </a:r>
            <a:r>
              <a:rPr lang="en-US" dirty="0"/>
              <a:t>Select</a:t>
            </a:r>
            <a:r>
              <a:rPr lang="en-US" b="1" dirty="0"/>
              <a:t>: Animation</a:t>
            </a:r>
            <a:endParaRPr b="1" dirty="0"/>
          </a:p>
          <a:p>
            <a:pPr marL="621870" lvl="1" indent="-25606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dirty="0"/>
              <a:t>Under Select Date Range (UTC)</a:t>
            </a:r>
            <a:endParaRPr dirty="0"/>
          </a:p>
          <a:p>
            <a:pPr marL="914514" lvl="2" indent="-18290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dirty="0"/>
              <a:t>In the </a:t>
            </a:r>
            <a:r>
              <a:rPr lang="en-US" b="1" dirty="0"/>
              <a:t>YYYY-MM-DD </a:t>
            </a:r>
            <a:r>
              <a:rPr lang="en-US" dirty="0"/>
              <a:t>windows, </a:t>
            </a:r>
            <a:endParaRPr dirty="0"/>
          </a:p>
          <a:p>
            <a:pPr marL="731611" lvl="2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dirty="0"/>
              <a:t>  enter </a:t>
            </a:r>
            <a:r>
              <a:rPr lang="en-US" b="1" dirty="0"/>
              <a:t>2023-06-14 </a:t>
            </a:r>
            <a:r>
              <a:rPr lang="en-US" dirty="0"/>
              <a:t>to start and</a:t>
            </a:r>
            <a:endParaRPr dirty="0"/>
          </a:p>
          <a:p>
            <a:pPr marL="731611" lvl="2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dirty="0"/>
              <a:t>           </a:t>
            </a:r>
            <a:r>
              <a:rPr lang="en-US" b="1" dirty="0"/>
              <a:t>2023-06-16 </a:t>
            </a:r>
            <a:r>
              <a:rPr lang="en-US" dirty="0"/>
              <a:t>for the end date</a:t>
            </a:r>
            <a:endParaRPr dirty="0"/>
          </a:p>
          <a:p>
            <a:pPr marL="68580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750"/>
              <a:buFont typeface="Merriweather Sans"/>
              <a:buChar char="-"/>
            </a:pPr>
            <a:r>
              <a:rPr lang="en-US" dirty="0"/>
              <a:t>Click on </a:t>
            </a:r>
            <a:r>
              <a:rPr lang="en-US" b="1" dirty="0"/>
              <a:t>Plot Data</a:t>
            </a:r>
            <a:r>
              <a:rPr lang="en-US" dirty="0"/>
              <a:t> (on the bottom right of the screen)</a:t>
            </a:r>
            <a:endParaRPr dirty="0"/>
          </a:p>
          <a:p>
            <a:pPr marL="68580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750"/>
              <a:buFont typeface="Merriweather Sans"/>
              <a:buChar char="-"/>
            </a:pPr>
            <a:r>
              <a:rPr lang="en-US" dirty="0"/>
              <a:t>You will get an animation of half-hourly rainfall</a:t>
            </a:r>
            <a:endParaRPr dirty="0"/>
          </a:p>
          <a:p>
            <a:pPr marL="731611" lvl="2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dirty="0"/>
          </a:p>
          <a:p>
            <a:pPr marL="146322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dirty="0"/>
          </a:p>
        </p:txBody>
      </p:sp>
      <p:sp>
        <p:nvSpPr>
          <p:cNvPr id="182" name="Google Shape;182;p25">
            <a:extLst>
              <a:ext uri="{FF2B5EF4-FFF2-40B4-BE49-F238E27FC236}">
                <a16:creationId xmlns:a16="http://schemas.microsoft.com/office/drawing/2014/main" id="{BC0F6605-DCBD-4937-1310-0CCF9F5569A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42315" y="5994400"/>
            <a:ext cx="11706225" cy="24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000" rIns="0" bIns="60925" anchor="b" anchorCtr="0">
            <a:noAutofit/>
          </a:bodyPr>
          <a:lstStyle/>
          <a:p>
            <a:pPr marL="146322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entury Gothic"/>
              <a:buNone/>
            </a:pP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932427-7491-2C0F-3F5C-532942276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1900186"/>
            <a:ext cx="7772400" cy="441186"/>
          </a:xfrm>
          <a:prstGeom prst="rect">
            <a:avLst/>
          </a:prstGeom>
        </p:spPr>
      </p:pic>
      <p:pic>
        <p:nvPicPr>
          <p:cNvPr id="8" name="Picture 7" descr="Map&#10;&#10;AI-generated content may be incorrect.">
            <a:extLst>
              <a:ext uri="{FF2B5EF4-FFF2-40B4-BE49-F238E27FC236}">
                <a16:creationId xmlns:a16="http://schemas.microsoft.com/office/drawing/2014/main" id="{883064FA-1015-E95C-3C30-AF8B49862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5859" y="1496566"/>
            <a:ext cx="2361565" cy="2050563"/>
          </a:xfrm>
          <a:prstGeom prst="rect">
            <a:avLst/>
          </a:prstGeom>
        </p:spPr>
      </p:pic>
      <p:pic>
        <p:nvPicPr>
          <p:cNvPr id="10" name="Picture 9" descr="Graphical user interface&#10;&#10;AI-generated content may be incorrect.">
            <a:extLst>
              <a:ext uri="{FF2B5EF4-FFF2-40B4-BE49-F238E27FC236}">
                <a16:creationId xmlns:a16="http://schemas.microsoft.com/office/drawing/2014/main" id="{9985E58F-B9DA-D9D6-2449-92395786A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576" y="3824121"/>
            <a:ext cx="2804130" cy="172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775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>
            <a:spLocks noGrp="1"/>
          </p:cNvSpPr>
          <p:nvPr>
            <p:ph type="title"/>
          </p:nvPr>
        </p:nvSpPr>
        <p:spPr>
          <a:xfrm>
            <a:off x="242315" y="276993"/>
            <a:ext cx="11707369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</a:pPr>
            <a:r>
              <a:rPr lang="en-US" dirty="0"/>
              <a:t>Part 2: MERRA-2 Sea Level Pressure and Surface Wind Speed</a:t>
            </a:r>
            <a:endParaRPr dirty="0"/>
          </a:p>
        </p:txBody>
      </p:sp>
      <p:sp>
        <p:nvSpPr>
          <p:cNvPr id="181" name="Google Shape;181;p25"/>
          <p:cNvSpPr txBox="1">
            <a:spLocks noGrp="1"/>
          </p:cNvSpPr>
          <p:nvPr>
            <p:ph type="body" idx="1"/>
          </p:nvPr>
        </p:nvSpPr>
        <p:spPr>
          <a:xfrm>
            <a:off x="242315" y="1130284"/>
            <a:ext cx="11707369" cy="4833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875" bIns="60925" anchor="t" anchorCtr="0">
            <a:noAutofit/>
          </a:bodyPr>
          <a:lstStyle/>
          <a:p>
            <a:pPr marL="603522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 startAt="3"/>
            </a:pPr>
            <a:r>
              <a:rPr lang="en-US" dirty="0"/>
              <a:t>Click on </a:t>
            </a:r>
            <a:r>
              <a:rPr lang="en-US" b="1" dirty="0"/>
              <a:t>History </a:t>
            </a:r>
            <a:r>
              <a:rPr lang="en-US" b="1" dirty="0">
                <a:sym typeface="Wingdings" pitchFamily="2" charset="2"/>
              </a:rPr>
              <a:t> 1. Animation   </a:t>
            </a:r>
            <a:r>
              <a:rPr lang="en-US" b="1" dirty="0"/>
              <a:t>User Input </a:t>
            </a:r>
            <a:r>
              <a:rPr lang="en-US" dirty="0"/>
              <a:t>(Left Menu Bar)</a:t>
            </a:r>
            <a:endParaRPr dirty="0"/>
          </a:p>
          <a:p>
            <a:pPr marL="621870" lvl="1" indent="-25606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dirty="0"/>
              <a:t>Select</a:t>
            </a:r>
          </a:p>
          <a:p>
            <a:pPr marL="621870" lvl="1" indent="-25606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b="1" dirty="0"/>
              <a:t>For Keyword</a:t>
            </a:r>
            <a:r>
              <a:rPr lang="en-US" dirty="0"/>
              <a:t>: Enter MERRA-2 Hourly, you will see a list of parameters</a:t>
            </a:r>
          </a:p>
          <a:p>
            <a:pPr marL="621870" lvl="1" indent="-25606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dirty="0"/>
              <a:t>Select </a:t>
            </a:r>
            <a:r>
              <a:rPr lang="en-US" b="1" dirty="0"/>
              <a:t>Sea level pressure time average</a:t>
            </a:r>
          </a:p>
          <a:p>
            <a:pPr marL="621870" lvl="1" indent="-25606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endParaRPr lang="en-US" b="1" dirty="0"/>
          </a:p>
          <a:p>
            <a:pPr marL="621870" lvl="1" indent="-25606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endParaRPr lang="en-US" b="1" dirty="0"/>
          </a:p>
          <a:p>
            <a:pPr marL="621870" lvl="1" indent="-25606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dirty="0"/>
              <a:t>Keep other options the same </a:t>
            </a:r>
          </a:p>
          <a:p>
            <a:pPr marL="621870" lvl="1" indent="-256064"/>
            <a:r>
              <a:rPr lang="en-US" dirty="0"/>
              <a:t>Click on </a:t>
            </a:r>
            <a:r>
              <a:rPr lang="en-US" b="1" dirty="0"/>
              <a:t>Plot Data </a:t>
            </a:r>
            <a:r>
              <a:rPr lang="en-US" dirty="0"/>
              <a:t>(on the bottom right of the screen)</a:t>
            </a:r>
          </a:p>
          <a:p>
            <a:pPr marL="621870" lvl="1" indent="-25606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dirty="0"/>
              <a:t>A workflow will start and you will get an animation of Sea Level Pressure for the cyclone.</a:t>
            </a:r>
          </a:p>
          <a:p>
            <a:pPr marL="180975" lvl="1" indent="0">
              <a:buNone/>
            </a:pPr>
            <a:r>
              <a:rPr lang="en-US" dirty="0"/>
              <a:t>4.   Repeat the above steps but select the following while uncheck the Sea level    </a:t>
            </a:r>
          </a:p>
          <a:p>
            <a:pPr marL="180975" lvl="1" indent="0">
              <a:buNone/>
            </a:pPr>
            <a:r>
              <a:rPr lang="en-US" dirty="0"/>
              <a:t>      pressure</a:t>
            </a:r>
          </a:p>
          <a:p>
            <a:pPr marL="180975" lvl="1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dirty="0"/>
          </a:p>
          <a:p>
            <a:pPr marL="731611" lvl="2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dirty="0"/>
          </a:p>
          <a:p>
            <a:pPr marL="731611" lvl="2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dirty="0"/>
          </a:p>
          <a:p>
            <a:pPr marL="146322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dirty="0"/>
          </a:p>
        </p:txBody>
      </p:sp>
      <p:pic>
        <p:nvPicPr>
          <p:cNvPr id="3" name="Picture 2" descr="Text&#10;&#10;AI-generated content may be incorrect.">
            <a:extLst>
              <a:ext uri="{FF2B5EF4-FFF2-40B4-BE49-F238E27FC236}">
                <a16:creationId xmlns:a16="http://schemas.microsoft.com/office/drawing/2014/main" id="{F6546CEE-E5BB-30D2-B574-44E34D4F6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090" y="1626870"/>
            <a:ext cx="927100" cy="342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61D410-BB08-467B-7E7A-1DE267440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40" y="5797433"/>
            <a:ext cx="7772400" cy="4435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174437-DB38-76B7-2CEE-7CC9AB0263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940" y="2805475"/>
            <a:ext cx="7772400" cy="5007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ogo-v2">
  <a:themeElements>
    <a:clrScheme name="ARSET4">
      <a:dk1>
        <a:srgbClr val="000000"/>
      </a:dk1>
      <a:lt1>
        <a:srgbClr val="FFFFFF"/>
      </a:lt1>
      <a:dk2>
        <a:srgbClr val="89A028"/>
      </a:dk2>
      <a:lt2>
        <a:srgbClr val="EAE2C4"/>
      </a:lt2>
      <a:accent1>
        <a:srgbClr val="20584F"/>
      </a:accent1>
      <a:accent2>
        <a:srgbClr val="136C9A"/>
      </a:accent2>
      <a:accent3>
        <a:srgbClr val="5E3A60"/>
      </a:accent3>
      <a:accent4>
        <a:srgbClr val="D5462F"/>
      </a:accent4>
      <a:accent5>
        <a:srgbClr val="D89B21"/>
      </a:accent5>
      <a:accent6>
        <a:srgbClr val="BDAB8B"/>
      </a:accent6>
      <a:hlink>
        <a:srgbClr val="136C9A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356</Words>
  <Application>Microsoft Macintosh PowerPoint</Application>
  <PresentationFormat>Widescreen</PresentationFormat>
  <Paragraphs>45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Century Gothic</vt:lpstr>
      <vt:lpstr>Calibri</vt:lpstr>
      <vt:lpstr>Wingdings</vt:lpstr>
      <vt:lpstr>Merriweather Sans</vt:lpstr>
      <vt:lpstr>Arial</vt:lpstr>
      <vt:lpstr>logo-v2</vt:lpstr>
      <vt:lpstr>Exercise: Monitor Tropical Cyclone Biparjoy</vt:lpstr>
      <vt:lpstr>Exercise: Tropical Cyclone Biparjoy</vt:lpstr>
      <vt:lpstr>Part 1: GPM-IMERG Data Access and Analysis</vt:lpstr>
      <vt:lpstr>Part 1: IMERG Rainfall Maps </vt:lpstr>
      <vt:lpstr>Part 2: MERRA-2 Sea Level Pressure and Surface Wind Speed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Mehta, Amita V. (GSFC-612.0)[UNIVERSITY OF MARYLAND BALTIMORE CO]</cp:lastModifiedBy>
  <cp:revision>10</cp:revision>
  <dcterms:modified xsi:type="dcterms:W3CDTF">2025-06-27T02:02:22Z</dcterms:modified>
</cp:coreProperties>
</file>